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and welcome. I am [name] of the ERC. Today we walk you through the assumptions in the Commission's financial model for the Gas Auction Threshold Price. We will not show any prices today, only inputs, values and their basis. We want your views on whether these inputs are reasonable. Please hold questions until the discussion slots; use the chat for anything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today. One, show you every assumption in the model and where it comes from. Two, hear from you where our values differ from what you see in the market, with evidence. Three, explain what happens next. To be clear: no GAT Price figures are shared today. Prices are set only by Commission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is a 30-year discounted cash-flow model of a reference plant. It finds the flat price per kWh at which equity earns exactly its required return. That price has two parts: CRF, the capital recovery for the plant, financing, taxes and overhead; and OM, the plant's fixed and variable operating cost. Fuel is outside. Gas commodity cost and the capped logistics cost, the CLLC, are paid through the Fuel Cost pass-through, against benchmarks and caps.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model one reference plant for each DOE lot and technology: the two existing-plant lots in Luzon, and new-build CCGT, OCGT and gas-engine plants for Luzon and both Visayas lots. Each case is run twice: at the TOR capacity factor of 42 percent, and at the historical capacity factor of the gas fleet. The model works per kW, so plant size does not change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Capacity factor drives energy, so it matters most. Case A uses 42 percent, the top of the TOR band. Case B uses what the gas fleet actually ran: 66.8 percent for existing plants and 63.1 percent for the whole fleet, from MERALCO's published generation-charge data. For Lot 1 we add 24 percent non-mid-merit energy, which the TOR pays at Fuel Cost only. Capacity factors are net, so no separate own-use deduction. Output degrades 0.2 percent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Existing plants have no construction period; their capital sits at year zero. New-build plants take 36 months for a CCGT, 24 for an OCGT and 18 for gas engines. Every plant recovers its costs over 30 years, the ERC economic-life basis, even where the TOR contract is shorter. The model base year is 2028.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biggest input. For existing plants we use 450 US dollars per kW. For new builds we raised the values to current market levels: 1,200 for a CCGT, 1,100 for gas engines and 700 for an OCGT. All-in means equipment, balance of plant, transport, development, contingency, financing during construction, VAT, duties and initial working capital. If your recent quotes or financings say otherwise, this is the number we most want evidence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percentages and fixed amounts the model uses to build up the all-in cost, plus two lifetime items: a major refurbishment of 5 percent of EPC in year 15, and a 10 percent salvage value at the end. Most are the ERC model defaults and are the same for every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OM in the GAT Price is fixed O&amp;M per kW per year plus variable non-fuel O&amp;M per MWh. Logistics costs are not here: they moved to the Fuel Cost as the CLLC. G&amp;A is 6 percent of O&amp;M. We would welcome your long-term service agreement benchmarks on these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Financing follows a standard project-finance structure: 70 percent debt, 30 percent equity. Debt costs 8 percent a year over 15 years, with a six-month grace period after COD and a six-month debt service reserve. Equity requires 14 percent nominal, within a CAPM range of 12 to 14 percent. The resulting WACC is shown for reference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assume no BOI or PEZA incentives and no income tax holiday, so corporate income tax is 25 percent from the start. Local taxes, the ER 1-94 host-community benefit, and taxes on financing are included in CRF. If you hold or expect incentives, tell us; we deliberately did not assume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converts at 62.756 pesos per US dollar, the BSP reference rate on 25 September 2026. It runs in real terms with zero escalation, because the GAT Price is fixed in pesos and not indexed after award. Receivables, payables and inventory are 30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is the complete list: every parameter in the model's Inputs and Assumptions, 115 lines in nine groups, with its value and basis. We will move quickly; the slides are yours to keep and check line by line. Flag anything you want to discuss.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guide to the tables. Values are for the Luzon cases at the TOR capacity factor, Case A. Where the historical-dispatch case, Case B, gives a different value, it is written in the Basis column. Visayas cases use the same per-kW inputs at 440 or 500 megawatts. Where all five cases share one value, it is shown once across the row. The Type column says whether a value is typed in, calculated, or calibrated.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Plant size and dispatch. Capacity comes from the TOR lot sizes, split into standard units. Capacity factor is 42 percent in Case A; Case B values are in the Basis column. Everything is on a net basis, and output degrades 0.2 percent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Construction runs zero to 36 months by technology, recovery is over 30 years, and all costs are in 2028 terms, so there is no escalation offset to worry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Capital cost. The all-in cost targets drive everything here; the model calibrates equipment cost to hit them. The percentages for balance of plant, freight, development, contingency and working capital are model defaults we invite you to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Uses and sources of funds, in US dollar millions. These follow from the all-in cost and the 70-30 capital structure. Financing cost during construction is largest for the CCGT because it takes three years to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O&amp;M and G&amp;A. Fixed O&amp;M per kW-year, variable non-fuel O&amp;M per MWh, and G&amp;A at 6 percent. Logistics are excluded. The three target lines are reference values only and do not enter the calculation.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Financing. 70-30 debt to equity, 8 percent debt over 15 years with a six-month grace, 14 percent equity return. The local and foreign split and the debt amounts are calculated. WACC is a result, shown for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Taxes and incentives. No BOI or PEZA incentive and no tax holiday. Income tax 25 percent; property tax, local business tax, ER 1-94, and taxes on financing are all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Economic and currency. Real terms: zero CPI and zero peso depreciation, because the GAT Price is fixed in pesos and not indexed. The exchange rate is the BSP rate of 25 September 2026. Working capital runs on 30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Fuel and technical. Fuel is switched off in the model because it sits outside the GAT Price. These lines remain for the efficiency calculation only and do not affect the GAT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open the floor. These are the four areas where your evidence helps us most. Please raise your hand in the platform; state your company once and keep each point to about two minutes. We will note every point in the comments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please send written comments, with supporting documents, through the ERC docket for Case No. 2026-015 RM by the deadline in the FGD notice. We will consider them before the Commission issues the Reference Parameters and the GAT Price by resolution. Thank you for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64592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657600"/>
            <a:ext cx="10698480" cy="1463040"/>
          </a:xfrm>
          <a:prstGeom prst="rect">
            <a:avLst/>
          </a:prstGeom>
          <a:noFill/>
          <a:ln/>
        </p:spPr>
        <p:txBody>
          <a:bodyPr wrap="square" rtlCol="0"/>
          <a:lstStyle>
            <a:lvl1pPr indent="0" marL="0">
              <a:buNone/>
              <a:defRPr lang="en-US" sz="2200" dirty="0">
                <a:solidFill>
                  <a:schemeClr val="accent5"/>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indent="0" marL="0">
              <a:buNone/>
              <a:defRPr lang="en-US" sz="3400" b="1" dirty="0">
                <a:solidFill>
                  <a:schemeClr val="tx2"/>
                </a:solidFill>
                <a:latin typeface="Cambria" pitchFamily="34" charset="0"/>
                <a:ea typeface="Cambria" pitchFamily="34" charset="-122"/>
                <a:cs typeface="Cambria" pitchFamily="34" charset="-120"/>
              </a:defRPr>
            </a:lvl1pPr>
          </a:lstStyle>
          <a:p>
            <a:pPr indent="0" marL="0">
              <a:buNone/>
            </a:pPr>
            <a:endParaRPr lang="en-US" sz="3400" dirty="0"/>
          </a:p>
        </p:txBody>
      </p:sp>
      <p:sp>
        <p:nvSpPr>
          <p:cNvPr id="3" name="Text 0"/>
          <p:cNvSpPr/>
          <p:nvPr/>
        </p:nvSpPr>
        <p:spPr>
          <a:xfrm>
            <a:off x="548640" y="6355080"/>
            <a:ext cx="8686800" cy="320040"/>
          </a:xfrm>
          <a:prstGeom prst="rect">
            <a:avLst/>
          </a:prstGeom>
          <a:noFill/>
          <a:ln/>
        </p:spPr>
        <p:txBody>
          <a:bodyPr wrap="square" rtlCol="0" anchor="ctr"/>
          <a:lstStyle/>
          <a:p>
            <a:pPr indent="0" marL="0">
              <a:buNone/>
            </a:pPr>
            <a:r>
              <a:rPr lang="en-US" sz="1200" dirty="0">
                <a:solidFill>
                  <a:schemeClr val="accent4"/>
                </a:solidFill>
              </a:rPr>
              <a:t>ERC  |  Focus Group Discussion with Pre-Qualified Bidders  |  22 October 2026</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slideLayout" Target="../slideLayouts/slideLayout3.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slideLayout" Target="../slideLayouts/slideLayout3.xml"/><Relationship Id="rId6"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0" type="title" hasCustomPrompt="1"/>
          </p:nvPr>
        </p:nvSpPr>
        <p:spPr>
          <a:xfrm>
            <a:off x="731520" y="1828800"/>
            <a:ext cx="10698480" cy="1645920"/>
          </a:xfrm>
          <a:prstGeom prst="rect">
            <a:avLst/>
          </a:prstGeom>
          <a:noFill/>
          <a:ln/>
        </p:spPr>
        <p:txBody>
          <a:bodyPr wrap="square"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GAT Price Financial Model: Key Assumptions</a:t>
            </a:r>
            <a:endParaRPr lang="en-US" sz="4400" dirty="0"/>
          </a:p>
        </p:txBody>
      </p:sp>
      <p:sp>
        <p:nvSpPr>
          <p:cNvPr id="4" name="Text 0"/>
          <p:cNvSpPr/>
          <p:nvPr>
            <p:ph idx="101" type="body" hasCustomPrompt="1"/>
          </p:nvPr>
        </p:nvSpPr>
        <p:spPr>
          <a:xfrm>
            <a:off x="731520" y="3657600"/>
            <a:ext cx="10698480" cy="1463040"/>
          </a:xfrm>
          <a:prstGeom prst="rect">
            <a:avLst/>
          </a:prstGeom>
          <a:noFill/>
          <a:ln/>
        </p:spPr>
        <p:txBody>
          <a:bodyPr wrap="square" rtlCol="0" anchor="t"/>
          <a:lstStyle/>
          <a:p>
            <a:pPr indent="0" marL="0">
              <a:buNone/>
            </a:pPr>
            <a:r>
              <a:rPr lang="en-US" sz="2200" dirty="0">
                <a:solidFill>
                  <a:schemeClr val="accent5"/>
                </a:solidFill>
              </a:rPr>
              <a:t>Virtual Focus Group Discussion with the Pre-Qualified Bidders</a:t>
            </a:r>
            <a:endParaRPr lang="en-US" sz="2200" dirty="0"/>
          </a:p>
          <a:p>
            <a:pPr indent="0" marL="0">
              <a:buNone/>
            </a:pPr>
            <a:r>
              <a:rPr lang="en-US" sz="1800" dirty="0">
                <a:solidFill>
                  <a:srgbClr val="FFFFFF"/>
                </a:solidFill>
              </a:rPr>
              <a:t>Mid-Merit Natural Gas Capacity Auction  |  ERC Case No. 2026-015 RM  |  Thursday, 22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Why we are meeting today</a:t>
            </a:r>
            <a:endParaRPr lang="en-US" sz="3400" dirty="0"/>
          </a:p>
        </p:txBody>
      </p:sp>
      <p:sp>
        <p:nvSpPr>
          <p:cNvPr id="4" name="Card"/>
          <p:cNvSpPr/>
          <p:nvPr/>
        </p:nvSpPr>
        <p:spPr>
          <a:xfrm>
            <a:off x="548640" y="1463040"/>
            <a:ext cx="3474720" cy="4023360"/>
          </a:xfrm>
          <a:prstGeom prst="roundRect">
            <a:avLst>
              <a:gd name="adj" fmla="val 3158"/>
            </a:avLst>
          </a:prstGeom>
          <a:solidFill>
            <a:schemeClr val="bg2"/>
          </a:solidFill>
          <a:ln w="12700">
            <a:solidFill>
              <a:schemeClr val="bg2"/>
            </a:solidFill>
            <a:prstDash val="solid"/>
          </a:ln>
        </p:spPr>
      </p:sp>
      <p:sp>
        <p:nvSpPr>
          <p:cNvPr id="5" name="Icon circle"/>
          <p:cNvSpPr/>
          <p:nvPr/>
        </p:nvSpPr>
        <p:spPr>
          <a:xfrm>
            <a:off x="868680" y="1783080"/>
            <a:ext cx="822960" cy="822960"/>
          </a:xfrm>
          <a:prstGeom prst="ellipse">
            <a:avLst/>
          </a:prstGeom>
          <a:solidFill>
            <a:schemeClr val="accent2"/>
          </a:solidFill>
          <a:ln w="12700">
            <a:solidFill>
              <a:schemeClr val="accent2"/>
            </a:solidFill>
            <a:prstDash val="solid"/>
          </a:ln>
        </p:spPr>
      </p:sp>
      <p:pic>
        <p:nvPicPr>
          <p:cNvPr id="6" name="Icon" descr="preencoded.png">    </p:cNvPr>
          <p:cNvPicPr>
            <a:picLocks noChangeAspect="1"/>
          </p:cNvPicPr>
          <p:nvPr/>
        </p:nvPicPr>
        <p:blipFill>
          <a:blip r:embed="rId1"/>
          <a:stretch>
            <a:fillRect/>
          </a:stretch>
        </p:blipFill>
        <p:spPr>
          <a:xfrm>
            <a:off x="1082650" y="1997050"/>
            <a:ext cx="395021" cy="395021"/>
          </a:xfrm>
          <a:prstGeom prst="rect">
            <a:avLst/>
          </a:prstGeom>
        </p:spPr>
      </p:pic>
      <p:sp>
        <p:nvSpPr>
          <p:cNvPr id="7" name="Text 3"/>
          <p:cNvSpPr txBox="1"/>
          <p:nvPr/>
        </p:nvSpPr>
        <p:spPr>
          <a:xfrm>
            <a:off x="868680" y="2834640"/>
            <a:ext cx="2926080" cy="91440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Walk through the model inputs</a:t>
            </a:r>
            <a:endParaRPr lang="en-US" sz="2200" dirty="0"/>
          </a:p>
        </p:txBody>
      </p:sp>
      <p:sp>
        <p:nvSpPr>
          <p:cNvPr id="8" name="Text 4"/>
          <p:cNvSpPr txBox="1"/>
          <p:nvPr/>
        </p:nvSpPr>
        <p:spPr>
          <a:xfrm>
            <a:off x="868680" y="3794760"/>
            <a:ext cx="2926080" cy="1463040"/>
          </a:xfrm>
          <a:prstGeom prst="rect">
            <a:avLst/>
          </a:prstGeom>
          <a:noFill/>
          <a:ln/>
        </p:spPr>
        <p:txBody>
          <a:bodyPr wrap="square" lIns="0" tIns="0" rIns="0" bIns="0" rtlCol="0" anchor="t"/>
          <a:lstStyle/>
          <a:p>
            <a:pPr indent="0" marL="0">
              <a:buNone/>
            </a:pPr>
            <a:r>
              <a:rPr lang="en-US" sz="1700" dirty="0">
                <a:solidFill>
                  <a:schemeClr val="tx1"/>
                </a:solidFill>
              </a:rPr>
              <a:t>Every parameter, its value and its basis or source.</a:t>
            </a:r>
            <a:endParaRPr lang="en-US" sz="1700" dirty="0"/>
          </a:p>
        </p:txBody>
      </p:sp>
      <p:sp>
        <p:nvSpPr>
          <p:cNvPr id="9" name="Card"/>
          <p:cNvSpPr/>
          <p:nvPr/>
        </p:nvSpPr>
        <p:spPr>
          <a:xfrm>
            <a:off x="4297680" y="1463040"/>
            <a:ext cx="3474720" cy="4023360"/>
          </a:xfrm>
          <a:prstGeom prst="roundRect">
            <a:avLst>
              <a:gd name="adj" fmla="val 3158"/>
            </a:avLst>
          </a:prstGeom>
          <a:solidFill>
            <a:schemeClr val="bg2"/>
          </a:solidFill>
          <a:ln w="12700">
            <a:solidFill>
              <a:schemeClr val="bg2"/>
            </a:solidFill>
            <a:prstDash val="solid"/>
          </a:ln>
        </p:spPr>
      </p:sp>
      <p:sp>
        <p:nvSpPr>
          <p:cNvPr id="10" name="Icon circle"/>
          <p:cNvSpPr/>
          <p:nvPr/>
        </p:nvSpPr>
        <p:spPr>
          <a:xfrm>
            <a:off x="4617720" y="1783080"/>
            <a:ext cx="822960" cy="822960"/>
          </a:xfrm>
          <a:prstGeom prst="ellipse">
            <a:avLst/>
          </a:prstGeom>
          <a:solidFill>
            <a:schemeClr val="accent2"/>
          </a:solidFill>
          <a:ln w="12700">
            <a:solidFill>
              <a:schemeClr val="accent2"/>
            </a:solidFill>
            <a:prstDash val="solid"/>
          </a:ln>
        </p:spPr>
      </p:sp>
      <p:pic>
        <p:nvPicPr>
          <p:cNvPr id="11" name="Icon" descr="preencoded.png">    </p:cNvPr>
          <p:cNvPicPr>
            <a:picLocks noChangeAspect="1"/>
          </p:cNvPicPr>
          <p:nvPr/>
        </p:nvPicPr>
        <p:blipFill>
          <a:blip r:embed="rId2"/>
          <a:stretch>
            <a:fillRect/>
          </a:stretch>
        </p:blipFill>
        <p:spPr>
          <a:xfrm>
            <a:off x="4831690" y="1997050"/>
            <a:ext cx="395021" cy="395021"/>
          </a:xfrm>
          <a:prstGeom prst="rect">
            <a:avLst/>
          </a:prstGeom>
        </p:spPr>
      </p:pic>
      <p:sp>
        <p:nvSpPr>
          <p:cNvPr id="12" name="Text 7"/>
          <p:cNvSpPr txBox="1"/>
          <p:nvPr/>
        </p:nvSpPr>
        <p:spPr>
          <a:xfrm>
            <a:off x="4617720" y="2834640"/>
            <a:ext cx="2926080" cy="91440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Hear your evidence</a:t>
            </a:r>
            <a:endParaRPr lang="en-US" sz="2200" dirty="0"/>
          </a:p>
        </p:txBody>
      </p:sp>
      <p:sp>
        <p:nvSpPr>
          <p:cNvPr id="13" name="Text 8"/>
          <p:cNvSpPr txBox="1"/>
          <p:nvPr/>
        </p:nvSpPr>
        <p:spPr>
          <a:xfrm>
            <a:off x="4617720" y="3794760"/>
            <a:ext cx="2926080" cy="1463040"/>
          </a:xfrm>
          <a:prstGeom prst="rect">
            <a:avLst/>
          </a:prstGeom>
          <a:noFill/>
          <a:ln/>
        </p:spPr>
        <p:txBody>
          <a:bodyPr wrap="square" lIns="0" tIns="0" rIns="0" bIns="0" rtlCol="0" anchor="t"/>
          <a:lstStyle/>
          <a:p>
            <a:pPr indent="0" marL="0">
              <a:buNone/>
            </a:pPr>
            <a:r>
              <a:rPr lang="en-US" sz="1700" dirty="0">
                <a:solidFill>
                  <a:schemeClr val="tx1"/>
                </a:solidFill>
              </a:rPr>
              <a:t>Where do our values differ from current market terms? Tell us why, with documents.</a:t>
            </a:r>
            <a:endParaRPr lang="en-US" sz="1700" dirty="0"/>
          </a:p>
        </p:txBody>
      </p:sp>
      <p:sp>
        <p:nvSpPr>
          <p:cNvPr id="14" name="Card"/>
          <p:cNvSpPr/>
          <p:nvPr/>
        </p:nvSpPr>
        <p:spPr>
          <a:xfrm>
            <a:off x="8046720" y="1463040"/>
            <a:ext cx="3474720" cy="4023360"/>
          </a:xfrm>
          <a:prstGeom prst="roundRect">
            <a:avLst>
              <a:gd name="adj" fmla="val 3158"/>
            </a:avLst>
          </a:prstGeom>
          <a:solidFill>
            <a:schemeClr val="bg2"/>
          </a:solidFill>
          <a:ln w="12700">
            <a:solidFill>
              <a:schemeClr val="bg2"/>
            </a:solidFill>
            <a:prstDash val="solid"/>
          </a:ln>
        </p:spPr>
      </p:sp>
      <p:sp>
        <p:nvSpPr>
          <p:cNvPr id="15" name="Icon circle"/>
          <p:cNvSpPr/>
          <p:nvPr/>
        </p:nvSpPr>
        <p:spPr>
          <a:xfrm>
            <a:off x="8366760" y="1783080"/>
            <a:ext cx="822960" cy="822960"/>
          </a:xfrm>
          <a:prstGeom prst="ellipse">
            <a:avLst/>
          </a:prstGeom>
          <a:solidFill>
            <a:schemeClr val="accent3"/>
          </a:solidFill>
          <a:ln w="12700">
            <a:solidFill>
              <a:schemeClr val="accent3"/>
            </a:solidFill>
            <a:prstDash val="solid"/>
          </a:ln>
        </p:spPr>
      </p:sp>
      <p:pic>
        <p:nvPicPr>
          <p:cNvPr id="16" name="Icon" descr="preencoded.png">    </p:cNvPr>
          <p:cNvPicPr>
            <a:picLocks noChangeAspect="1"/>
          </p:cNvPicPr>
          <p:nvPr/>
        </p:nvPicPr>
        <p:blipFill>
          <a:blip r:embed="rId3"/>
          <a:stretch>
            <a:fillRect/>
          </a:stretch>
        </p:blipFill>
        <p:spPr>
          <a:xfrm>
            <a:off x="8580730" y="1997050"/>
            <a:ext cx="395021" cy="395021"/>
          </a:xfrm>
          <a:prstGeom prst="rect">
            <a:avLst/>
          </a:prstGeom>
        </p:spPr>
      </p:pic>
      <p:sp>
        <p:nvSpPr>
          <p:cNvPr id="17" name="Text 11"/>
          <p:cNvSpPr txBox="1"/>
          <p:nvPr/>
        </p:nvSpPr>
        <p:spPr>
          <a:xfrm>
            <a:off x="8366760" y="2834640"/>
            <a:ext cx="2926080" cy="91440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No prices today</a:t>
            </a:r>
            <a:endParaRPr lang="en-US" sz="2200" dirty="0"/>
          </a:p>
        </p:txBody>
      </p:sp>
      <p:sp>
        <p:nvSpPr>
          <p:cNvPr id="18" name="Text 12"/>
          <p:cNvSpPr txBox="1"/>
          <p:nvPr/>
        </p:nvSpPr>
        <p:spPr>
          <a:xfrm>
            <a:off x="8366760" y="3794760"/>
            <a:ext cx="2926080" cy="1463040"/>
          </a:xfrm>
          <a:prstGeom prst="rect">
            <a:avLst/>
          </a:prstGeom>
          <a:noFill/>
          <a:ln/>
        </p:spPr>
        <p:txBody>
          <a:bodyPr wrap="square" lIns="0" tIns="0" rIns="0" bIns="0" rtlCol="0" anchor="t"/>
          <a:lstStyle/>
          <a:p>
            <a:pPr indent="0" marL="0">
              <a:buNone/>
            </a:pPr>
            <a:r>
              <a:rPr lang="en-US" sz="1700" dirty="0">
                <a:solidFill>
                  <a:schemeClr val="tx1"/>
                </a:solidFill>
              </a:rPr>
              <a:t>GAT Prices are issued only by Commission resolution, after this consultation.</a:t>
            </a:r>
            <a:endParaRPr lang="en-US" sz="17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How the model sets the GAT Price</a:t>
            </a:r>
            <a:endParaRPr lang="en-US" sz="3400" dirty="0"/>
          </a:p>
        </p:txBody>
      </p:sp>
      <p:sp>
        <p:nvSpPr>
          <p:cNvPr id="4" name="Card"/>
          <p:cNvSpPr/>
          <p:nvPr/>
        </p:nvSpPr>
        <p:spPr>
          <a:xfrm>
            <a:off x="548640" y="1508760"/>
            <a:ext cx="3566160" cy="2834640"/>
          </a:xfrm>
          <a:prstGeom prst="roundRect">
            <a:avLst>
              <a:gd name="adj" fmla="val 3871"/>
            </a:avLst>
          </a:prstGeom>
          <a:solidFill>
            <a:schemeClr val="tx2"/>
          </a:solidFill>
          <a:ln w="12700">
            <a:solidFill>
              <a:schemeClr val="tx2"/>
            </a:solidFill>
            <a:prstDash val="solid"/>
          </a:ln>
        </p:spPr>
      </p:sp>
      <p:sp>
        <p:nvSpPr>
          <p:cNvPr id="5" name="Icon circle"/>
          <p:cNvSpPr/>
          <p:nvPr/>
        </p:nvSpPr>
        <p:spPr>
          <a:xfrm>
            <a:off x="822960" y="1737360"/>
            <a:ext cx="685800" cy="685800"/>
          </a:xfrm>
          <a:prstGeom prst="ellipse">
            <a:avLst/>
          </a:prstGeom>
          <a:solidFill>
            <a:schemeClr val="accent2"/>
          </a:solidFill>
          <a:ln w="12700">
            <a:solidFill>
              <a:schemeClr val="accent2"/>
            </a:solidFill>
            <a:prstDash val="solid"/>
          </a:ln>
        </p:spPr>
      </p:sp>
      <p:pic>
        <p:nvPicPr>
          <p:cNvPr id="6" name="Icon" descr="preencoded.png">    </p:cNvPr>
          <p:cNvPicPr>
            <a:picLocks noChangeAspect="1"/>
          </p:cNvPicPr>
          <p:nvPr/>
        </p:nvPicPr>
        <p:blipFill>
          <a:blip r:embed="rId1"/>
          <a:stretch>
            <a:fillRect/>
          </a:stretch>
        </p:blipFill>
        <p:spPr>
          <a:xfrm>
            <a:off x="1001268" y="1915668"/>
            <a:ext cx="329184" cy="329184"/>
          </a:xfrm>
          <a:prstGeom prst="rect">
            <a:avLst/>
          </a:prstGeom>
        </p:spPr>
      </p:pic>
      <p:sp>
        <p:nvSpPr>
          <p:cNvPr id="7" name="Text 3"/>
          <p:cNvSpPr txBox="1"/>
          <p:nvPr/>
        </p:nvSpPr>
        <p:spPr>
          <a:xfrm>
            <a:off x="1645920" y="1737360"/>
            <a:ext cx="2286000" cy="685800"/>
          </a:xfrm>
          <a:prstGeom prst="rect">
            <a:avLst/>
          </a:prstGeom>
          <a:noFill/>
          <a:ln/>
        </p:spPr>
        <p:txBody>
          <a:bodyPr wrap="square" lIns="0" tIns="0" rIns="0" bIns="0" rtlCol="0" anchor="ctr"/>
          <a:lstStyle/>
          <a:p>
            <a:pPr indent="0" marL="0">
              <a:buNone/>
            </a:pPr>
            <a:r>
              <a:rPr lang="en-US" sz="2400" b="1" dirty="0">
                <a:solidFill>
                  <a:schemeClr val="bg1"/>
                </a:solidFill>
                <a:latin typeface="Cambria" pitchFamily="34" charset="0"/>
                <a:ea typeface="Cambria" pitchFamily="34" charset="-122"/>
                <a:cs typeface="Cambria" pitchFamily="34" charset="-120"/>
              </a:rPr>
              <a:t>CRF</a:t>
            </a:r>
            <a:endParaRPr lang="en-US" sz="2400" dirty="0"/>
          </a:p>
        </p:txBody>
      </p:sp>
      <p:sp>
        <p:nvSpPr>
          <p:cNvPr id="8" name="Text 4"/>
          <p:cNvSpPr txBox="1"/>
          <p:nvPr/>
        </p:nvSpPr>
        <p:spPr>
          <a:xfrm>
            <a:off x="822960" y="2606040"/>
            <a:ext cx="3017520" cy="1645920"/>
          </a:xfrm>
          <a:prstGeom prst="rect">
            <a:avLst/>
          </a:prstGeom>
          <a:noFill/>
          <a:ln/>
        </p:spPr>
        <p:txBody>
          <a:bodyPr wrap="square" lIns="0" tIns="0" rIns="0" bIns="0" rtlCol="0" anchor="t"/>
          <a:lstStyle/>
          <a:p>
            <a:pPr indent="0" marL="0">
              <a:buNone/>
            </a:pPr>
            <a:r>
              <a:rPr lang="en-US" sz="1700" dirty="0">
                <a:solidFill>
                  <a:schemeClr val="bg1"/>
                </a:solidFill>
              </a:rPr>
              <a:t>Capital recovery: return of and on capital, financing, income and local taxes, G&amp;A</a:t>
            </a:r>
            <a:endParaRPr lang="en-US" sz="1700" dirty="0"/>
          </a:p>
        </p:txBody>
      </p:sp>
      <p:sp>
        <p:nvSpPr>
          <p:cNvPr id="9" name="Text 5"/>
          <p:cNvSpPr txBox="1"/>
          <p:nvPr/>
        </p:nvSpPr>
        <p:spPr>
          <a:xfrm>
            <a:off x="4114800" y="2377440"/>
            <a:ext cx="457200" cy="822960"/>
          </a:xfrm>
          <a:prstGeom prst="rect">
            <a:avLst/>
          </a:prstGeom>
          <a:noFill/>
          <a:ln/>
        </p:spPr>
        <p:txBody>
          <a:bodyPr wrap="square" rtlCol="0" anchor="ctr"/>
          <a:lstStyle/>
          <a:p>
            <a:pPr algn="ctr" indent="0" marL="0">
              <a:buNone/>
            </a:pPr>
            <a:r>
              <a:rPr lang="en-US" sz="4400" b="1" dirty="0">
                <a:solidFill>
                  <a:schemeClr val="tx2"/>
                </a:solidFill>
              </a:rPr>
              <a:t>+</a:t>
            </a:r>
            <a:endParaRPr lang="en-US" sz="4400" dirty="0"/>
          </a:p>
        </p:txBody>
      </p:sp>
      <p:sp>
        <p:nvSpPr>
          <p:cNvPr id="10" name="Card"/>
          <p:cNvSpPr/>
          <p:nvPr/>
        </p:nvSpPr>
        <p:spPr>
          <a:xfrm>
            <a:off x="4572000" y="1508760"/>
            <a:ext cx="3291840" cy="2834640"/>
          </a:xfrm>
          <a:prstGeom prst="roundRect">
            <a:avLst>
              <a:gd name="adj" fmla="val 3871"/>
            </a:avLst>
          </a:prstGeom>
          <a:solidFill>
            <a:schemeClr val="tx2"/>
          </a:solidFill>
          <a:ln w="12700">
            <a:solidFill>
              <a:schemeClr val="tx2"/>
            </a:solidFill>
            <a:prstDash val="solid"/>
          </a:ln>
        </p:spPr>
      </p:sp>
      <p:sp>
        <p:nvSpPr>
          <p:cNvPr id="11" name="Icon circle"/>
          <p:cNvSpPr/>
          <p:nvPr/>
        </p:nvSpPr>
        <p:spPr>
          <a:xfrm>
            <a:off x="4846320" y="1737360"/>
            <a:ext cx="685800" cy="685800"/>
          </a:xfrm>
          <a:prstGeom prst="ellipse">
            <a:avLst/>
          </a:prstGeom>
          <a:solidFill>
            <a:schemeClr val="accent2"/>
          </a:solidFill>
          <a:ln w="12700">
            <a:solidFill>
              <a:schemeClr val="accent2"/>
            </a:solidFill>
            <a:prstDash val="solid"/>
          </a:ln>
        </p:spPr>
      </p:sp>
      <p:pic>
        <p:nvPicPr>
          <p:cNvPr id="12" name="Icon" descr="preencoded.png">    </p:cNvPr>
          <p:cNvPicPr>
            <a:picLocks noChangeAspect="1"/>
          </p:cNvPicPr>
          <p:nvPr/>
        </p:nvPicPr>
        <p:blipFill>
          <a:blip r:embed="rId2"/>
          <a:stretch>
            <a:fillRect/>
          </a:stretch>
        </p:blipFill>
        <p:spPr>
          <a:xfrm>
            <a:off x="5024628" y="1915668"/>
            <a:ext cx="329184" cy="329184"/>
          </a:xfrm>
          <a:prstGeom prst="rect">
            <a:avLst/>
          </a:prstGeom>
        </p:spPr>
      </p:pic>
      <p:sp>
        <p:nvSpPr>
          <p:cNvPr id="13" name="Text 8"/>
          <p:cNvSpPr txBox="1"/>
          <p:nvPr/>
        </p:nvSpPr>
        <p:spPr>
          <a:xfrm>
            <a:off x="5669280" y="1737360"/>
            <a:ext cx="2011680" cy="685800"/>
          </a:xfrm>
          <a:prstGeom prst="rect">
            <a:avLst/>
          </a:prstGeom>
          <a:noFill/>
          <a:ln/>
        </p:spPr>
        <p:txBody>
          <a:bodyPr wrap="square" lIns="0" tIns="0" rIns="0" bIns="0" rtlCol="0" anchor="ctr"/>
          <a:lstStyle/>
          <a:p>
            <a:pPr indent="0" marL="0">
              <a:buNone/>
            </a:pPr>
            <a:r>
              <a:rPr lang="en-US" sz="2400" b="1" dirty="0">
                <a:solidFill>
                  <a:schemeClr val="bg1"/>
                </a:solidFill>
                <a:latin typeface="Cambria" pitchFamily="34" charset="0"/>
                <a:ea typeface="Cambria" pitchFamily="34" charset="-122"/>
                <a:cs typeface="Cambria" pitchFamily="34" charset="-120"/>
              </a:rPr>
              <a:t>OM</a:t>
            </a:r>
            <a:endParaRPr lang="en-US" sz="2400" dirty="0"/>
          </a:p>
        </p:txBody>
      </p:sp>
      <p:sp>
        <p:nvSpPr>
          <p:cNvPr id="14" name="Text 9"/>
          <p:cNvSpPr txBox="1"/>
          <p:nvPr/>
        </p:nvSpPr>
        <p:spPr>
          <a:xfrm>
            <a:off x="4846320" y="2606040"/>
            <a:ext cx="2743200" cy="1645920"/>
          </a:xfrm>
          <a:prstGeom prst="rect">
            <a:avLst/>
          </a:prstGeom>
          <a:noFill/>
          <a:ln/>
        </p:spPr>
        <p:txBody>
          <a:bodyPr wrap="square" lIns="0" tIns="0" rIns="0" bIns="0" rtlCol="0" anchor="t"/>
          <a:lstStyle/>
          <a:p>
            <a:pPr indent="0" marL="0">
              <a:buNone/>
            </a:pPr>
            <a:r>
              <a:rPr lang="en-US" sz="1700" dirty="0">
                <a:solidFill>
                  <a:schemeClr val="bg1"/>
                </a:solidFill>
              </a:rPr>
              <a:t>Fixed O&amp;M and variable non-fuel O&amp;M of the plant</a:t>
            </a:r>
            <a:endParaRPr lang="en-US" sz="1700" dirty="0"/>
          </a:p>
        </p:txBody>
      </p:sp>
      <p:sp>
        <p:nvSpPr>
          <p:cNvPr id="15" name="Text 10"/>
          <p:cNvSpPr txBox="1"/>
          <p:nvPr/>
        </p:nvSpPr>
        <p:spPr>
          <a:xfrm>
            <a:off x="7863840" y="2377440"/>
            <a:ext cx="457200" cy="822960"/>
          </a:xfrm>
          <a:prstGeom prst="rect">
            <a:avLst/>
          </a:prstGeom>
          <a:noFill/>
          <a:ln/>
        </p:spPr>
        <p:txBody>
          <a:bodyPr wrap="square" rtlCol="0" anchor="ctr"/>
          <a:lstStyle/>
          <a:p>
            <a:pPr algn="ctr" indent="0" marL="0">
              <a:buNone/>
            </a:pPr>
            <a:r>
              <a:rPr lang="en-US" sz="4400" b="1" dirty="0">
                <a:solidFill>
                  <a:schemeClr val="tx2"/>
                </a:solidFill>
              </a:rPr>
              <a:t>=</a:t>
            </a:r>
            <a:endParaRPr lang="en-US" sz="4400" dirty="0"/>
          </a:p>
        </p:txBody>
      </p:sp>
      <p:sp>
        <p:nvSpPr>
          <p:cNvPr id="16" name="Card"/>
          <p:cNvSpPr/>
          <p:nvPr/>
        </p:nvSpPr>
        <p:spPr>
          <a:xfrm>
            <a:off x="8321040" y="1508760"/>
            <a:ext cx="3291840" cy="2834640"/>
          </a:xfrm>
          <a:prstGeom prst="roundRect">
            <a:avLst>
              <a:gd name="adj" fmla="val 3871"/>
            </a:avLst>
          </a:prstGeom>
          <a:solidFill>
            <a:schemeClr val="accent3"/>
          </a:solidFill>
          <a:ln w="12700">
            <a:solidFill>
              <a:schemeClr val="accent3"/>
            </a:solidFill>
            <a:prstDash val="solid"/>
          </a:ln>
        </p:spPr>
      </p:sp>
      <p:sp>
        <p:nvSpPr>
          <p:cNvPr id="17" name="Text 12"/>
          <p:cNvSpPr txBox="1"/>
          <p:nvPr/>
        </p:nvSpPr>
        <p:spPr>
          <a:xfrm>
            <a:off x="8549640" y="1737360"/>
            <a:ext cx="2834640" cy="2377440"/>
          </a:xfrm>
          <a:prstGeom prst="rect">
            <a:avLst/>
          </a:prstGeom>
          <a:noFill/>
          <a:ln/>
        </p:spPr>
        <p:txBody>
          <a:bodyPr wrap="square" lIns="0" tIns="0" rIns="0" bIns="0" rtlCol="0" anchor="ctr"/>
          <a:lstStyle/>
          <a:p>
            <a:pPr indent="0" marL="0">
              <a:buNone/>
            </a:pPr>
            <a:r>
              <a:rPr lang="en-US" sz="2800" b="1" dirty="0">
                <a:solidFill>
                  <a:schemeClr val="tx1"/>
                </a:solidFill>
                <a:latin typeface="Calibri" pitchFamily="34" charset="0"/>
                <a:ea typeface="Calibri" pitchFamily="34" charset="-122"/>
                <a:cs typeface="Calibri" pitchFamily="34" charset="-120"/>
              </a:rPr>
              <a:t>GAT Price</a:t>
            </a:r>
            <a:endParaRPr lang="en-US" sz="2800" dirty="0"/>
          </a:p>
          <a:p>
            <a:pPr indent="0" marL="0">
              <a:buNone/>
            </a:pPr>
            <a:r>
              <a:rPr lang="en-US" sz="1700" dirty="0">
                <a:solidFill>
                  <a:schemeClr val="tx1"/>
                </a:solidFill>
                <a:latin typeface="Calibri" pitchFamily="34" charset="0"/>
                <a:ea typeface="Calibri" pitchFamily="34" charset="-122"/>
                <a:cs typeface="Calibri" pitchFamily="34" charset="-120"/>
              </a:rPr>
              <a:t>PhP/kWh price ceiling for each Facility Type</a:t>
            </a:r>
            <a:endParaRPr lang="en-US" sz="2800" dirty="0"/>
          </a:p>
        </p:txBody>
      </p:sp>
      <p:sp>
        <p:nvSpPr>
          <p:cNvPr id="18" name="Card"/>
          <p:cNvSpPr/>
          <p:nvPr/>
        </p:nvSpPr>
        <p:spPr>
          <a:xfrm>
            <a:off x="548640" y="4572000"/>
            <a:ext cx="11064240" cy="1188720"/>
          </a:xfrm>
          <a:prstGeom prst="roundRect">
            <a:avLst>
              <a:gd name="adj" fmla="val 9231"/>
            </a:avLst>
          </a:prstGeom>
          <a:solidFill>
            <a:schemeClr val="bg2"/>
          </a:solidFill>
          <a:ln w="12700">
            <a:solidFill>
              <a:schemeClr val="bg2"/>
            </a:solidFill>
            <a:prstDash val="solid"/>
          </a:ln>
        </p:spPr>
      </p:sp>
      <p:sp>
        <p:nvSpPr>
          <p:cNvPr id="19" name="Icon circle"/>
          <p:cNvSpPr/>
          <p:nvPr/>
        </p:nvSpPr>
        <p:spPr>
          <a:xfrm>
            <a:off x="777240" y="4800600"/>
            <a:ext cx="731520" cy="731520"/>
          </a:xfrm>
          <a:prstGeom prst="ellipse">
            <a:avLst/>
          </a:prstGeom>
          <a:solidFill>
            <a:schemeClr val="accent4"/>
          </a:solidFill>
          <a:ln w="12700">
            <a:solidFill>
              <a:schemeClr val="accent4"/>
            </a:solidFill>
            <a:prstDash val="solid"/>
          </a:ln>
        </p:spPr>
      </p:sp>
      <p:pic>
        <p:nvPicPr>
          <p:cNvPr id="20" name="Icon" descr="preencoded.png">    </p:cNvPr>
          <p:cNvPicPr>
            <a:picLocks noChangeAspect="1"/>
          </p:cNvPicPr>
          <p:nvPr/>
        </p:nvPicPr>
        <p:blipFill>
          <a:blip r:embed="rId3"/>
          <a:stretch>
            <a:fillRect/>
          </a:stretch>
        </p:blipFill>
        <p:spPr>
          <a:xfrm>
            <a:off x="967435" y="4990795"/>
            <a:ext cx="351130" cy="351130"/>
          </a:xfrm>
          <a:prstGeom prst="rect">
            <a:avLst/>
          </a:prstGeom>
        </p:spPr>
      </p:pic>
      <p:sp>
        <p:nvSpPr>
          <p:cNvPr id="21" name="Text 15"/>
          <p:cNvSpPr txBox="1"/>
          <p:nvPr/>
        </p:nvSpPr>
        <p:spPr>
          <a:xfrm>
            <a:off x="1737360" y="4663440"/>
            <a:ext cx="9692640" cy="1005840"/>
          </a:xfrm>
          <a:prstGeom prst="rect">
            <a:avLst/>
          </a:prstGeom>
          <a:noFill/>
          <a:ln/>
        </p:spPr>
        <p:txBody>
          <a:bodyPr wrap="square" lIns="0" tIns="0" rIns="0" bIns="0" rtlCol="0" anchor="ctr"/>
          <a:lstStyle/>
          <a:p>
            <a:pPr indent="0" marL="0">
              <a:buNone/>
            </a:pPr>
            <a:r>
              <a:rPr lang="en-US" sz="1700" b="1" dirty="0">
                <a:solidFill>
                  <a:schemeClr val="tx1"/>
                </a:solidFill>
              </a:rPr>
              <a:t>Outside the GAT Price: </a:t>
            </a:r>
            <a:pPr indent="0" marL="0">
              <a:buNone/>
            </a:pPr>
            <a:r>
              <a:rPr lang="en-US" sz="1700" dirty="0">
                <a:solidFill>
                  <a:schemeClr val="tx1"/>
                </a:solidFill>
              </a:rPr>
              <a:t>Fuel Cost = Fuel Commodity Cost + Capped Landed Logistics Cost (CLLC), recovered through the Fuel Cost Pass-Through against the Gas Price Benchmark and caps.</a:t>
            </a:r>
            <a:endParaRPr lang="en-US" sz="1700" dirty="0"/>
          </a:p>
        </p:txBody>
      </p:sp>
      <p:sp>
        <p:nvSpPr>
          <p:cNvPr id="22" name="Text 16"/>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Solved by iteration: equity NPV = 0 at the required equity return. Draft GAIR Secs. 8–9; DOE DC2026-06-0013 Sec. 7.2.</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Eleven reference cases, two dispatch views</a:t>
            </a:r>
            <a:endParaRPr lang="en-US" sz="3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011680"/>
                <a:gridCol w="1280160"/>
                <a:gridCol w="1371600"/>
                <a:gridCol w="2926080"/>
                <a:gridCol w="1554480"/>
                <a:gridCol w="192024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DOE lot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Grid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Capacity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Technologies modelled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Delivery starts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Supply period (TOR)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Lot 1 – existing</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Luzon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1,400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(3 × 466.7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2026</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5 yrs + 5 yrs extension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Lot 2 – existing</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Luzon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500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(1 × 500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2027</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10 yrs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New-build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Luzon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1,000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OCGT, gas engine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2031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 yrs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New-build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Visayas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440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OCGT, gas engine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2028</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 yrs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New-build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Visayas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500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OCGT, gas engine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2031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 yrs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5" name="Card"/>
          <p:cNvSpPr/>
          <p:nvPr/>
        </p:nvSpPr>
        <p:spPr>
          <a:xfrm>
            <a:off x="548640" y="4617720"/>
            <a:ext cx="5394960" cy="1143000"/>
          </a:xfrm>
          <a:prstGeom prst="roundRect">
            <a:avLst>
              <a:gd name="adj" fmla="val 9600"/>
            </a:avLst>
          </a:prstGeom>
          <a:solidFill>
            <a:schemeClr val="bg2"/>
          </a:solidFill>
          <a:ln w="12700">
            <a:solidFill>
              <a:schemeClr val="bg2"/>
            </a:solidFill>
            <a:prstDash val="solid"/>
          </a:ln>
        </p:spPr>
      </p:sp>
      <p:sp>
        <p:nvSpPr>
          <p:cNvPr id="6" name="Text 2"/>
          <p:cNvSpPr txBox="1"/>
          <p:nvPr/>
        </p:nvSpPr>
        <p:spPr>
          <a:xfrm>
            <a:off x="777240" y="4663440"/>
            <a:ext cx="5029200" cy="1051560"/>
          </a:xfrm>
          <a:prstGeom prst="rect">
            <a:avLst/>
          </a:prstGeom>
          <a:noFill/>
          <a:ln/>
        </p:spPr>
        <p:txBody>
          <a:bodyPr wrap="square" lIns="0" tIns="0" rIns="0" bIns="0" rtlCol="0" anchor="ctr"/>
          <a:lstStyle/>
          <a:p>
            <a:pPr indent="0" marL="0">
              <a:buNone/>
            </a:pPr>
            <a:r>
              <a:rPr lang="en-US" sz="1700" b="1" dirty="0">
                <a:solidFill>
                  <a:srgbClr val="14324F"/>
                </a:solidFill>
              </a:rPr>
              <a:t>Case A – TOR view: </a:t>
            </a:r>
            <a:pPr indent="0" marL="0">
              <a:buNone/>
            </a:pPr>
            <a:r>
              <a:rPr lang="en-US" sz="1700" dirty="0">
                <a:solidFill>
                  <a:schemeClr val="tx1"/>
                </a:solidFill>
              </a:rPr>
              <a:t>capacity factor 42%, the top of every TOR band.</a:t>
            </a:r>
            <a:endParaRPr lang="en-US" sz="1700" dirty="0"/>
          </a:p>
        </p:txBody>
      </p:sp>
      <p:sp>
        <p:nvSpPr>
          <p:cNvPr id="7" name="Card"/>
          <p:cNvSpPr/>
          <p:nvPr/>
        </p:nvSpPr>
        <p:spPr>
          <a:xfrm>
            <a:off x="6217920" y="4617720"/>
            <a:ext cx="5394960" cy="1143000"/>
          </a:xfrm>
          <a:prstGeom prst="roundRect">
            <a:avLst>
              <a:gd name="adj" fmla="val 9600"/>
            </a:avLst>
          </a:prstGeom>
          <a:solidFill>
            <a:schemeClr val="bg2"/>
          </a:solidFill>
          <a:ln w="12700">
            <a:solidFill>
              <a:schemeClr val="bg2"/>
            </a:solidFill>
            <a:prstDash val="solid"/>
          </a:ln>
        </p:spPr>
      </p:sp>
      <p:sp>
        <p:nvSpPr>
          <p:cNvPr id="8" name="Text 4"/>
          <p:cNvSpPr txBox="1"/>
          <p:nvPr/>
        </p:nvSpPr>
        <p:spPr>
          <a:xfrm>
            <a:off x="6446520" y="4663440"/>
            <a:ext cx="5029200" cy="1051560"/>
          </a:xfrm>
          <a:prstGeom prst="rect">
            <a:avLst/>
          </a:prstGeom>
          <a:noFill/>
          <a:ln/>
        </p:spPr>
        <p:txBody>
          <a:bodyPr wrap="square" lIns="0" tIns="0" rIns="0" bIns="0" rtlCol="0" anchor="ctr"/>
          <a:lstStyle/>
          <a:p>
            <a:pPr indent="0" marL="0">
              <a:buNone/>
            </a:pPr>
            <a:r>
              <a:rPr lang="en-US" sz="1700" b="1" dirty="0">
                <a:solidFill>
                  <a:srgbClr val="14324F"/>
                </a:solidFill>
              </a:rPr>
              <a:t>Case B – historical view: </a:t>
            </a:r>
            <a:pPr indent="0" marL="0">
              <a:buNone/>
            </a:pPr>
            <a:r>
              <a:rPr lang="en-US" sz="1700" dirty="0">
                <a:solidFill>
                  <a:schemeClr val="tx1"/>
                </a:solidFill>
              </a:rPr>
              <a:t>actual dispatch of the gas fleet, Jan 2024–Sep 2026.</a:t>
            </a:r>
            <a:endParaRPr lang="en-US" sz="1700" dirty="0"/>
          </a:p>
        </p:txBody>
      </p:sp>
      <p:sp>
        <p:nvSpPr>
          <p:cNvPr id="9" name="Text 5"/>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Source: DOE Terms of Reference (Annex B), Secs. 1.1, 1.2, 4.2 and 18.3.</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Plant size and dispatch</a:t>
            </a:r>
            <a:endParaRPr lang="en-US" sz="3400" dirty="0"/>
          </a:p>
        </p:txBody>
      </p:sp>
      <p:sp>
        <p:nvSpPr>
          <p:cNvPr id="4" name="Card"/>
          <p:cNvSpPr/>
          <p:nvPr/>
        </p:nvSpPr>
        <p:spPr>
          <a:xfrm>
            <a:off x="548640" y="1417320"/>
            <a:ext cx="3520440" cy="2377440"/>
          </a:xfrm>
          <a:prstGeom prst="roundRect">
            <a:avLst>
              <a:gd name="adj" fmla="val 4615"/>
            </a:avLst>
          </a:prstGeom>
          <a:solidFill>
            <a:schemeClr val="bg2"/>
          </a:solidFill>
          <a:ln w="12700">
            <a:solidFill>
              <a:schemeClr val="bg2"/>
            </a:solidFill>
            <a:prstDash val="solid"/>
          </a:ln>
        </p:spPr>
      </p:sp>
      <p:sp>
        <p:nvSpPr>
          <p:cNvPr id="5" name="Text 2"/>
          <p:cNvSpPr txBox="1"/>
          <p:nvPr/>
        </p:nvSpPr>
        <p:spPr>
          <a:xfrm>
            <a:off x="731520" y="1645920"/>
            <a:ext cx="315468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42%</a:t>
            </a:r>
            <a:endParaRPr lang="en-US" sz="4000" dirty="0"/>
          </a:p>
        </p:txBody>
      </p:sp>
      <p:sp>
        <p:nvSpPr>
          <p:cNvPr id="6" name="Text 3"/>
          <p:cNvSpPr txBox="1"/>
          <p:nvPr/>
        </p:nvSpPr>
        <p:spPr>
          <a:xfrm>
            <a:off x="731520" y="2606040"/>
            <a:ext cx="3154680" cy="457200"/>
          </a:xfrm>
          <a:prstGeom prst="rect">
            <a:avLst/>
          </a:prstGeom>
          <a:noFill/>
          <a:ln/>
        </p:spPr>
        <p:txBody>
          <a:bodyPr wrap="square" lIns="0" tIns="0" rIns="0" bIns="0" rtlCol="0" anchor="ctr"/>
          <a:lstStyle/>
          <a:p>
            <a:pPr indent="0" marL="0">
              <a:buNone/>
            </a:pPr>
            <a:r>
              <a:rPr lang="en-US" sz="1800" b="1" dirty="0">
                <a:solidFill>
                  <a:schemeClr val="tx1"/>
                </a:solidFill>
              </a:rPr>
              <a:t>Capacity factor, Case A</a:t>
            </a:r>
            <a:endParaRPr lang="en-US" sz="1800" dirty="0"/>
          </a:p>
        </p:txBody>
      </p:sp>
      <p:sp>
        <p:nvSpPr>
          <p:cNvPr id="7" name="Text 4"/>
          <p:cNvSpPr txBox="1"/>
          <p:nvPr/>
        </p:nvSpPr>
        <p:spPr>
          <a:xfrm>
            <a:off x="731520" y="3063240"/>
            <a:ext cx="3154680" cy="594360"/>
          </a:xfrm>
          <a:prstGeom prst="rect">
            <a:avLst/>
          </a:prstGeom>
          <a:noFill/>
          <a:ln/>
        </p:spPr>
        <p:txBody>
          <a:bodyPr wrap="square" lIns="0" tIns="0" rIns="0" bIns="0" rtlCol="0" anchor="t"/>
          <a:lstStyle/>
          <a:p>
            <a:pPr indent="0" marL="0">
              <a:buNone/>
            </a:pPr>
            <a:r>
              <a:rPr lang="en-US" sz="1400" dirty="0">
                <a:solidFill>
                  <a:schemeClr val="accent4"/>
                </a:solidFill>
              </a:rPr>
              <a:t>Top of the TOR band (37%–42%)</a:t>
            </a:r>
            <a:endParaRPr lang="en-US" sz="1400" dirty="0"/>
          </a:p>
        </p:txBody>
      </p:sp>
      <p:sp>
        <p:nvSpPr>
          <p:cNvPr id="8" name="Card"/>
          <p:cNvSpPr/>
          <p:nvPr/>
        </p:nvSpPr>
        <p:spPr>
          <a:xfrm>
            <a:off x="4343400" y="1417320"/>
            <a:ext cx="3520440" cy="2377440"/>
          </a:xfrm>
          <a:prstGeom prst="roundRect">
            <a:avLst>
              <a:gd name="adj" fmla="val 4615"/>
            </a:avLst>
          </a:prstGeom>
          <a:solidFill>
            <a:schemeClr val="bg2"/>
          </a:solidFill>
          <a:ln w="12700">
            <a:solidFill>
              <a:schemeClr val="bg2"/>
            </a:solidFill>
            <a:prstDash val="solid"/>
          </a:ln>
        </p:spPr>
      </p:sp>
      <p:sp>
        <p:nvSpPr>
          <p:cNvPr id="9" name="Text 6"/>
          <p:cNvSpPr txBox="1"/>
          <p:nvPr/>
        </p:nvSpPr>
        <p:spPr>
          <a:xfrm>
            <a:off x="4526280" y="1645920"/>
            <a:ext cx="3154680" cy="91440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66.8% / 63.1%</a:t>
            </a:r>
            <a:endParaRPr lang="en-US" sz="3200" dirty="0"/>
          </a:p>
        </p:txBody>
      </p:sp>
      <p:sp>
        <p:nvSpPr>
          <p:cNvPr id="10" name="Text 7"/>
          <p:cNvSpPr txBox="1"/>
          <p:nvPr/>
        </p:nvSpPr>
        <p:spPr>
          <a:xfrm>
            <a:off x="4526280" y="2606040"/>
            <a:ext cx="3154680" cy="457200"/>
          </a:xfrm>
          <a:prstGeom prst="rect">
            <a:avLst/>
          </a:prstGeom>
          <a:noFill/>
          <a:ln/>
        </p:spPr>
        <p:txBody>
          <a:bodyPr wrap="square" lIns="0" tIns="0" rIns="0" bIns="0" rtlCol="0" anchor="ctr"/>
          <a:lstStyle/>
          <a:p>
            <a:pPr indent="0" marL="0">
              <a:buNone/>
            </a:pPr>
            <a:r>
              <a:rPr lang="en-US" sz="1800" b="1" dirty="0">
                <a:solidFill>
                  <a:schemeClr val="tx1"/>
                </a:solidFill>
              </a:rPr>
              <a:t>Capacity factor, Case B</a:t>
            </a:r>
            <a:endParaRPr lang="en-US" sz="1800" dirty="0"/>
          </a:p>
        </p:txBody>
      </p:sp>
      <p:sp>
        <p:nvSpPr>
          <p:cNvPr id="11" name="Text 8"/>
          <p:cNvSpPr txBox="1"/>
          <p:nvPr/>
        </p:nvSpPr>
        <p:spPr>
          <a:xfrm>
            <a:off x="4526280" y="3063240"/>
            <a:ext cx="3154680" cy="594360"/>
          </a:xfrm>
          <a:prstGeom prst="rect">
            <a:avLst/>
          </a:prstGeom>
          <a:noFill/>
          <a:ln/>
        </p:spPr>
        <p:txBody>
          <a:bodyPr wrap="square" lIns="0" tIns="0" rIns="0" bIns="0" rtlCol="0" anchor="t"/>
          <a:lstStyle/>
          <a:p>
            <a:pPr indent="0" marL="0">
              <a:buNone/>
            </a:pPr>
            <a:r>
              <a:rPr lang="en-US" sz="1400" dirty="0">
                <a:solidFill>
                  <a:schemeClr val="accent4"/>
                </a:solidFill>
              </a:rPr>
              <a:t>Existing fleet / whole fleet, Jan 2024–Sep 2026</a:t>
            </a:r>
            <a:endParaRPr lang="en-US" sz="1400" dirty="0"/>
          </a:p>
        </p:txBody>
      </p:sp>
      <p:sp>
        <p:nvSpPr>
          <p:cNvPr id="12" name="Card"/>
          <p:cNvSpPr/>
          <p:nvPr/>
        </p:nvSpPr>
        <p:spPr>
          <a:xfrm>
            <a:off x="8138160" y="1417320"/>
            <a:ext cx="3474720" cy="2377440"/>
          </a:xfrm>
          <a:prstGeom prst="roundRect">
            <a:avLst>
              <a:gd name="adj" fmla="val 4615"/>
            </a:avLst>
          </a:prstGeom>
          <a:solidFill>
            <a:schemeClr val="bg2"/>
          </a:solidFill>
          <a:ln w="12700">
            <a:solidFill>
              <a:schemeClr val="bg2"/>
            </a:solidFill>
            <a:prstDash val="solid"/>
          </a:ln>
        </p:spPr>
      </p:sp>
      <p:sp>
        <p:nvSpPr>
          <p:cNvPr id="13" name="Text 10"/>
          <p:cNvSpPr txBox="1"/>
          <p:nvPr/>
        </p:nvSpPr>
        <p:spPr>
          <a:xfrm>
            <a:off x="8321040" y="1645920"/>
            <a:ext cx="310896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0.2% / yr</a:t>
            </a:r>
            <a:endParaRPr lang="en-US" sz="4000" dirty="0"/>
          </a:p>
        </p:txBody>
      </p:sp>
      <p:sp>
        <p:nvSpPr>
          <p:cNvPr id="14" name="Text 11"/>
          <p:cNvSpPr txBox="1"/>
          <p:nvPr/>
        </p:nvSpPr>
        <p:spPr>
          <a:xfrm>
            <a:off x="8321040" y="2606040"/>
            <a:ext cx="3108960" cy="457200"/>
          </a:xfrm>
          <a:prstGeom prst="rect">
            <a:avLst/>
          </a:prstGeom>
          <a:noFill/>
          <a:ln/>
        </p:spPr>
        <p:txBody>
          <a:bodyPr wrap="square" lIns="0" tIns="0" rIns="0" bIns="0" rtlCol="0" anchor="ctr"/>
          <a:lstStyle/>
          <a:p>
            <a:pPr indent="0" marL="0">
              <a:buNone/>
            </a:pPr>
            <a:r>
              <a:rPr lang="en-US" sz="1800" b="1" dirty="0">
                <a:solidFill>
                  <a:schemeClr val="tx1"/>
                </a:solidFill>
              </a:rPr>
              <a:t>Output degradation</a:t>
            </a:r>
            <a:endParaRPr lang="en-US" sz="1800" dirty="0"/>
          </a:p>
        </p:txBody>
      </p:sp>
      <p:sp>
        <p:nvSpPr>
          <p:cNvPr id="15" name="Text 12"/>
          <p:cNvSpPr txBox="1"/>
          <p:nvPr/>
        </p:nvSpPr>
        <p:spPr>
          <a:xfrm>
            <a:off x="8321040" y="3063240"/>
            <a:ext cx="3108960" cy="594360"/>
          </a:xfrm>
          <a:prstGeom prst="rect">
            <a:avLst/>
          </a:prstGeom>
          <a:noFill/>
          <a:ln/>
        </p:spPr>
        <p:txBody>
          <a:bodyPr wrap="square" lIns="0" tIns="0" rIns="0" bIns="0" rtlCol="0" anchor="t"/>
          <a:lstStyle/>
          <a:p>
            <a:pPr indent="0" marL="0">
              <a:buNone/>
            </a:pPr>
            <a:r>
              <a:rPr lang="en-US" sz="1400" dirty="0">
                <a:solidFill>
                  <a:schemeClr val="accent4"/>
                </a:solidFill>
              </a:rPr>
              <a:t>Applied from COD (draft Annex A.20)</a:t>
            </a:r>
            <a:endParaRPr lang="en-US" sz="1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4023360"/>
          <a:ext cx="11064240" cy="914400"/>
        </p:xfrm>
        <a:graphic>
          <a:graphicData uri="http://schemas.openxmlformats.org/drawingml/2006/table">
            <a:tbl>
              <a:tblPr/>
              <a:tblGrid>
                <a:gridCol w="3017520"/>
                <a:gridCol w="3840480"/>
                <a:gridCol w="420624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Parameter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Lot 1 non-mid-merit energy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+24% capacity factor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TOR 4.2.2: paid Fuel Cost only, not the GAP</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Capacity factor basis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Net (own use 0%, efficiency 100%)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Capacity factor already net of own use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Standard unit sizes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500 MW; OCGT 220 MW; gas engine 20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TOR lot sizes split into standard units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17" name="Text 13"/>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Case B source: MERALCO “Breakdown of Generation Charge” tables (plants supplying MERALCO), Jan 2024–Sep 2026.</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Construction, operation and base year</a:t>
            </a:r>
            <a:endParaRPr lang="en-US" sz="3400" dirty="0"/>
          </a:p>
        </p:txBody>
      </p:sp>
      <p:sp>
        <p:nvSpPr>
          <p:cNvPr id="4" name="Card"/>
          <p:cNvSpPr/>
          <p:nvPr/>
        </p:nvSpPr>
        <p:spPr>
          <a:xfrm>
            <a:off x="548640" y="1463040"/>
            <a:ext cx="2560320" cy="2286000"/>
          </a:xfrm>
          <a:prstGeom prst="roundRect">
            <a:avLst>
              <a:gd name="adj" fmla="val 4800"/>
            </a:avLst>
          </a:prstGeom>
          <a:solidFill>
            <a:schemeClr val="bg2"/>
          </a:solidFill>
          <a:ln w="12700">
            <a:solidFill>
              <a:schemeClr val="bg2"/>
            </a:solidFill>
            <a:prstDash val="solid"/>
          </a:ln>
        </p:spPr>
      </p:sp>
      <p:sp>
        <p:nvSpPr>
          <p:cNvPr id="5" name="Text 2"/>
          <p:cNvSpPr txBox="1"/>
          <p:nvPr/>
        </p:nvSpPr>
        <p:spPr>
          <a:xfrm>
            <a:off x="731520" y="1600200"/>
            <a:ext cx="2194560" cy="914400"/>
          </a:xfrm>
          <a:prstGeom prst="rect">
            <a:avLst/>
          </a:prstGeom>
          <a:noFill/>
          <a:ln/>
        </p:spPr>
        <p:txBody>
          <a:bodyPr wrap="square" lIns="0" tIns="0" rIns="0" bIns="0"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0</a:t>
            </a:r>
            <a:endParaRPr lang="en-US" sz="4800" dirty="0"/>
          </a:p>
        </p:txBody>
      </p:sp>
      <p:sp>
        <p:nvSpPr>
          <p:cNvPr id="6" name="Text 3"/>
          <p:cNvSpPr txBox="1"/>
          <p:nvPr/>
        </p:nvSpPr>
        <p:spPr>
          <a:xfrm>
            <a:off x="731520" y="2514600"/>
            <a:ext cx="2194560" cy="365760"/>
          </a:xfrm>
          <a:prstGeom prst="rect">
            <a:avLst/>
          </a:prstGeom>
          <a:noFill/>
          <a:ln/>
        </p:spPr>
        <p:txBody>
          <a:bodyPr wrap="square" lIns="0" tIns="0" rIns="0" bIns="0" rtlCol="0" anchor="ctr"/>
          <a:lstStyle/>
          <a:p>
            <a:pPr indent="0" marL="0">
              <a:buNone/>
            </a:pPr>
            <a:r>
              <a:rPr lang="en-US" sz="1500" dirty="0">
                <a:solidFill>
                  <a:schemeClr val="accent4"/>
                </a:solidFill>
              </a:rPr>
              <a:t>months to build</a:t>
            </a:r>
            <a:endParaRPr lang="en-US" sz="1500" dirty="0"/>
          </a:p>
        </p:txBody>
      </p:sp>
      <p:sp>
        <p:nvSpPr>
          <p:cNvPr id="7" name="Text 4"/>
          <p:cNvSpPr txBox="1"/>
          <p:nvPr/>
        </p:nvSpPr>
        <p:spPr>
          <a:xfrm>
            <a:off x="731520" y="2880360"/>
            <a:ext cx="2194560" cy="411480"/>
          </a:xfrm>
          <a:prstGeom prst="rect">
            <a:avLst/>
          </a:prstGeom>
          <a:noFill/>
          <a:ln/>
        </p:spPr>
        <p:txBody>
          <a:bodyPr wrap="square" lIns="0" tIns="0" rIns="0" bIns="0" rtlCol="0" anchor="ctr"/>
          <a:lstStyle/>
          <a:p>
            <a:pPr indent="0" marL="0">
              <a:buNone/>
            </a:pPr>
            <a:r>
              <a:rPr lang="en-US" sz="1900" b="1" dirty="0">
                <a:solidFill>
                  <a:schemeClr val="tx2"/>
                </a:solidFill>
              </a:rPr>
              <a:t>Existing CCGT</a:t>
            </a:r>
            <a:endParaRPr lang="en-US" sz="1900" dirty="0"/>
          </a:p>
        </p:txBody>
      </p:sp>
      <p:sp>
        <p:nvSpPr>
          <p:cNvPr id="8" name="Text 5"/>
          <p:cNvSpPr txBox="1"/>
          <p:nvPr/>
        </p:nvSpPr>
        <p:spPr>
          <a:xfrm>
            <a:off x="731520" y="3291840"/>
            <a:ext cx="2194560" cy="365760"/>
          </a:xfrm>
          <a:prstGeom prst="rect">
            <a:avLst/>
          </a:prstGeom>
          <a:noFill/>
          <a:ln/>
        </p:spPr>
        <p:txBody>
          <a:bodyPr wrap="square" lIns="0" tIns="0" rIns="0" bIns="0" rtlCol="0" anchor="ctr"/>
          <a:lstStyle/>
          <a:p>
            <a:pPr indent="0" marL="0">
              <a:buNone/>
            </a:pPr>
            <a:r>
              <a:rPr lang="en-US" sz="1500" dirty="0">
                <a:solidFill>
                  <a:schemeClr val="tx1"/>
                </a:solidFill>
              </a:rPr>
              <a:t>COD 2028</a:t>
            </a:r>
            <a:endParaRPr lang="en-US" sz="1500" dirty="0"/>
          </a:p>
        </p:txBody>
      </p:sp>
      <p:sp>
        <p:nvSpPr>
          <p:cNvPr id="9" name="Card"/>
          <p:cNvSpPr/>
          <p:nvPr/>
        </p:nvSpPr>
        <p:spPr>
          <a:xfrm>
            <a:off x="3337560" y="1463040"/>
            <a:ext cx="2560320" cy="2286000"/>
          </a:xfrm>
          <a:prstGeom prst="roundRect">
            <a:avLst>
              <a:gd name="adj" fmla="val 4800"/>
            </a:avLst>
          </a:prstGeom>
          <a:solidFill>
            <a:schemeClr val="bg2"/>
          </a:solidFill>
          <a:ln w="12700">
            <a:solidFill>
              <a:schemeClr val="bg2"/>
            </a:solidFill>
            <a:prstDash val="solid"/>
          </a:ln>
        </p:spPr>
      </p:sp>
      <p:sp>
        <p:nvSpPr>
          <p:cNvPr id="10" name="Text 7"/>
          <p:cNvSpPr txBox="1"/>
          <p:nvPr/>
        </p:nvSpPr>
        <p:spPr>
          <a:xfrm>
            <a:off x="3520440" y="1600200"/>
            <a:ext cx="2194560" cy="914400"/>
          </a:xfrm>
          <a:prstGeom prst="rect">
            <a:avLst/>
          </a:prstGeom>
          <a:noFill/>
          <a:ln/>
        </p:spPr>
        <p:txBody>
          <a:bodyPr wrap="square" lIns="0" tIns="0" rIns="0" bIns="0"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36</a:t>
            </a:r>
            <a:endParaRPr lang="en-US" sz="4800" dirty="0"/>
          </a:p>
        </p:txBody>
      </p:sp>
      <p:sp>
        <p:nvSpPr>
          <p:cNvPr id="11" name="Text 8"/>
          <p:cNvSpPr txBox="1"/>
          <p:nvPr/>
        </p:nvSpPr>
        <p:spPr>
          <a:xfrm>
            <a:off x="3520440" y="2514600"/>
            <a:ext cx="2194560" cy="365760"/>
          </a:xfrm>
          <a:prstGeom prst="rect">
            <a:avLst/>
          </a:prstGeom>
          <a:noFill/>
          <a:ln/>
        </p:spPr>
        <p:txBody>
          <a:bodyPr wrap="square" lIns="0" tIns="0" rIns="0" bIns="0" rtlCol="0" anchor="ctr"/>
          <a:lstStyle/>
          <a:p>
            <a:pPr indent="0" marL="0">
              <a:buNone/>
            </a:pPr>
            <a:r>
              <a:rPr lang="en-US" sz="1500" dirty="0">
                <a:solidFill>
                  <a:schemeClr val="accent4"/>
                </a:solidFill>
              </a:rPr>
              <a:t>months to build</a:t>
            </a:r>
            <a:endParaRPr lang="en-US" sz="1500" dirty="0"/>
          </a:p>
        </p:txBody>
      </p:sp>
      <p:sp>
        <p:nvSpPr>
          <p:cNvPr id="12" name="Text 9"/>
          <p:cNvSpPr txBox="1"/>
          <p:nvPr/>
        </p:nvSpPr>
        <p:spPr>
          <a:xfrm>
            <a:off x="3520440" y="2880360"/>
            <a:ext cx="2194560" cy="411480"/>
          </a:xfrm>
          <a:prstGeom prst="rect">
            <a:avLst/>
          </a:prstGeom>
          <a:noFill/>
          <a:ln/>
        </p:spPr>
        <p:txBody>
          <a:bodyPr wrap="square" lIns="0" tIns="0" rIns="0" bIns="0" rtlCol="0" anchor="ctr"/>
          <a:lstStyle/>
          <a:p>
            <a:pPr indent="0" marL="0">
              <a:buNone/>
            </a:pPr>
            <a:r>
              <a:rPr lang="en-US" sz="1900" b="1" dirty="0">
                <a:solidFill>
                  <a:schemeClr val="tx2"/>
                </a:solidFill>
              </a:rPr>
              <a:t>New CCGT</a:t>
            </a:r>
            <a:endParaRPr lang="en-US" sz="1900" dirty="0"/>
          </a:p>
        </p:txBody>
      </p:sp>
      <p:sp>
        <p:nvSpPr>
          <p:cNvPr id="13" name="Text 10"/>
          <p:cNvSpPr txBox="1"/>
          <p:nvPr/>
        </p:nvSpPr>
        <p:spPr>
          <a:xfrm>
            <a:off x="3520440" y="3291840"/>
            <a:ext cx="2194560" cy="365760"/>
          </a:xfrm>
          <a:prstGeom prst="rect">
            <a:avLst/>
          </a:prstGeom>
          <a:noFill/>
          <a:ln/>
        </p:spPr>
        <p:txBody>
          <a:bodyPr wrap="square" lIns="0" tIns="0" rIns="0" bIns="0" rtlCol="0" anchor="ctr"/>
          <a:lstStyle/>
          <a:p>
            <a:pPr indent="0" marL="0">
              <a:buNone/>
            </a:pPr>
            <a:r>
              <a:rPr lang="en-US" sz="1500" dirty="0">
                <a:solidFill>
                  <a:schemeClr val="tx1"/>
                </a:solidFill>
              </a:rPr>
              <a:t>COD 2031</a:t>
            </a:r>
            <a:endParaRPr lang="en-US" sz="1500" dirty="0"/>
          </a:p>
        </p:txBody>
      </p:sp>
      <p:sp>
        <p:nvSpPr>
          <p:cNvPr id="14" name="Card"/>
          <p:cNvSpPr/>
          <p:nvPr/>
        </p:nvSpPr>
        <p:spPr>
          <a:xfrm>
            <a:off x="6126480" y="1463040"/>
            <a:ext cx="2560320" cy="2286000"/>
          </a:xfrm>
          <a:prstGeom prst="roundRect">
            <a:avLst>
              <a:gd name="adj" fmla="val 4800"/>
            </a:avLst>
          </a:prstGeom>
          <a:solidFill>
            <a:schemeClr val="bg2"/>
          </a:solidFill>
          <a:ln w="12700">
            <a:solidFill>
              <a:schemeClr val="bg2"/>
            </a:solidFill>
            <a:prstDash val="solid"/>
          </a:ln>
        </p:spPr>
      </p:sp>
      <p:sp>
        <p:nvSpPr>
          <p:cNvPr id="15" name="Text 12"/>
          <p:cNvSpPr txBox="1"/>
          <p:nvPr/>
        </p:nvSpPr>
        <p:spPr>
          <a:xfrm>
            <a:off x="6309360" y="1600200"/>
            <a:ext cx="2194560" cy="914400"/>
          </a:xfrm>
          <a:prstGeom prst="rect">
            <a:avLst/>
          </a:prstGeom>
          <a:noFill/>
          <a:ln/>
        </p:spPr>
        <p:txBody>
          <a:bodyPr wrap="square" lIns="0" tIns="0" rIns="0" bIns="0"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24</a:t>
            </a:r>
            <a:endParaRPr lang="en-US" sz="4800" dirty="0"/>
          </a:p>
        </p:txBody>
      </p:sp>
      <p:sp>
        <p:nvSpPr>
          <p:cNvPr id="16" name="Text 13"/>
          <p:cNvSpPr txBox="1"/>
          <p:nvPr/>
        </p:nvSpPr>
        <p:spPr>
          <a:xfrm>
            <a:off x="6309360" y="2514600"/>
            <a:ext cx="2194560" cy="365760"/>
          </a:xfrm>
          <a:prstGeom prst="rect">
            <a:avLst/>
          </a:prstGeom>
          <a:noFill/>
          <a:ln/>
        </p:spPr>
        <p:txBody>
          <a:bodyPr wrap="square" lIns="0" tIns="0" rIns="0" bIns="0" rtlCol="0" anchor="ctr"/>
          <a:lstStyle/>
          <a:p>
            <a:pPr indent="0" marL="0">
              <a:buNone/>
            </a:pPr>
            <a:r>
              <a:rPr lang="en-US" sz="1500" dirty="0">
                <a:solidFill>
                  <a:schemeClr val="accent4"/>
                </a:solidFill>
              </a:rPr>
              <a:t>months to build</a:t>
            </a:r>
            <a:endParaRPr lang="en-US" sz="1500" dirty="0"/>
          </a:p>
        </p:txBody>
      </p:sp>
      <p:sp>
        <p:nvSpPr>
          <p:cNvPr id="17" name="Text 14"/>
          <p:cNvSpPr txBox="1"/>
          <p:nvPr/>
        </p:nvSpPr>
        <p:spPr>
          <a:xfrm>
            <a:off x="6309360" y="2880360"/>
            <a:ext cx="2194560" cy="411480"/>
          </a:xfrm>
          <a:prstGeom prst="rect">
            <a:avLst/>
          </a:prstGeom>
          <a:noFill/>
          <a:ln/>
        </p:spPr>
        <p:txBody>
          <a:bodyPr wrap="square" lIns="0" tIns="0" rIns="0" bIns="0" rtlCol="0" anchor="ctr"/>
          <a:lstStyle/>
          <a:p>
            <a:pPr indent="0" marL="0">
              <a:buNone/>
            </a:pPr>
            <a:r>
              <a:rPr lang="en-US" sz="1900" b="1" dirty="0">
                <a:solidFill>
                  <a:schemeClr val="tx2"/>
                </a:solidFill>
              </a:rPr>
              <a:t>New OCGT</a:t>
            </a:r>
            <a:endParaRPr lang="en-US" sz="1900" dirty="0"/>
          </a:p>
        </p:txBody>
      </p:sp>
      <p:sp>
        <p:nvSpPr>
          <p:cNvPr id="18" name="Text 15"/>
          <p:cNvSpPr txBox="1"/>
          <p:nvPr/>
        </p:nvSpPr>
        <p:spPr>
          <a:xfrm>
            <a:off x="6309360" y="3291840"/>
            <a:ext cx="2194560" cy="365760"/>
          </a:xfrm>
          <a:prstGeom prst="rect">
            <a:avLst/>
          </a:prstGeom>
          <a:noFill/>
          <a:ln/>
        </p:spPr>
        <p:txBody>
          <a:bodyPr wrap="square" lIns="0" tIns="0" rIns="0" bIns="0" rtlCol="0" anchor="ctr"/>
          <a:lstStyle/>
          <a:p>
            <a:pPr indent="0" marL="0">
              <a:buNone/>
            </a:pPr>
            <a:r>
              <a:rPr lang="en-US" sz="1500" dirty="0">
                <a:solidFill>
                  <a:schemeClr val="tx1"/>
                </a:solidFill>
              </a:rPr>
              <a:t>COD 2030</a:t>
            </a:r>
            <a:endParaRPr lang="en-US" sz="1500" dirty="0"/>
          </a:p>
        </p:txBody>
      </p:sp>
      <p:sp>
        <p:nvSpPr>
          <p:cNvPr id="19" name="Card"/>
          <p:cNvSpPr/>
          <p:nvPr/>
        </p:nvSpPr>
        <p:spPr>
          <a:xfrm>
            <a:off x="8915400" y="1463040"/>
            <a:ext cx="2560320" cy="2286000"/>
          </a:xfrm>
          <a:prstGeom prst="roundRect">
            <a:avLst>
              <a:gd name="adj" fmla="val 4800"/>
            </a:avLst>
          </a:prstGeom>
          <a:solidFill>
            <a:schemeClr val="bg2"/>
          </a:solidFill>
          <a:ln w="12700">
            <a:solidFill>
              <a:schemeClr val="bg2"/>
            </a:solidFill>
            <a:prstDash val="solid"/>
          </a:ln>
        </p:spPr>
      </p:sp>
      <p:sp>
        <p:nvSpPr>
          <p:cNvPr id="20" name="Text 17"/>
          <p:cNvSpPr txBox="1"/>
          <p:nvPr/>
        </p:nvSpPr>
        <p:spPr>
          <a:xfrm>
            <a:off x="9098280" y="1600200"/>
            <a:ext cx="2194560" cy="914400"/>
          </a:xfrm>
          <a:prstGeom prst="rect">
            <a:avLst/>
          </a:prstGeom>
          <a:noFill/>
          <a:ln/>
        </p:spPr>
        <p:txBody>
          <a:bodyPr wrap="square" lIns="0" tIns="0" rIns="0" bIns="0"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18</a:t>
            </a:r>
            <a:endParaRPr lang="en-US" sz="4800" dirty="0"/>
          </a:p>
        </p:txBody>
      </p:sp>
      <p:sp>
        <p:nvSpPr>
          <p:cNvPr id="21" name="Text 18"/>
          <p:cNvSpPr txBox="1"/>
          <p:nvPr/>
        </p:nvSpPr>
        <p:spPr>
          <a:xfrm>
            <a:off x="9098280" y="2514600"/>
            <a:ext cx="2194560" cy="365760"/>
          </a:xfrm>
          <a:prstGeom prst="rect">
            <a:avLst/>
          </a:prstGeom>
          <a:noFill/>
          <a:ln/>
        </p:spPr>
        <p:txBody>
          <a:bodyPr wrap="square" lIns="0" tIns="0" rIns="0" bIns="0" rtlCol="0" anchor="ctr"/>
          <a:lstStyle/>
          <a:p>
            <a:pPr indent="0" marL="0">
              <a:buNone/>
            </a:pPr>
            <a:r>
              <a:rPr lang="en-US" sz="1500" dirty="0">
                <a:solidFill>
                  <a:schemeClr val="accent4"/>
                </a:solidFill>
              </a:rPr>
              <a:t>months to build</a:t>
            </a:r>
            <a:endParaRPr lang="en-US" sz="1500" dirty="0"/>
          </a:p>
        </p:txBody>
      </p:sp>
      <p:sp>
        <p:nvSpPr>
          <p:cNvPr id="22" name="Text 19"/>
          <p:cNvSpPr txBox="1"/>
          <p:nvPr/>
        </p:nvSpPr>
        <p:spPr>
          <a:xfrm>
            <a:off x="9098280" y="2880360"/>
            <a:ext cx="2194560" cy="411480"/>
          </a:xfrm>
          <a:prstGeom prst="rect">
            <a:avLst/>
          </a:prstGeom>
          <a:noFill/>
          <a:ln/>
        </p:spPr>
        <p:txBody>
          <a:bodyPr wrap="square" lIns="0" tIns="0" rIns="0" bIns="0" rtlCol="0" anchor="ctr"/>
          <a:lstStyle/>
          <a:p>
            <a:pPr indent="0" marL="0">
              <a:buNone/>
            </a:pPr>
            <a:r>
              <a:rPr lang="en-US" sz="1900" b="1" dirty="0">
                <a:solidFill>
                  <a:schemeClr val="tx2"/>
                </a:solidFill>
              </a:rPr>
              <a:t>New gas engine</a:t>
            </a:r>
            <a:endParaRPr lang="en-US" sz="1900" dirty="0"/>
          </a:p>
        </p:txBody>
      </p:sp>
      <p:sp>
        <p:nvSpPr>
          <p:cNvPr id="23" name="Text 20"/>
          <p:cNvSpPr txBox="1"/>
          <p:nvPr/>
        </p:nvSpPr>
        <p:spPr>
          <a:xfrm>
            <a:off x="9098280" y="3291840"/>
            <a:ext cx="2194560" cy="365760"/>
          </a:xfrm>
          <a:prstGeom prst="rect">
            <a:avLst/>
          </a:prstGeom>
          <a:noFill/>
          <a:ln/>
        </p:spPr>
        <p:txBody>
          <a:bodyPr wrap="square" lIns="0" tIns="0" rIns="0" bIns="0" rtlCol="0" anchor="ctr"/>
          <a:lstStyle/>
          <a:p>
            <a:pPr indent="0" marL="0">
              <a:buNone/>
            </a:pPr>
            <a:r>
              <a:rPr lang="en-US" sz="1500" dirty="0">
                <a:solidFill>
                  <a:schemeClr val="tx1"/>
                </a:solidFill>
              </a:rPr>
              <a:t>COD 2030</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023360"/>
          <a:ext cx="11064240" cy="914400"/>
        </p:xfrm>
        <a:graphic>
          <a:graphicData uri="http://schemas.openxmlformats.org/drawingml/2006/table">
            <a:tbl>
              <a:tblPr/>
              <a:tblGrid>
                <a:gridCol w="3291840"/>
                <a:gridCol w="3291840"/>
                <a:gridCol w="448056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Parameter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Operating (cost-recovery) period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30 years from COD, all plants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plant economic life (draft Annex A.8)</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Base year for costs and FX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2028</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Mid-Merit Financial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Construction period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As above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Typical EPC schedules by technology (draft Annex A.7)</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All-in project cost</a:t>
            </a:r>
            <a:endParaRPr lang="en-US" sz="3400" dirty="0"/>
          </a:p>
        </p:txBody>
      </p:sp>
      <p:sp>
        <p:nvSpPr>
          <p:cNvPr id="4" name="Card"/>
          <p:cNvSpPr/>
          <p:nvPr/>
        </p:nvSpPr>
        <p:spPr>
          <a:xfrm>
            <a:off x="548640" y="1417320"/>
            <a:ext cx="2651760" cy="2377440"/>
          </a:xfrm>
          <a:prstGeom prst="roundRect">
            <a:avLst>
              <a:gd name="adj" fmla="val 4615"/>
            </a:avLst>
          </a:prstGeom>
          <a:solidFill>
            <a:schemeClr val="bg2"/>
          </a:solidFill>
          <a:ln w="12700">
            <a:solidFill>
              <a:schemeClr val="bg2"/>
            </a:solidFill>
            <a:prstDash val="solid"/>
          </a:ln>
        </p:spPr>
      </p:sp>
      <p:sp>
        <p:nvSpPr>
          <p:cNvPr id="5" name="Text 2"/>
          <p:cNvSpPr txBox="1"/>
          <p:nvPr/>
        </p:nvSpPr>
        <p:spPr>
          <a:xfrm>
            <a:off x="731520" y="1645920"/>
            <a:ext cx="228600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US$450</a:t>
            </a:r>
            <a:endParaRPr lang="en-US" sz="4000" dirty="0"/>
          </a:p>
        </p:txBody>
      </p:sp>
      <p:sp>
        <p:nvSpPr>
          <p:cNvPr id="6" name="Text 3"/>
          <p:cNvSpPr txBox="1"/>
          <p:nvPr/>
        </p:nvSpPr>
        <p:spPr>
          <a:xfrm>
            <a:off x="731520"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Existing CCGT</a:t>
            </a:r>
            <a:endParaRPr lang="en-US" sz="1800" dirty="0"/>
          </a:p>
        </p:txBody>
      </p:sp>
      <p:sp>
        <p:nvSpPr>
          <p:cNvPr id="7" name="Text 4"/>
          <p:cNvSpPr txBox="1"/>
          <p:nvPr/>
        </p:nvSpPr>
        <p:spPr>
          <a:xfrm>
            <a:off x="731520"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per kW, Lots 1 and 2</a:t>
            </a:r>
            <a:endParaRPr lang="en-US" sz="1400" dirty="0"/>
          </a:p>
        </p:txBody>
      </p:sp>
      <p:sp>
        <p:nvSpPr>
          <p:cNvPr id="8" name="Card"/>
          <p:cNvSpPr/>
          <p:nvPr/>
        </p:nvSpPr>
        <p:spPr>
          <a:xfrm>
            <a:off x="3355848" y="1417320"/>
            <a:ext cx="2651760" cy="2377440"/>
          </a:xfrm>
          <a:prstGeom prst="roundRect">
            <a:avLst>
              <a:gd name="adj" fmla="val 4615"/>
            </a:avLst>
          </a:prstGeom>
          <a:solidFill>
            <a:schemeClr val="bg2"/>
          </a:solidFill>
          <a:ln w="12700">
            <a:solidFill>
              <a:schemeClr val="bg2"/>
            </a:solidFill>
            <a:prstDash val="solid"/>
          </a:ln>
        </p:spPr>
      </p:sp>
      <p:sp>
        <p:nvSpPr>
          <p:cNvPr id="9" name="Text 6"/>
          <p:cNvSpPr txBox="1"/>
          <p:nvPr/>
        </p:nvSpPr>
        <p:spPr>
          <a:xfrm>
            <a:off x="3538728" y="1645920"/>
            <a:ext cx="228600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US$1,200</a:t>
            </a:r>
            <a:endParaRPr lang="en-US" sz="4000" dirty="0"/>
          </a:p>
        </p:txBody>
      </p:sp>
      <p:sp>
        <p:nvSpPr>
          <p:cNvPr id="10" name="Text 7"/>
          <p:cNvSpPr txBox="1"/>
          <p:nvPr/>
        </p:nvSpPr>
        <p:spPr>
          <a:xfrm>
            <a:off x="3538728"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New CCGT</a:t>
            </a:r>
            <a:endParaRPr lang="en-US" sz="1800" dirty="0"/>
          </a:p>
        </p:txBody>
      </p:sp>
      <p:sp>
        <p:nvSpPr>
          <p:cNvPr id="11" name="Text 8"/>
          <p:cNvSpPr txBox="1"/>
          <p:nvPr/>
        </p:nvSpPr>
        <p:spPr>
          <a:xfrm>
            <a:off x="3538728"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per kW</a:t>
            </a:r>
            <a:endParaRPr lang="en-US" sz="1400" dirty="0"/>
          </a:p>
        </p:txBody>
      </p:sp>
      <p:sp>
        <p:nvSpPr>
          <p:cNvPr id="12" name="Card"/>
          <p:cNvSpPr/>
          <p:nvPr/>
        </p:nvSpPr>
        <p:spPr>
          <a:xfrm>
            <a:off x="6163056" y="1417320"/>
            <a:ext cx="2651760" cy="2377440"/>
          </a:xfrm>
          <a:prstGeom prst="roundRect">
            <a:avLst>
              <a:gd name="adj" fmla="val 4615"/>
            </a:avLst>
          </a:prstGeom>
          <a:solidFill>
            <a:schemeClr val="bg2"/>
          </a:solidFill>
          <a:ln w="12700">
            <a:solidFill>
              <a:schemeClr val="bg2"/>
            </a:solidFill>
            <a:prstDash val="solid"/>
          </a:ln>
        </p:spPr>
      </p:sp>
      <p:sp>
        <p:nvSpPr>
          <p:cNvPr id="13" name="Text 10"/>
          <p:cNvSpPr txBox="1"/>
          <p:nvPr/>
        </p:nvSpPr>
        <p:spPr>
          <a:xfrm>
            <a:off x="6345936" y="1645920"/>
            <a:ext cx="228600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US$1,100</a:t>
            </a:r>
            <a:endParaRPr lang="en-US" sz="4000" dirty="0"/>
          </a:p>
        </p:txBody>
      </p:sp>
      <p:sp>
        <p:nvSpPr>
          <p:cNvPr id="14" name="Text 11"/>
          <p:cNvSpPr txBox="1"/>
          <p:nvPr/>
        </p:nvSpPr>
        <p:spPr>
          <a:xfrm>
            <a:off x="6345936"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New gas engine</a:t>
            </a:r>
            <a:endParaRPr lang="en-US" sz="1800" dirty="0"/>
          </a:p>
        </p:txBody>
      </p:sp>
      <p:sp>
        <p:nvSpPr>
          <p:cNvPr id="15" name="Text 12"/>
          <p:cNvSpPr txBox="1"/>
          <p:nvPr/>
        </p:nvSpPr>
        <p:spPr>
          <a:xfrm>
            <a:off x="6345936"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per kW</a:t>
            </a:r>
            <a:endParaRPr lang="en-US" sz="1400" dirty="0"/>
          </a:p>
        </p:txBody>
      </p:sp>
      <p:sp>
        <p:nvSpPr>
          <p:cNvPr id="16" name="Card"/>
          <p:cNvSpPr/>
          <p:nvPr/>
        </p:nvSpPr>
        <p:spPr>
          <a:xfrm>
            <a:off x="8970264" y="1417320"/>
            <a:ext cx="2651760" cy="2377440"/>
          </a:xfrm>
          <a:prstGeom prst="roundRect">
            <a:avLst>
              <a:gd name="adj" fmla="val 4615"/>
            </a:avLst>
          </a:prstGeom>
          <a:solidFill>
            <a:schemeClr val="bg2"/>
          </a:solidFill>
          <a:ln w="12700">
            <a:solidFill>
              <a:schemeClr val="bg2"/>
            </a:solidFill>
            <a:prstDash val="solid"/>
          </a:ln>
        </p:spPr>
      </p:sp>
      <p:sp>
        <p:nvSpPr>
          <p:cNvPr id="17" name="Text 14"/>
          <p:cNvSpPr txBox="1"/>
          <p:nvPr/>
        </p:nvSpPr>
        <p:spPr>
          <a:xfrm>
            <a:off x="9153144" y="1645920"/>
            <a:ext cx="228600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US$700</a:t>
            </a:r>
            <a:endParaRPr lang="en-US" sz="4000" dirty="0"/>
          </a:p>
        </p:txBody>
      </p:sp>
      <p:sp>
        <p:nvSpPr>
          <p:cNvPr id="18" name="Text 15"/>
          <p:cNvSpPr txBox="1"/>
          <p:nvPr/>
        </p:nvSpPr>
        <p:spPr>
          <a:xfrm>
            <a:off x="9153144"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New OCGT</a:t>
            </a:r>
            <a:endParaRPr lang="en-US" sz="1800" dirty="0"/>
          </a:p>
        </p:txBody>
      </p:sp>
      <p:sp>
        <p:nvSpPr>
          <p:cNvPr id="19" name="Text 16"/>
          <p:cNvSpPr txBox="1"/>
          <p:nvPr/>
        </p:nvSpPr>
        <p:spPr>
          <a:xfrm>
            <a:off x="9153144"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per kW</a:t>
            </a:r>
            <a:endParaRPr lang="en-US" sz="1400" dirty="0"/>
          </a:p>
        </p:txBody>
      </p:sp>
      <p:sp>
        <p:nvSpPr>
          <p:cNvPr id="20" name="Card"/>
          <p:cNvSpPr/>
          <p:nvPr/>
        </p:nvSpPr>
        <p:spPr>
          <a:xfrm>
            <a:off x="548640" y="4069080"/>
            <a:ext cx="11064240" cy="1645920"/>
          </a:xfrm>
          <a:prstGeom prst="roundRect">
            <a:avLst>
              <a:gd name="adj" fmla="val 6667"/>
            </a:avLst>
          </a:prstGeom>
          <a:solidFill>
            <a:schemeClr val="bg2"/>
          </a:solidFill>
          <a:ln w="12700">
            <a:solidFill>
              <a:schemeClr val="bg2"/>
            </a:solidFill>
            <a:prstDash val="solid"/>
          </a:ln>
        </p:spPr>
      </p:sp>
      <p:sp>
        <p:nvSpPr>
          <p:cNvPr id="21" name="Icon circle"/>
          <p:cNvSpPr/>
          <p:nvPr/>
        </p:nvSpPr>
        <p:spPr>
          <a:xfrm>
            <a:off x="777240" y="4343400"/>
            <a:ext cx="777240" cy="777240"/>
          </a:xfrm>
          <a:prstGeom prst="ellipse">
            <a:avLst/>
          </a:prstGeom>
          <a:solidFill>
            <a:schemeClr val="tx2"/>
          </a:solidFill>
          <a:ln w="12700">
            <a:solidFill>
              <a:schemeClr val="tx2"/>
            </a:solidFill>
            <a:prstDash val="solid"/>
          </a:ln>
        </p:spPr>
      </p:sp>
      <p:pic>
        <p:nvPicPr>
          <p:cNvPr id="22" name="Icon" descr="preencoded.png">    </p:cNvPr>
          <p:cNvPicPr>
            <a:picLocks noChangeAspect="1"/>
          </p:cNvPicPr>
          <p:nvPr/>
        </p:nvPicPr>
        <p:blipFill>
          <a:blip r:embed="rId1"/>
          <a:stretch>
            <a:fillRect/>
          </a:stretch>
        </p:blipFill>
        <p:spPr>
          <a:xfrm>
            <a:off x="979322" y="4545482"/>
            <a:ext cx="373075" cy="373075"/>
          </a:xfrm>
          <a:prstGeom prst="rect">
            <a:avLst/>
          </a:prstGeom>
        </p:spPr>
      </p:pic>
      <p:sp>
        <p:nvSpPr>
          <p:cNvPr id="23" name="Text 19"/>
          <p:cNvSpPr txBox="1"/>
          <p:nvPr/>
        </p:nvSpPr>
        <p:spPr>
          <a:xfrm>
            <a:off x="1828800" y="4160520"/>
            <a:ext cx="9601200" cy="1463040"/>
          </a:xfrm>
          <a:prstGeom prst="rect">
            <a:avLst/>
          </a:prstGeom>
          <a:noFill/>
          <a:ln/>
        </p:spPr>
        <p:txBody>
          <a:bodyPr wrap="square" lIns="0" tIns="0" rIns="0" bIns="0" rtlCol="0" anchor="ctr"/>
          <a:lstStyle/>
          <a:p>
            <a:pPr indent="0" marL="0">
              <a:buNone/>
            </a:pPr>
            <a:r>
              <a:rPr lang="en-US" sz="1700" b="1" dirty="0">
                <a:solidFill>
                  <a:schemeClr val="tx1"/>
                </a:solidFill>
              </a:rPr>
              <a:t>Basis: </a:t>
            </a:r>
            <a:pPr indent="0" marL="0">
              <a:buNone/>
            </a:pPr>
            <a:r>
              <a:rPr lang="en-US" sz="1700" dirty="0">
                <a:solidFill>
                  <a:schemeClr val="tx1"/>
                </a:solidFill>
              </a:rPr>
              <a:t>new-build values set at current market levels (October 2026); existing plants (Lots 1 and 2) at a brownfield value. Costs are all-in and per kW of gross installed capacity (draft Annex A.3). The model calibrates equipment cost so the all-in total equals these targets.</a:t>
            </a:r>
            <a:endParaRPr lang="en-US" sz="17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What makes up the all-in cost</a:t>
            </a:r>
            <a:endParaRPr lang="en-US" sz="3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749040"/>
                <a:gridCol w="4206240"/>
                <a:gridCol w="310896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Item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Balance of plant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21% of equipment cost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Insurance, ocean freight, local transport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4.5% of equipment cost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Development and other costs (land, permits)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15% of EPC</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Contingency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4% of total cost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Initial working capital</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11.03% of EPC</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 (draft Annex A.24)</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Interconnection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 km line at US$40k/km; switchyard US$786k; 1 km road at US$182k/km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Major refurbishment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5% of EPC in year 15</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 (draft Annex A.21)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Salvage 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10%, received in the final year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Draft GAIR Sec. 8.8.7 (Annex A.23)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Operating and overhead costs</a:t>
            </a:r>
            <a:endParaRPr lang="en-US" sz="3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291840"/>
                <a:gridCol w="2743200"/>
                <a:gridCol w="3200400"/>
                <a:gridCol w="1828800"/>
              </a:tblGrid>
              <a:tr h="50292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Technology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Fixed O&amp;M (US$/kW-yr)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Variable non-fuel O&amp;M (US$/MWh)</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G&amp;A</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50292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Existing CCGT (Lots 1, 2)</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13.71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of O&amp;M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50292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New CCGT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13.71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of O&amp;M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50292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New OCGT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8.50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4.50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of O&amp;M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50292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New gas engine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16.50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3.80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of O&amp;M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5" name="Card"/>
          <p:cNvSpPr/>
          <p:nvPr/>
        </p:nvSpPr>
        <p:spPr>
          <a:xfrm>
            <a:off x="548640" y="4160520"/>
            <a:ext cx="5394960" cy="1600200"/>
          </a:xfrm>
          <a:prstGeom prst="roundRect">
            <a:avLst>
              <a:gd name="adj" fmla="val 6857"/>
            </a:avLst>
          </a:prstGeom>
          <a:solidFill>
            <a:schemeClr val="bg2"/>
          </a:solidFill>
          <a:ln w="12700">
            <a:solidFill>
              <a:schemeClr val="bg2"/>
            </a:solidFill>
            <a:prstDash val="solid"/>
          </a:ln>
        </p:spPr>
      </p:sp>
      <p:sp>
        <p:nvSpPr>
          <p:cNvPr id="6" name="Icon circle"/>
          <p:cNvSpPr/>
          <p:nvPr/>
        </p:nvSpPr>
        <p:spPr>
          <a:xfrm>
            <a:off x="777240" y="4434840"/>
            <a:ext cx="731520" cy="731520"/>
          </a:xfrm>
          <a:prstGeom prst="ellipse">
            <a:avLst/>
          </a:prstGeom>
          <a:solidFill>
            <a:schemeClr val="accent2"/>
          </a:solidFill>
          <a:ln w="12700">
            <a:solidFill>
              <a:schemeClr val="accent2"/>
            </a:solidFill>
            <a:prstDash val="solid"/>
          </a:ln>
        </p:spPr>
      </p:sp>
      <p:pic>
        <p:nvPicPr>
          <p:cNvPr id="7" name="Icon" descr="preencoded.png">    </p:cNvPr>
          <p:cNvPicPr>
            <a:picLocks noChangeAspect="1"/>
          </p:cNvPicPr>
          <p:nvPr/>
        </p:nvPicPr>
        <p:blipFill>
          <a:blip r:embed="rId1"/>
          <a:stretch>
            <a:fillRect/>
          </a:stretch>
        </p:blipFill>
        <p:spPr>
          <a:xfrm>
            <a:off x="967435" y="4625035"/>
            <a:ext cx="351130" cy="351130"/>
          </a:xfrm>
          <a:prstGeom prst="rect">
            <a:avLst/>
          </a:prstGeom>
        </p:spPr>
      </p:pic>
      <p:sp>
        <p:nvSpPr>
          <p:cNvPr id="8" name="Text 3"/>
          <p:cNvSpPr txBox="1"/>
          <p:nvPr/>
        </p:nvSpPr>
        <p:spPr>
          <a:xfrm>
            <a:off x="1691640" y="4206240"/>
            <a:ext cx="4114800" cy="1508760"/>
          </a:xfrm>
          <a:prstGeom prst="rect">
            <a:avLst/>
          </a:prstGeom>
          <a:noFill/>
          <a:ln/>
        </p:spPr>
        <p:txBody>
          <a:bodyPr wrap="square" lIns="0" tIns="0" rIns="0" bIns="0" rtlCol="0" anchor="ctr"/>
          <a:lstStyle/>
          <a:p>
            <a:pPr indent="0" marL="0">
              <a:buNone/>
            </a:pPr>
            <a:r>
              <a:rPr lang="en-US" sz="1600" dirty="0">
                <a:solidFill>
                  <a:schemeClr val="tx1"/>
                </a:solidFill>
              </a:rPr>
              <a:t>Basis: ERC model O&amp;M inputs; G&amp;A at 6% of fixed plus variable O&amp;M (corporate overhead standard, draft Annex A.6).</a:t>
            </a:r>
            <a:endParaRPr lang="en-US" sz="1600" dirty="0"/>
          </a:p>
        </p:txBody>
      </p:sp>
      <p:sp>
        <p:nvSpPr>
          <p:cNvPr id="9" name="Card"/>
          <p:cNvSpPr/>
          <p:nvPr/>
        </p:nvSpPr>
        <p:spPr>
          <a:xfrm>
            <a:off x="6217920" y="4160520"/>
            <a:ext cx="5394960" cy="1600200"/>
          </a:xfrm>
          <a:prstGeom prst="roundRect">
            <a:avLst>
              <a:gd name="adj" fmla="val 6857"/>
            </a:avLst>
          </a:prstGeom>
          <a:solidFill>
            <a:schemeClr val="accent6"/>
          </a:solidFill>
          <a:ln w="12700">
            <a:solidFill>
              <a:schemeClr val="accent6"/>
            </a:solidFill>
            <a:prstDash val="solid"/>
          </a:ln>
        </p:spPr>
      </p:sp>
      <p:sp>
        <p:nvSpPr>
          <p:cNvPr id="10" name="Icon circle"/>
          <p:cNvSpPr/>
          <p:nvPr/>
        </p:nvSpPr>
        <p:spPr>
          <a:xfrm>
            <a:off x="6446520" y="4434840"/>
            <a:ext cx="731520" cy="731520"/>
          </a:xfrm>
          <a:prstGeom prst="ellipse">
            <a:avLst/>
          </a:prstGeom>
          <a:solidFill>
            <a:schemeClr val="accent3"/>
          </a:solidFill>
          <a:ln w="12700">
            <a:solidFill>
              <a:schemeClr val="accent3"/>
            </a:solidFill>
            <a:prstDash val="solid"/>
          </a:ln>
        </p:spPr>
      </p:sp>
      <p:pic>
        <p:nvPicPr>
          <p:cNvPr id="11" name="Icon" descr="preencoded.png">    </p:cNvPr>
          <p:cNvPicPr>
            <a:picLocks noChangeAspect="1"/>
          </p:cNvPicPr>
          <p:nvPr/>
        </p:nvPicPr>
        <p:blipFill>
          <a:blip r:embed="rId2"/>
          <a:stretch>
            <a:fillRect/>
          </a:stretch>
        </p:blipFill>
        <p:spPr>
          <a:xfrm>
            <a:off x="6636715" y="4625035"/>
            <a:ext cx="351130" cy="351130"/>
          </a:xfrm>
          <a:prstGeom prst="rect">
            <a:avLst/>
          </a:prstGeom>
        </p:spPr>
      </p:pic>
      <p:sp>
        <p:nvSpPr>
          <p:cNvPr id="12" name="Text 6"/>
          <p:cNvSpPr txBox="1"/>
          <p:nvPr/>
        </p:nvSpPr>
        <p:spPr>
          <a:xfrm>
            <a:off x="7360920" y="4206240"/>
            <a:ext cx="4114800" cy="1508760"/>
          </a:xfrm>
          <a:prstGeom prst="rect">
            <a:avLst/>
          </a:prstGeom>
          <a:noFill/>
          <a:ln/>
        </p:spPr>
        <p:txBody>
          <a:bodyPr wrap="square" lIns="0" tIns="0" rIns="0" bIns="0" rtlCol="0" anchor="ctr"/>
          <a:lstStyle/>
          <a:p>
            <a:pPr indent="0" marL="0">
              <a:buNone/>
            </a:pPr>
            <a:r>
              <a:rPr lang="en-US" sz="1600" dirty="0">
                <a:solidFill>
                  <a:schemeClr val="tx1"/>
                </a:solidFill>
              </a:rPr>
              <a:t>Excluded: fuel, and logistics (regasification, pipeline, storage). These are recovered through the Fuel Cost, within caps.</a:t>
            </a:r>
            <a:endParaRPr lang="en-US" sz="16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Financing assumptions</a:t>
            </a:r>
            <a:endParaRPr lang="en-US" sz="3400" dirty="0"/>
          </a:p>
        </p:txBody>
      </p:sp>
      <p:sp>
        <p:nvSpPr>
          <p:cNvPr id="4" name="Card"/>
          <p:cNvSpPr/>
          <p:nvPr/>
        </p:nvSpPr>
        <p:spPr>
          <a:xfrm>
            <a:off x="548640" y="1417320"/>
            <a:ext cx="2651760" cy="2377440"/>
          </a:xfrm>
          <a:prstGeom prst="roundRect">
            <a:avLst>
              <a:gd name="adj" fmla="val 4615"/>
            </a:avLst>
          </a:prstGeom>
          <a:solidFill>
            <a:schemeClr val="bg2"/>
          </a:solidFill>
          <a:ln w="12700">
            <a:solidFill>
              <a:schemeClr val="bg2"/>
            </a:solidFill>
            <a:prstDash val="solid"/>
          </a:ln>
        </p:spPr>
      </p:sp>
      <p:sp>
        <p:nvSpPr>
          <p:cNvPr id="5" name="Text 2"/>
          <p:cNvSpPr txBox="1"/>
          <p:nvPr/>
        </p:nvSpPr>
        <p:spPr>
          <a:xfrm>
            <a:off x="731520" y="1645920"/>
            <a:ext cx="228600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70 : 30</a:t>
            </a:r>
            <a:endParaRPr lang="en-US" sz="4000" dirty="0"/>
          </a:p>
        </p:txBody>
      </p:sp>
      <p:sp>
        <p:nvSpPr>
          <p:cNvPr id="6" name="Text 3"/>
          <p:cNvSpPr txBox="1"/>
          <p:nvPr/>
        </p:nvSpPr>
        <p:spPr>
          <a:xfrm>
            <a:off x="731520"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Debt : equity</a:t>
            </a:r>
            <a:endParaRPr lang="en-US" sz="1800" dirty="0"/>
          </a:p>
        </p:txBody>
      </p:sp>
      <p:sp>
        <p:nvSpPr>
          <p:cNvPr id="7" name="Text 4"/>
          <p:cNvSpPr txBox="1"/>
          <p:nvPr/>
        </p:nvSpPr>
        <p:spPr>
          <a:xfrm>
            <a:off x="731520"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Project-finance standard (A.9)</a:t>
            </a:r>
            <a:endParaRPr lang="en-US" sz="1400" dirty="0"/>
          </a:p>
        </p:txBody>
      </p:sp>
      <p:sp>
        <p:nvSpPr>
          <p:cNvPr id="8" name="Card"/>
          <p:cNvSpPr/>
          <p:nvPr/>
        </p:nvSpPr>
        <p:spPr>
          <a:xfrm>
            <a:off x="3355848" y="1417320"/>
            <a:ext cx="2651760" cy="2377440"/>
          </a:xfrm>
          <a:prstGeom prst="roundRect">
            <a:avLst>
              <a:gd name="adj" fmla="val 4615"/>
            </a:avLst>
          </a:prstGeom>
          <a:solidFill>
            <a:schemeClr val="bg2"/>
          </a:solidFill>
          <a:ln w="12700">
            <a:solidFill>
              <a:schemeClr val="bg2"/>
            </a:solidFill>
            <a:prstDash val="solid"/>
          </a:ln>
        </p:spPr>
      </p:sp>
      <p:sp>
        <p:nvSpPr>
          <p:cNvPr id="9" name="Text 6"/>
          <p:cNvSpPr txBox="1"/>
          <p:nvPr/>
        </p:nvSpPr>
        <p:spPr>
          <a:xfrm>
            <a:off x="3538728" y="1645920"/>
            <a:ext cx="228600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8.0%</a:t>
            </a:r>
            <a:endParaRPr lang="en-US" sz="4000" dirty="0"/>
          </a:p>
        </p:txBody>
      </p:sp>
      <p:sp>
        <p:nvSpPr>
          <p:cNvPr id="10" name="Text 7"/>
          <p:cNvSpPr txBox="1"/>
          <p:nvPr/>
        </p:nvSpPr>
        <p:spPr>
          <a:xfrm>
            <a:off x="3538728"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Cost of debt</a:t>
            </a:r>
            <a:endParaRPr lang="en-US" sz="1800" dirty="0"/>
          </a:p>
        </p:txBody>
      </p:sp>
      <p:sp>
        <p:nvSpPr>
          <p:cNvPr id="11" name="Text 8"/>
          <p:cNvSpPr txBox="1"/>
          <p:nvPr/>
        </p:nvSpPr>
        <p:spPr>
          <a:xfrm>
            <a:off x="3538728"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Local and foreign, pre-tax (A.10)</a:t>
            </a:r>
            <a:endParaRPr lang="en-US" sz="1400" dirty="0"/>
          </a:p>
        </p:txBody>
      </p:sp>
      <p:sp>
        <p:nvSpPr>
          <p:cNvPr id="12" name="Card"/>
          <p:cNvSpPr/>
          <p:nvPr/>
        </p:nvSpPr>
        <p:spPr>
          <a:xfrm>
            <a:off x="6163056" y="1417320"/>
            <a:ext cx="2651760" cy="2377440"/>
          </a:xfrm>
          <a:prstGeom prst="roundRect">
            <a:avLst>
              <a:gd name="adj" fmla="val 4615"/>
            </a:avLst>
          </a:prstGeom>
          <a:solidFill>
            <a:schemeClr val="bg2"/>
          </a:solidFill>
          <a:ln w="12700">
            <a:solidFill>
              <a:schemeClr val="bg2"/>
            </a:solidFill>
            <a:prstDash val="solid"/>
          </a:ln>
        </p:spPr>
      </p:sp>
      <p:sp>
        <p:nvSpPr>
          <p:cNvPr id="13" name="Text 10"/>
          <p:cNvSpPr txBox="1"/>
          <p:nvPr/>
        </p:nvSpPr>
        <p:spPr>
          <a:xfrm>
            <a:off x="6345936" y="1645920"/>
            <a:ext cx="228600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15 yrs</a:t>
            </a:r>
            <a:endParaRPr lang="en-US" sz="4000" dirty="0"/>
          </a:p>
        </p:txBody>
      </p:sp>
      <p:sp>
        <p:nvSpPr>
          <p:cNvPr id="14" name="Text 11"/>
          <p:cNvSpPr txBox="1"/>
          <p:nvPr/>
        </p:nvSpPr>
        <p:spPr>
          <a:xfrm>
            <a:off x="6345936"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Debt tenor</a:t>
            </a:r>
            <a:endParaRPr lang="en-US" sz="1800" dirty="0"/>
          </a:p>
        </p:txBody>
      </p:sp>
      <p:sp>
        <p:nvSpPr>
          <p:cNvPr id="15" name="Text 12"/>
          <p:cNvSpPr txBox="1"/>
          <p:nvPr/>
        </p:nvSpPr>
        <p:spPr>
          <a:xfrm>
            <a:off x="6345936"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Local and foreign (A.11)</a:t>
            </a:r>
            <a:endParaRPr lang="en-US" sz="1400" dirty="0"/>
          </a:p>
        </p:txBody>
      </p:sp>
      <p:sp>
        <p:nvSpPr>
          <p:cNvPr id="16" name="Card"/>
          <p:cNvSpPr/>
          <p:nvPr/>
        </p:nvSpPr>
        <p:spPr>
          <a:xfrm>
            <a:off x="8970264" y="1417320"/>
            <a:ext cx="2651760" cy="2377440"/>
          </a:xfrm>
          <a:prstGeom prst="roundRect">
            <a:avLst>
              <a:gd name="adj" fmla="val 4615"/>
            </a:avLst>
          </a:prstGeom>
          <a:solidFill>
            <a:schemeClr val="bg2"/>
          </a:solidFill>
          <a:ln w="12700">
            <a:solidFill>
              <a:schemeClr val="bg2"/>
            </a:solidFill>
            <a:prstDash val="solid"/>
          </a:ln>
        </p:spPr>
      </p:sp>
      <p:sp>
        <p:nvSpPr>
          <p:cNvPr id="17" name="Text 14"/>
          <p:cNvSpPr txBox="1"/>
          <p:nvPr/>
        </p:nvSpPr>
        <p:spPr>
          <a:xfrm>
            <a:off x="9153144" y="1645920"/>
            <a:ext cx="2286000" cy="914400"/>
          </a:xfrm>
          <a:prstGeom prst="rect">
            <a:avLst/>
          </a:prstGeom>
          <a:noFill/>
          <a:ln/>
        </p:spPr>
        <p:txBody>
          <a:bodyPr wrap="square" lIns="0" tIns="0" rIns="0" bIns="0" rtlCol="0" anchor="ctr"/>
          <a:lstStyle/>
          <a:p>
            <a:pPr indent="0" marL="0">
              <a:buNone/>
            </a:pPr>
            <a:r>
              <a:rPr lang="en-US" sz="4000" b="1" dirty="0">
                <a:solidFill>
                  <a:schemeClr val="accent3"/>
                </a:solidFill>
                <a:latin typeface="Cambria" pitchFamily="34" charset="0"/>
                <a:ea typeface="Cambria" pitchFamily="34" charset="-122"/>
                <a:cs typeface="Cambria" pitchFamily="34" charset="-120"/>
              </a:rPr>
              <a:t>14.0%</a:t>
            </a:r>
            <a:endParaRPr lang="en-US" sz="4000" dirty="0"/>
          </a:p>
        </p:txBody>
      </p:sp>
      <p:sp>
        <p:nvSpPr>
          <p:cNvPr id="18" name="Text 15"/>
          <p:cNvSpPr txBox="1"/>
          <p:nvPr/>
        </p:nvSpPr>
        <p:spPr>
          <a:xfrm>
            <a:off x="9153144"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Required equity return</a:t>
            </a:r>
            <a:endParaRPr lang="en-US" sz="1800" dirty="0"/>
          </a:p>
        </p:txBody>
      </p:sp>
      <p:sp>
        <p:nvSpPr>
          <p:cNvPr id="19" name="Text 16"/>
          <p:cNvSpPr txBox="1"/>
          <p:nvPr/>
        </p:nvSpPr>
        <p:spPr>
          <a:xfrm>
            <a:off x="9153144"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Nominal; CAPM range 12%–14% (A.12)</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4023360"/>
          <a:ext cx="11064240" cy="914400"/>
        </p:xfrm>
        <a:graphic>
          <a:graphicData uri="http://schemas.openxmlformats.org/drawingml/2006/table">
            <a:tbl>
              <a:tblPr/>
              <a:tblGrid>
                <a:gridCol w="3657600"/>
                <a:gridCol w="3657600"/>
                <a:gridCol w="374904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Parameter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Grace period | debt service reserve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months from COD | 6 months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 (draft Annex A.25)</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Upfront fees | commitment fees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 | 0.5%</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Resulting WACC (reference only)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9.8% (pre-tax 11.2%; after-tax 8.4%)</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Model result, draft GAIR Sec. 8.8.8 check</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Taxes and incentives</a:t>
            </a:r>
            <a:endParaRPr lang="en-US" sz="3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931920"/>
                <a:gridCol w="3291840"/>
                <a:gridCol w="384048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Tax / charge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Corporate income tax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25%; no income tax holiday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CREATE Act; no BOI/PEZA incentive assumed (A.14)</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Real property tax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 on 80% assessment level</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Local Government Code (draft Sec. 8.8.3, A.26)</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Local business tax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Local Government Code (draft Sec. 8.8.3)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ER 1-94 host-community benefit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PhP 0.03/kWh</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DOE DC2025-10-0023 (draft Sec. 8.8.3)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VAT on imported equipment | customs duty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12% | 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NIRC Sec. 107; ERC model default (A.22)</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Withholding tax | GRT | documentary stamp tax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10% | 1% | 0.5%</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On interest and loan documents; NIRC</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Exchange rate and inflation</a:t>
            </a:r>
            <a:endParaRPr lang="en-US" sz="3400" dirty="0"/>
          </a:p>
        </p:txBody>
      </p:sp>
      <p:sp>
        <p:nvSpPr>
          <p:cNvPr id="4" name="Card"/>
          <p:cNvSpPr/>
          <p:nvPr/>
        </p:nvSpPr>
        <p:spPr>
          <a:xfrm>
            <a:off x="548640" y="1417320"/>
            <a:ext cx="3520440" cy="2377440"/>
          </a:xfrm>
          <a:prstGeom prst="roundRect">
            <a:avLst>
              <a:gd name="adj" fmla="val 4615"/>
            </a:avLst>
          </a:prstGeom>
          <a:solidFill>
            <a:schemeClr val="bg2"/>
          </a:solidFill>
          <a:ln w="12700">
            <a:solidFill>
              <a:schemeClr val="bg2"/>
            </a:solidFill>
            <a:prstDash val="solid"/>
          </a:ln>
        </p:spPr>
      </p:sp>
      <p:sp>
        <p:nvSpPr>
          <p:cNvPr id="5" name="Text 2"/>
          <p:cNvSpPr txBox="1"/>
          <p:nvPr/>
        </p:nvSpPr>
        <p:spPr>
          <a:xfrm>
            <a:off x="731520" y="1645920"/>
            <a:ext cx="315468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PhP 62.756</a:t>
            </a:r>
            <a:endParaRPr lang="en-US" sz="4000" dirty="0"/>
          </a:p>
        </p:txBody>
      </p:sp>
      <p:sp>
        <p:nvSpPr>
          <p:cNvPr id="6" name="Text 3"/>
          <p:cNvSpPr txBox="1"/>
          <p:nvPr/>
        </p:nvSpPr>
        <p:spPr>
          <a:xfrm>
            <a:off x="731520" y="2606040"/>
            <a:ext cx="3154680" cy="457200"/>
          </a:xfrm>
          <a:prstGeom prst="rect">
            <a:avLst/>
          </a:prstGeom>
          <a:noFill/>
          <a:ln/>
        </p:spPr>
        <p:txBody>
          <a:bodyPr wrap="square" lIns="0" tIns="0" rIns="0" bIns="0" rtlCol="0" anchor="ctr"/>
          <a:lstStyle/>
          <a:p>
            <a:pPr indent="0" marL="0">
              <a:buNone/>
            </a:pPr>
            <a:r>
              <a:rPr lang="en-US" sz="1800" b="1" dirty="0">
                <a:solidFill>
                  <a:schemeClr val="tx1"/>
                </a:solidFill>
              </a:rPr>
              <a:t>per US$</a:t>
            </a:r>
            <a:endParaRPr lang="en-US" sz="1800" dirty="0"/>
          </a:p>
        </p:txBody>
      </p:sp>
      <p:sp>
        <p:nvSpPr>
          <p:cNvPr id="7" name="Text 4"/>
          <p:cNvSpPr txBox="1"/>
          <p:nvPr/>
        </p:nvSpPr>
        <p:spPr>
          <a:xfrm>
            <a:off x="731520" y="3063240"/>
            <a:ext cx="3154680" cy="594360"/>
          </a:xfrm>
          <a:prstGeom prst="rect">
            <a:avLst/>
          </a:prstGeom>
          <a:noFill/>
          <a:ln/>
        </p:spPr>
        <p:txBody>
          <a:bodyPr wrap="square" lIns="0" tIns="0" rIns="0" bIns="0" rtlCol="0" anchor="t"/>
          <a:lstStyle/>
          <a:p>
            <a:pPr indent="0" marL="0">
              <a:buNone/>
            </a:pPr>
            <a:r>
              <a:rPr lang="en-US" sz="1400" dirty="0">
                <a:solidFill>
                  <a:schemeClr val="accent4"/>
                </a:solidFill>
              </a:rPr>
              <a:t>BSP reference rate, 25 Sep 2026 (A.16)</a:t>
            </a:r>
            <a:endParaRPr lang="en-US" sz="1400" dirty="0"/>
          </a:p>
        </p:txBody>
      </p:sp>
      <p:sp>
        <p:nvSpPr>
          <p:cNvPr id="8" name="Card"/>
          <p:cNvSpPr/>
          <p:nvPr/>
        </p:nvSpPr>
        <p:spPr>
          <a:xfrm>
            <a:off x="4343400" y="1417320"/>
            <a:ext cx="3520440" cy="2377440"/>
          </a:xfrm>
          <a:prstGeom prst="roundRect">
            <a:avLst>
              <a:gd name="adj" fmla="val 4615"/>
            </a:avLst>
          </a:prstGeom>
          <a:solidFill>
            <a:schemeClr val="bg2"/>
          </a:solidFill>
          <a:ln w="12700">
            <a:solidFill>
              <a:schemeClr val="bg2"/>
            </a:solidFill>
            <a:prstDash val="solid"/>
          </a:ln>
        </p:spPr>
      </p:sp>
      <p:sp>
        <p:nvSpPr>
          <p:cNvPr id="9" name="Text 6"/>
          <p:cNvSpPr txBox="1"/>
          <p:nvPr/>
        </p:nvSpPr>
        <p:spPr>
          <a:xfrm>
            <a:off x="4526280" y="1645920"/>
            <a:ext cx="315468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0%</a:t>
            </a:r>
            <a:endParaRPr lang="en-US" sz="4000" dirty="0"/>
          </a:p>
        </p:txBody>
      </p:sp>
      <p:sp>
        <p:nvSpPr>
          <p:cNvPr id="10" name="Text 7"/>
          <p:cNvSpPr txBox="1"/>
          <p:nvPr/>
        </p:nvSpPr>
        <p:spPr>
          <a:xfrm>
            <a:off x="4526280" y="2606040"/>
            <a:ext cx="3154680" cy="457200"/>
          </a:xfrm>
          <a:prstGeom prst="rect">
            <a:avLst/>
          </a:prstGeom>
          <a:noFill/>
          <a:ln/>
        </p:spPr>
        <p:txBody>
          <a:bodyPr wrap="square" lIns="0" tIns="0" rIns="0" bIns="0" rtlCol="0" anchor="ctr"/>
          <a:lstStyle/>
          <a:p>
            <a:pPr indent="0" marL="0">
              <a:buNone/>
            </a:pPr>
            <a:r>
              <a:rPr lang="en-US" sz="1800" b="1" dirty="0">
                <a:solidFill>
                  <a:schemeClr val="tx1"/>
                </a:solidFill>
              </a:rPr>
              <a:t>Annual escalation</a:t>
            </a:r>
            <a:endParaRPr lang="en-US" sz="1800" dirty="0"/>
          </a:p>
        </p:txBody>
      </p:sp>
      <p:sp>
        <p:nvSpPr>
          <p:cNvPr id="11" name="Text 8"/>
          <p:cNvSpPr txBox="1"/>
          <p:nvPr/>
        </p:nvSpPr>
        <p:spPr>
          <a:xfrm>
            <a:off x="4526280" y="3063240"/>
            <a:ext cx="3154680" cy="594360"/>
          </a:xfrm>
          <a:prstGeom prst="rect">
            <a:avLst/>
          </a:prstGeom>
          <a:noFill/>
          <a:ln/>
        </p:spPr>
        <p:txBody>
          <a:bodyPr wrap="square" lIns="0" tIns="0" rIns="0" bIns="0" rtlCol="0" anchor="t"/>
          <a:lstStyle/>
          <a:p>
            <a:pPr indent="0" marL="0">
              <a:buNone/>
            </a:pPr>
            <a:r>
              <a:rPr lang="en-US" sz="1400" dirty="0">
                <a:solidFill>
                  <a:schemeClr val="accent4"/>
                </a:solidFill>
              </a:rPr>
              <a:t>Real terms; GAT Price not indexed (draft Sec. 8.9)</a:t>
            </a:r>
            <a:endParaRPr lang="en-US" sz="1400" dirty="0"/>
          </a:p>
        </p:txBody>
      </p:sp>
      <p:sp>
        <p:nvSpPr>
          <p:cNvPr id="12" name="Card"/>
          <p:cNvSpPr/>
          <p:nvPr/>
        </p:nvSpPr>
        <p:spPr>
          <a:xfrm>
            <a:off x="8138160" y="1417320"/>
            <a:ext cx="3474720" cy="2377440"/>
          </a:xfrm>
          <a:prstGeom prst="roundRect">
            <a:avLst>
              <a:gd name="adj" fmla="val 4615"/>
            </a:avLst>
          </a:prstGeom>
          <a:solidFill>
            <a:schemeClr val="bg2"/>
          </a:solidFill>
          <a:ln w="12700">
            <a:solidFill>
              <a:schemeClr val="bg2"/>
            </a:solidFill>
            <a:prstDash val="solid"/>
          </a:ln>
        </p:spPr>
      </p:sp>
      <p:sp>
        <p:nvSpPr>
          <p:cNvPr id="13" name="Text 10"/>
          <p:cNvSpPr txBox="1"/>
          <p:nvPr/>
        </p:nvSpPr>
        <p:spPr>
          <a:xfrm>
            <a:off x="8321040" y="1645920"/>
            <a:ext cx="310896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30 days</a:t>
            </a:r>
            <a:endParaRPr lang="en-US" sz="4000" dirty="0"/>
          </a:p>
        </p:txBody>
      </p:sp>
      <p:sp>
        <p:nvSpPr>
          <p:cNvPr id="14" name="Text 11"/>
          <p:cNvSpPr txBox="1"/>
          <p:nvPr/>
        </p:nvSpPr>
        <p:spPr>
          <a:xfrm>
            <a:off x="8321040" y="2606040"/>
            <a:ext cx="3108960" cy="457200"/>
          </a:xfrm>
          <a:prstGeom prst="rect">
            <a:avLst/>
          </a:prstGeom>
          <a:noFill/>
          <a:ln/>
        </p:spPr>
        <p:txBody>
          <a:bodyPr wrap="square" lIns="0" tIns="0" rIns="0" bIns="0" rtlCol="0" anchor="ctr"/>
          <a:lstStyle/>
          <a:p>
            <a:pPr indent="0" marL="0">
              <a:buNone/>
            </a:pPr>
            <a:r>
              <a:rPr lang="en-US" sz="1800" b="1" dirty="0">
                <a:solidFill>
                  <a:schemeClr val="tx1"/>
                </a:solidFill>
              </a:rPr>
              <a:t>Working-capital cycle</a:t>
            </a:r>
            <a:endParaRPr lang="en-US" sz="1800" dirty="0"/>
          </a:p>
        </p:txBody>
      </p:sp>
      <p:sp>
        <p:nvSpPr>
          <p:cNvPr id="15" name="Text 12"/>
          <p:cNvSpPr txBox="1"/>
          <p:nvPr/>
        </p:nvSpPr>
        <p:spPr>
          <a:xfrm>
            <a:off x="8321040" y="3063240"/>
            <a:ext cx="3108960" cy="594360"/>
          </a:xfrm>
          <a:prstGeom prst="rect">
            <a:avLst/>
          </a:prstGeom>
          <a:noFill/>
          <a:ln/>
        </p:spPr>
        <p:txBody>
          <a:bodyPr wrap="square" lIns="0" tIns="0" rIns="0" bIns="0" rtlCol="0" anchor="t"/>
          <a:lstStyle/>
          <a:p>
            <a:pPr indent="0" marL="0">
              <a:buNone/>
            </a:pPr>
            <a:r>
              <a:rPr lang="en-US" sz="1400" dirty="0">
                <a:solidFill>
                  <a:schemeClr val="accent4"/>
                </a:solidFill>
              </a:rPr>
              <a:t>Receivables, payables, inventory</a:t>
            </a:r>
            <a:endParaRPr lang="en-US" sz="1400" dirty="0"/>
          </a:p>
        </p:txBody>
      </p:sp>
      <p:sp>
        <p:nvSpPr>
          <p:cNvPr id="16" name="Card"/>
          <p:cNvSpPr/>
          <p:nvPr/>
        </p:nvSpPr>
        <p:spPr>
          <a:xfrm>
            <a:off x="548640" y="4069080"/>
            <a:ext cx="11064240" cy="1645920"/>
          </a:xfrm>
          <a:prstGeom prst="roundRect">
            <a:avLst>
              <a:gd name="adj" fmla="val 6667"/>
            </a:avLst>
          </a:prstGeom>
          <a:solidFill>
            <a:schemeClr val="bg2"/>
          </a:solidFill>
          <a:ln w="12700">
            <a:solidFill>
              <a:schemeClr val="bg2"/>
            </a:solidFill>
            <a:prstDash val="solid"/>
          </a:ln>
        </p:spPr>
      </p:sp>
      <p:sp>
        <p:nvSpPr>
          <p:cNvPr id="17" name="Icon circle"/>
          <p:cNvSpPr/>
          <p:nvPr/>
        </p:nvSpPr>
        <p:spPr>
          <a:xfrm>
            <a:off x="777240" y="4343400"/>
            <a:ext cx="777240" cy="777240"/>
          </a:xfrm>
          <a:prstGeom prst="ellipse">
            <a:avLst/>
          </a:prstGeom>
          <a:solidFill>
            <a:schemeClr val="tx2"/>
          </a:solidFill>
          <a:ln w="12700">
            <a:solidFill>
              <a:schemeClr val="tx2"/>
            </a:solidFill>
            <a:prstDash val="solid"/>
          </a:ln>
        </p:spPr>
      </p:sp>
      <p:pic>
        <p:nvPicPr>
          <p:cNvPr id="18" name="Icon" descr="preencoded.png">    </p:cNvPr>
          <p:cNvPicPr>
            <a:picLocks noChangeAspect="1"/>
          </p:cNvPicPr>
          <p:nvPr/>
        </p:nvPicPr>
        <p:blipFill>
          <a:blip r:embed="rId1"/>
          <a:stretch>
            <a:fillRect/>
          </a:stretch>
        </p:blipFill>
        <p:spPr>
          <a:xfrm>
            <a:off x="979322" y="4545482"/>
            <a:ext cx="373075" cy="373075"/>
          </a:xfrm>
          <a:prstGeom prst="rect">
            <a:avLst/>
          </a:prstGeom>
        </p:spPr>
      </p:pic>
      <p:sp>
        <p:nvSpPr>
          <p:cNvPr id="19" name="Text 15"/>
          <p:cNvSpPr txBox="1"/>
          <p:nvPr/>
        </p:nvSpPr>
        <p:spPr>
          <a:xfrm>
            <a:off x="1828800" y="4160520"/>
            <a:ext cx="9601200" cy="1463040"/>
          </a:xfrm>
          <a:prstGeom prst="rect">
            <a:avLst/>
          </a:prstGeom>
          <a:noFill/>
          <a:ln/>
        </p:spPr>
        <p:txBody>
          <a:bodyPr wrap="square" lIns="0" tIns="0" rIns="0" bIns="0" rtlCol="0" anchor="ctr"/>
          <a:lstStyle/>
          <a:p>
            <a:pPr indent="0" marL="0">
              <a:buNone/>
            </a:pPr>
            <a:r>
              <a:rPr lang="en-US" sz="1800" dirty="0">
                <a:solidFill>
                  <a:schemeClr val="tx1"/>
                </a:solidFill>
              </a:rPr>
              <a:t>The GAT Price and each Gas Auction Price are fixed in PhP/kWh for the term of the award, with no foreign-exchange indexation or pass-through (draft GAIR Sec. 8.5).</a:t>
            </a:r>
            <a:endParaRPr lang="en-US" sz="18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p:nvPr>
            <p:ph idx="100" type="title" hasCustomPrompt="1"/>
          </p:nvPr>
        </p:nvSpPr>
        <p:spPr>
          <a:xfrm>
            <a:off x="731520" y="1828800"/>
            <a:ext cx="10698480" cy="1645920"/>
          </a:xfrm>
          <a:prstGeom prst="rect">
            <a:avLst/>
          </a:prstGeom>
          <a:noFill/>
          <a:ln/>
        </p:spPr>
        <p:txBody>
          <a:bodyPr wrap="square"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Complete parameter list</a:t>
            </a:r>
            <a:endParaRPr lang="en-US" sz="4400" dirty="0"/>
          </a:p>
        </p:txBody>
      </p:sp>
      <p:sp>
        <p:nvSpPr>
          <p:cNvPr id="4" name="Text 0"/>
          <p:cNvSpPr/>
          <p:nvPr>
            <p:ph idx="101" type="body" hasCustomPrompt="1"/>
          </p:nvPr>
        </p:nvSpPr>
        <p:spPr>
          <a:xfrm>
            <a:off x="731520" y="3657600"/>
            <a:ext cx="10698480" cy="1463040"/>
          </a:xfrm>
          <a:prstGeom prst="rect">
            <a:avLst/>
          </a:prstGeom>
          <a:noFill/>
          <a:ln/>
        </p:spPr>
        <p:txBody>
          <a:bodyPr wrap="square" rtlCol="0" anchor="t"/>
          <a:lstStyle/>
          <a:p>
            <a:pPr indent="0" marL="0">
              <a:buNone/>
            </a:pPr>
            <a:r>
              <a:rPr lang="en-US" sz="2200" dirty="0">
                <a:solidFill>
                  <a:schemeClr val="accent5"/>
                </a:solidFill>
              </a:rPr>
              <a:t>All 115 model parameters in nine groups: value, type and basis for each</a:t>
            </a:r>
            <a:endParaRPr lang="en-US" sz="2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How to read the parameter tables</a:t>
            </a:r>
            <a:endParaRPr lang="en-US" sz="3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743200"/>
                <a:gridCol w="832104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Column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What it shows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Parameter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Model line item, with its unit and the draft Annex A item where one applies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Type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How the value is set (colour key below)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Lot 1 … gas engine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Value for each Luzon reference case, Case A (capacity factor 42%)</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Where the value comes from; any Case B (historical capacity factor) 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5" name="Type key"/>
          <p:cNvSpPr/>
          <p:nvPr/>
        </p:nvSpPr>
        <p:spPr>
          <a:xfrm>
            <a:off x="548640" y="3886200"/>
            <a:ext cx="3474720" cy="1554480"/>
          </a:xfrm>
          <a:prstGeom prst="roundRect">
            <a:avLst>
              <a:gd name="adj" fmla="val 7059"/>
            </a:avLst>
          </a:prstGeom>
          <a:solidFill>
            <a:srgbClr val="C6E3E1"/>
          </a:solidFill>
          <a:ln w="12700">
            <a:solidFill>
              <a:srgbClr val="C6E3E1"/>
            </a:solidFill>
            <a:prstDash val="solid"/>
          </a:ln>
        </p:spPr>
      </p:sp>
      <p:sp>
        <p:nvSpPr>
          <p:cNvPr id="6" name="Text 2"/>
          <p:cNvSpPr txBox="1"/>
          <p:nvPr/>
        </p:nvSpPr>
        <p:spPr>
          <a:xfrm>
            <a:off x="777240" y="3977640"/>
            <a:ext cx="3017520" cy="1371600"/>
          </a:xfrm>
          <a:prstGeom prst="rect">
            <a:avLst/>
          </a:prstGeom>
          <a:noFill/>
          <a:ln/>
        </p:spPr>
        <p:txBody>
          <a:bodyPr wrap="square" lIns="0" tIns="0" rIns="0" bIns="0" rtlCol="0" anchor="ctr"/>
          <a:lstStyle/>
          <a:p>
            <a:pPr indent="0" marL="0">
              <a:buNone/>
            </a:pPr>
            <a:r>
              <a:rPr lang="en-US" sz="2000" b="1" dirty="0">
                <a:solidFill>
                  <a:srgbClr val="14324F"/>
                </a:solidFill>
                <a:latin typeface="Calibri" pitchFamily="34" charset="0"/>
                <a:ea typeface="Calibri" pitchFamily="34" charset="-122"/>
                <a:cs typeface="Calibri" pitchFamily="34" charset="-120"/>
              </a:rPr>
              <a:t>Input</a:t>
            </a:r>
            <a:endParaRPr lang="en-US" sz="2000" dirty="0"/>
          </a:p>
          <a:p>
            <a:pPr indent="0" marL="0">
              <a:buNone/>
            </a:pPr>
            <a:r>
              <a:rPr lang="en-US" sz="1600" dirty="0">
                <a:solidFill>
                  <a:srgbClr val="17202A"/>
                </a:solidFill>
                <a:latin typeface="Calibri" pitchFamily="34" charset="0"/>
                <a:ea typeface="Calibri" pitchFamily="34" charset="-122"/>
                <a:cs typeface="Calibri" pitchFamily="34" charset="-120"/>
              </a:rPr>
              <a:t>Typed into the model; open for comment</a:t>
            </a:r>
            <a:endParaRPr lang="en-US" sz="2000" dirty="0"/>
          </a:p>
        </p:txBody>
      </p:sp>
      <p:sp>
        <p:nvSpPr>
          <p:cNvPr id="7" name="Type key"/>
          <p:cNvSpPr/>
          <p:nvPr/>
        </p:nvSpPr>
        <p:spPr>
          <a:xfrm>
            <a:off x="4297680" y="3886200"/>
            <a:ext cx="3474720" cy="1554480"/>
          </a:xfrm>
          <a:prstGeom prst="roundRect">
            <a:avLst>
              <a:gd name="adj" fmla="val 7059"/>
            </a:avLst>
          </a:prstGeom>
          <a:solidFill>
            <a:srgbClr val="EEF3F7"/>
          </a:solidFill>
          <a:ln w="12700">
            <a:solidFill>
              <a:srgbClr val="EEF3F7"/>
            </a:solidFill>
            <a:prstDash val="solid"/>
          </a:ln>
        </p:spPr>
      </p:sp>
      <p:sp>
        <p:nvSpPr>
          <p:cNvPr id="8" name="Text 4"/>
          <p:cNvSpPr txBox="1"/>
          <p:nvPr/>
        </p:nvSpPr>
        <p:spPr>
          <a:xfrm>
            <a:off x="4526280" y="3977640"/>
            <a:ext cx="3017520" cy="1371600"/>
          </a:xfrm>
          <a:prstGeom prst="rect">
            <a:avLst/>
          </a:prstGeom>
          <a:noFill/>
          <a:ln/>
        </p:spPr>
        <p:txBody>
          <a:bodyPr wrap="square" lIns="0" tIns="0" rIns="0" bIns="0" rtlCol="0" anchor="ctr"/>
          <a:lstStyle/>
          <a:p>
            <a:pPr indent="0" marL="0">
              <a:buNone/>
            </a:pPr>
            <a:r>
              <a:rPr lang="en-US" sz="2000" b="1" dirty="0">
                <a:solidFill>
                  <a:srgbClr val="14324F"/>
                </a:solidFill>
                <a:latin typeface="Calibri" pitchFamily="34" charset="0"/>
                <a:ea typeface="Calibri" pitchFamily="34" charset="-122"/>
                <a:cs typeface="Calibri" pitchFamily="34" charset="-120"/>
              </a:rPr>
              <a:t>Calculated</a:t>
            </a:r>
            <a:endParaRPr lang="en-US" sz="2000" dirty="0"/>
          </a:p>
          <a:p>
            <a:pPr indent="0" marL="0">
              <a:buNone/>
            </a:pPr>
            <a:r>
              <a:rPr lang="en-US" sz="1600" dirty="0">
                <a:solidFill>
                  <a:srgbClr val="17202A"/>
                </a:solidFill>
                <a:latin typeface="Calibri" pitchFamily="34" charset="0"/>
                <a:ea typeface="Calibri" pitchFamily="34" charset="-122"/>
                <a:cs typeface="Calibri" pitchFamily="34" charset="-120"/>
              </a:rPr>
              <a:t>Follows from the inputs</a:t>
            </a:r>
            <a:endParaRPr lang="en-US" sz="2000" dirty="0"/>
          </a:p>
        </p:txBody>
      </p:sp>
      <p:sp>
        <p:nvSpPr>
          <p:cNvPr id="9" name="Type key"/>
          <p:cNvSpPr/>
          <p:nvPr/>
        </p:nvSpPr>
        <p:spPr>
          <a:xfrm>
            <a:off x="8046720" y="3886200"/>
            <a:ext cx="3474720" cy="1554480"/>
          </a:xfrm>
          <a:prstGeom prst="roundRect">
            <a:avLst>
              <a:gd name="adj" fmla="val 7059"/>
            </a:avLst>
          </a:prstGeom>
          <a:solidFill>
            <a:srgbClr val="FBE7C6"/>
          </a:solidFill>
          <a:ln w="12700">
            <a:solidFill>
              <a:srgbClr val="FBE7C6"/>
            </a:solidFill>
            <a:prstDash val="solid"/>
          </a:ln>
        </p:spPr>
      </p:sp>
      <p:sp>
        <p:nvSpPr>
          <p:cNvPr id="10" name="Text 6"/>
          <p:cNvSpPr txBox="1"/>
          <p:nvPr/>
        </p:nvSpPr>
        <p:spPr>
          <a:xfrm>
            <a:off x="8275320" y="3977640"/>
            <a:ext cx="3017520" cy="1371600"/>
          </a:xfrm>
          <a:prstGeom prst="rect">
            <a:avLst/>
          </a:prstGeom>
          <a:noFill/>
          <a:ln/>
        </p:spPr>
        <p:txBody>
          <a:bodyPr wrap="square" lIns="0" tIns="0" rIns="0" bIns="0" rtlCol="0" anchor="ctr"/>
          <a:lstStyle/>
          <a:p>
            <a:pPr indent="0" marL="0">
              <a:buNone/>
            </a:pPr>
            <a:r>
              <a:rPr lang="en-US" sz="2000" b="1" dirty="0">
                <a:solidFill>
                  <a:srgbClr val="14324F"/>
                </a:solidFill>
                <a:latin typeface="Calibri" pitchFamily="34" charset="0"/>
                <a:ea typeface="Calibri" pitchFamily="34" charset="-122"/>
                <a:cs typeface="Calibri" pitchFamily="34" charset="-120"/>
              </a:rPr>
              <a:t>Calibrated</a:t>
            </a:r>
            <a:endParaRPr lang="en-US" sz="2000" dirty="0"/>
          </a:p>
          <a:p>
            <a:pPr indent="0" marL="0">
              <a:buNone/>
            </a:pPr>
            <a:r>
              <a:rPr lang="en-US" sz="1600" dirty="0">
                <a:solidFill>
                  <a:srgbClr val="17202A"/>
                </a:solidFill>
                <a:latin typeface="Calibri" pitchFamily="34" charset="0"/>
                <a:ea typeface="Calibri" pitchFamily="34" charset="-122"/>
                <a:cs typeface="Calibri" pitchFamily="34" charset="-120"/>
              </a:rPr>
              <a:t>Solved so the all-in cost equals its target</a:t>
            </a:r>
            <a:endParaRPr lang="en-US" sz="20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1. Plant and dispatch (1 of 2)</a:t>
            </a:r>
            <a:endParaRPr lang="en-US" sz="3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788920"/>
                <a:gridCol w="1051560"/>
                <a:gridCol w="841248"/>
                <a:gridCol w="841248"/>
                <a:gridCol w="841248"/>
                <a:gridCol w="841248"/>
                <a:gridCol w="841248"/>
                <a:gridCol w="3017520"/>
              </a:tblGrid>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Unit Capacity of Plant (MW/unit)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466.7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TOR lot sizes split into standard units (CCGT 500 MW, OCGT 220 MW, gas engine 20 MW); result is per kW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No. of Units (unit)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TOR auction capacity (Sec. 1.1) ÷ unit size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Installed Capacity, gross (MW) (Annex A.1)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1,400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TOR Sec. 1.1 auction capacity requirement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Net Capacity Factor input (availability x dispatch) (Annex A.2)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42%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Case A: 42%, top of the TOR band. Case B: 66.8% Lots 1–2, 63.1% new-build (MERALCO data, Jan 2024–Sep 2026)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Guaranteed Efficiency Factor, %</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Net basis: capacity factor is already net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Allowance for losses &amp; own use, %</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Net basis: capacity factor is net of own use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1. Plant and dispatch (2 of 2)</a:t>
            </a:r>
            <a:endParaRPr lang="en-US" sz="3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788920"/>
                <a:gridCol w="1051560"/>
                <a:gridCol w="841248"/>
                <a:gridCol w="841248"/>
                <a:gridCol w="841248"/>
                <a:gridCol w="841248"/>
                <a:gridCol w="841248"/>
                <a:gridCol w="3017520"/>
              </a:tblGrid>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Net Capacity Factor after own use (calculated) (Annex A.2)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42%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 Case B: Lots 1–2 66.8%; new-build 63.12%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Hours per Year (hours)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8,760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Net Electrical Output (GWh, first year)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5,150.9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1,839.6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3,679.2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3,679.2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3,679.2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Installed MW × capacity factor × 8,760 h. Case B: Lot 1 8,192, Lot 2 2,926, CCGT 5,530, OCGT 5,530, gas engine 5,530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Plant Degradation Rate, % p.a. (Annex A.20)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Draft Annex A.20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Heat rate (logistics only; fuel excluded) (Btu/kWh)</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6,350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6,350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6,100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9,800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Technology reference values; used only for logistics, which is now in the Fuel Cost: no effect on the GAT Price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2. Timing</a:t>
            </a:r>
            <a:endParaRPr lang="en-US" sz="34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788920"/>
                <a:gridCol w="1051560"/>
                <a:gridCol w="841248"/>
                <a:gridCol w="841248"/>
                <a:gridCol w="841248"/>
                <a:gridCol w="841248"/>
                <a:gridCol w="841248"/>
                <a:gridCol w="3017520"/>
              </a:tblGrid>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Construction Period (mos) (Annex A.7)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Typical EPC schedule by technology (Annex A.7); existing plants have none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Operating Period (yrs from COD) (Annex A.8)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plant economic life for cost recovery, although the TOR contract is shorter (Annex A.8)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Yrs from base year CPI &amp; Forex (2028) for FIT (years)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Yrs from base year CPI (2028) for CAPEX (years)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Yrs from base year CPI (2028) for OPEX (years)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Base year CPI &amp; Forex for FiT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Base year CPI for CAPEX</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Base year CPI for OPEX</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Commercial Operating Date (year)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Base year plus construction period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3. Capital cost (1 of 3)</a:t>
            </a:r>
            <a:endParaRPr lang="en-US" sz="3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788920"/>
                <a:gridCol w="1051560"/>
                <a:gridCol w="841248"/>
                <a:gridCol w="841248"/>
                <a:gridCol w="841248"/>
                <a:gridCol w="841248"/>
                <a:gridCol w="841248"/>
                <a:gridCol w="3017520"/>
              </a:tblGrid>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Target all-in project cost (US$/kW) (Annex A.3)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1,200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New-build at current market levels (Oct 2026); existing plants at a brownfield value (Annex A.3)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All-In Project Cost (Annex A.3) (US$/kW)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1,200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Model result; equals the target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EPC Cost (US$/kW)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310.8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309.7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757.8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455.3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726.5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Plant Cost (Excluding VAT, Financing, Working Capital) (US$/kW)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380.7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380.8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927.5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557.7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889.3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Land cost, $000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79.67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Equipment Cost ex BOP, Transport ($000/MW)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Calibrated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7C6"/>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248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247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579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Set by model calibration so the all-in cost equals the target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3. Capital cost (2 of 3)</a:t>
            </a:r>
            <a:endParaRPr lang="en-US" sz="3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788920"/>
                <a:gridCol w="1051560"/>
                <a:gridCol w="841248"/>
                <a:gridCol w="841248"/>
                <a:gridCol w="841248"/>
                <a:gridCol w="841248"/>
                <a:gridCol w="841248"/>
                <a:gridCol w="3017520"/>
              </a:tblGrid>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Insurance, Ocean Freight, Local Transport, % of Equipment Cost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4.5%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Balance of Plant (BOP), % of Equipment Cost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Transmission Line Distance (km)</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T/L Cost per km, 69 kV ($000/km)</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Switchyard &amp; Transformers ($000)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786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Access Roads ($000/km)</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182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Distance of Access Road (km)</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Dev't &amp; Other Costs (land, permits, etc) (% of EPC)</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3. Capital cost (3 of 3)</a:t>
            </a:r>
            <a:endParaRPr lang="en-US" sz="3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788920"/>
                <a:gridCol w="1051560"/>
                <a:gridCol w="841248"/>
                <a:gridCol w="841248"/>
                <a:gridCol w="841248"/>
                <a:gridCol w="841248"/>
                <a:gridCol w="841248"/>
                <a:gridCol w="3017520"/>
              </a:tblGrid>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VAT on importation (70% recoverable) (Annex A.22)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12% VAT (NIRC Sec. 107), 70% recoverable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Customs Duty (Annex A.22)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Initial Working Capital (% of EPC) (Annex A.24)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11.03%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Contingency (% of Total Cost)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Salvage Value, % (Annex A.23)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10% of cost, received in the final year (draft GAIR Sec. 8.8.7)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Major Maintenance/Refurbishment (% of EPC) (Annex A.21)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Timing of Refurbishment (yr from COD) (Annex A.21)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4. Uses and sources of funds (1 of 2)</a:t>
            </a:r>
            <a:endParaRPr lang="en-US" sz="3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788920"/>
                <a:gridCol w="1051560"/>
                <a:gridCol w="841248"/>
                <a:gridCol w="841248"/>
                <a:gridCol w="841248"/>
                <a:gridCol w="841248"/>
                <a:gridCol w="841248"/>
                <a:gridCol w="3017520"/>
              </a:tblGrid>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Land Cost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0.08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EPC (Equipment, Balance of Plant, Transport)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435.1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154.9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757.8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455.3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726.5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Transmission Line Interconnection Facility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0.04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Sub-Station Facility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0.79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Development &amp; Other Costs (Civil Works, Customs Duty)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77.0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80.6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128.4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Construction Contingency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34.9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4. Uses and sources of funds (2 of 2)</a:t>
            </a:r>
            <a:endParaRPr lang="en-US" sz="34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788920"/>
                <a:gridCol w="1051560"/>
                <a:gridCol w="841248"/>
                <a:gridCol w="841248"/>
                <a:gridCol w="841248"/>
                <a:gridCol w="841248"/>
                <a:gridCol w="841248"/>
                <a:gridCol w="3017520"/>
              </a:tblGrid>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Value Added Tax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37.9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66.0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39.7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63.3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Financing Costs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122.8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52.4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67.2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Initial Working Capital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17.1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83.6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80.1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Uses of Fund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1,200.0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Debt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840.0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770.0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Equity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189.0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210.0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330.0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Sources of Fund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1,200.0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5. O&amp;M and G&amp;A (1 of 2)</a:t>
            </a:r>
            <a:endParaRPr lang="en-US" sz="3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788920"/>
                <a:gridCol w="1051560"/>
                <a:gridCol w="841248"/>
                <a:gridCol w="841248"/>
                <a:gridCol w="841248"/>
                <a:gridCol w="841248"/>
                <a:gridCol w="841248"/>
                <a:gridCol w="3017520"/>
              </a:tblGrid>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Fixed O&amp;M Costs ($000/unit/year) (Annex A.4)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6,398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6,855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6,855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1,700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Fixed O&amp;M (US$/kW-yr) × unit MW: CCGT 13.71, OCGT 8.50, gas engine 16.50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Variable Non-Fuel O&amp;M, excl. logistics ($000/MW/yr) (Annex A.5)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11.56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7.36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7.36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16.56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Variable O&amp;M × 8,760 × energy CF ÷ 1,000; US$2.00/MWh CCGT, 4.50 OCGT, 3.80 gas engine; logistics excluded. Case B: Lot 1 11.7, Lot 2 11.7, CCGT 11.06, OCGT 24.88, gas engine 21.01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G&amp;A Costs ($000/year) (Annex A.6)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2,123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632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1,264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1,829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6% of fixed + variable O&amp;M (corporate overhead standard, Annex A.6). Case B: Lot 1 2,135, Lot 2 762, CCGT 1,486, OCGT 2,003, gas engine 2,251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5. O&amp;M and G&amp;A (2 of 2)</a:t>
            </a:r>
            <a:endParaRPr lang="en-US" sz="3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788920"/>
                <a:gridCol w="1051560"/>
                <a:gridCol w="841248"/>
                <a:gridCol w="841248"/>
                <a:gridCol w="841248"/>
                <a:gridCol w="841248"/>
                <a:gridCol w="841248"/>
                <a:gridCol w="3017520"/>
              </a:tblGrid>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O&amp;M + Spares as % of EPC, T/L, S/S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6.77%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2.78%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5.49%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 Case B: Lot 1 8.16%, Lot 2 8.16%, CCGT 3.26%, OCGT 7.32%, gas engine 5.16%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Target fixed O&amp;M (US$/kW-yr) (Annex A.4) - reference only</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Reference only; not used in the calculation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Target variable O&amp;M (US$/MWh) (Annex A.5) - reference only</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1.223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1.223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3.262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1.903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2.99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Reference only; not used in the calculation. Case B: Lot 1 0.769, Lot 2 0.769, CCGT 2.17, OCGT 1.266, gas engine 1.989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Target G&amp;A (US$000/yr) (Annex A.6) - reference only</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53.86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Reference only; not used in the calculation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6. Financing (1 of 2)</a:t>
            </a:r>
            <a:endParaRPr lang="en-US" sz="34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788920"/>
                <a:gridCol w="1051560"/>
                <a:gridCol w="841248"/>
                <a:gridCol w="841248"/>
                <a:gridCol w="841248"/>
                <a:gridCol w="841248"/>
                <a:gridCol w="841248"/>
                <a:gridCol w="3017520"/>
              </a:tblGrid>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Debt Ratio (Annex A.9)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70%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70:30, commercial project-finance standard (Annex A.9)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Equity Ratio (Annex A.9)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Capital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Foreign Capital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Cost of Debt, local (% excl. tax) (Annex A.10)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8% pre-tax (Annex A.10); local about 7.5%, US$ about 8.5%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Cost of Debt, foreign (% excl. tax) (Annex A.10)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Same as local (Annex A.10)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Debt Repayment Period (yrs) (Annex A.11)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15 years (Annex A.11)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Foreign Debt Repayment Period (yrs) (Annex A.11)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15 years (Annex A.11)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Debt Grace Period from COD (mos) (Annex A.25)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and Foreign debt Service Reserve (mos)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6. Financing (2 of 2)</a:t>
            </a:r>
            <a:endParaRPr lang="en-US" sz="34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788920"/>
                <a:gridCol w="1051560"/>
                <a:gridCol w="841248"/>
                <a:gridCol w="841248"/>
                <a:gridCol w="841248"/>
                <a:gridCol w="841248"/>
                <a:gridCol w="841248"/>
                <a:gridCol w="3017520"/>
              </a:tblGrid>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&amp; Foreign Upfront &amp; Financing Fees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&amp; Foreign Commitment Fees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Local Debt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227.3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208.4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Foreign Debt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321.4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114.4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612.7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357.2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561.6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Debt Amount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840.0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770.0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Equity Investment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189.0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210.0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330.0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Required Equity Return, Re (nominal) (Annex A.12) (% p.a.)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14% nominal; CAPM range 12%–14% (Annex A.12)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WACC pre-tax</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Model result; reference check (draft GAIR Sec. 8.8.8)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WACC after-tax</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8.4%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WACC</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7. Taxes and incentives (1 of 2)</a:t>
            </a:r>
            <a:endParaRPr lang="en-US" sz="34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788920"/>
                <a:gridCol w="1051560"/>
                <a:gridCol w="841248"/>
                <a:gridCol w="841248"/>
                <a:gridCol w="841248"/>
                <a:gridCol w="841248"/>
                <a:gridCol w="841248"/>
                <a:gridCol w="3017520"/>
              </a:tblGrid>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Type of incentives (1 = NO, 2 = BOI, 3 = PEZA)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No BOI or PEZA incentive assumed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Income Tax Holiday (yrs) (Annex A.14)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None assumed (Annex A.14)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Income Tax Rate (after ITH) (Annex A.14)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Corporate income tax, CREATE Act (Annex A.14)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Real Property Tax (from COD)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Local Government Code (draft GAIR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RPT Assessment Level (% of NBV) (Annex A.26)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80%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Local Government Code (Annex A.26)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Business Tax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Local Government Code (draft GAIR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Government Share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Not applicable to gas (draft GAIR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7. Taxes and incentives (2 of 2)</a:t>
            </a:r>
            <a:endParaRPr lang="en-US" sz="34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788920"/>
                <a:gridCol w="1051560"/>
                <a:gridCol w="841248"/>
                <a:gridCol w="841248"/>
                <a:gridCol w="841248"/>
                <a:gridCol w="841248"/>
                <a:gridCol w="841248"/>
                <a:gridCol w="3017520"/>
              </a:tblGrid>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ER 1-94 host-community benefit (USD/kWh) (Sec. 8.8.3) (US$/kWh)</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0.00048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PhP 0.03/kWh converted at the model exchange rate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Withholding Tax on Interest (Foreign Currency) - WHT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NIRC, on foreign-currency interest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Gross Receipts Tax on Interest (Local Currency) - GRT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NIRC, on local-currency interest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Documentary Stamps Tax (DST)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NIRC, on loan documents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PEZA Incentives (% of gross income) - 0% / 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VAT on importation (70% recoverable)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12% VAT (NIRC Sec. 107)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Customs Duty</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VAT Recovery, %</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Timing of VAT recovery (yrs after COD)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8. Economic, working capital and currency (1 of 2)</a:t>
            </a:r>
            <a:endParaRPr lang="en-US" sz="34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788920"/>
                <a:gridCol w="1051560"/>
                <a:gridCol w="841248"/>
                <a:gridCol w="841248"/>
                <a:gridCol w="841248"/>
                <a:gridCol w="841248"/>
                <a:gridCol w="841248"/>
                <a:gridCol w="3017520"/>
              </a:tblGrid>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Base Foreign Exchange Rate (US$/US$) - 2028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Forward Fixed Exchange Rate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Base Local CPI - 2028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160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Annual Local CPI - for OPEX (% p.a.)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Real terms: the GAT Price is not indexed (draft GAIR Sec. 8.9)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Annual US CPI - for OPEX (% p.a.)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Real terms (draft GAIR Sec. 8.9)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8. Economic, working capital and currency (2 of 2)</a:t>
            </a:r>
            <a:endParaRPr lang="en-US" sz="3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788920"/>
                <a:gridCol w="1051560"/>
                <a:gridCol w="841248"/>
                <a:gridCol w="841248"/>
                <a:gridCol w="841248"/>
                <a:gridCol w="841248"/>
                <a:gridCol w="841248"/>
                <a:gridCol w="3017520"/>
              </a:tblGrid>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Annual Peso Depreciation Rate (% p.a.)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Real terms (draft GAIR Sec. 8.9)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Days Receivable, Payable and Inventory (days)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PhP per USD exchange rate (Annex A.16) (PhP/US$)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62.756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BSP reference rate, 25 Sep 2026 (Annex A.16)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ER 1-94 benefit, PhP/kWh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DOE DC2025-10-0023 (draft GAIR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Salvage received in last year (1 = yes) (Sec. 8.8.7)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Draft GAIR Sec. 8.8.7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9. Fuel and technical</a:t>
            </a:r>
            <a:endParaRPr lang="en-US" sz="34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788920"/>
                <a:gridCol w="1051560"/>
                <a:gridCol w="841248"/>
                <a:gridCol w="841248"/>
                <a:gridCol w="841248"/>
                <a:gridCol w="841248"/>
                <a:gridCol w="841248"/>
                <a:gridCol w="3017520"/>
              </a:tblGrid>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Fuel switch (fuel is outside the GAT Price) (Sec. 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Fuel is outside the GAT Price (draft GAIR Sec. 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Gross Heating Value (Btu/lb)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22,129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Natural gas; for the efficiency calculation only</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Plant Thermal Efficiency, %</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53.73%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53.73%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55.94%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34.82%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42.65%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Plant Heat Rate (Annex A.15 cap) (kJ/kWh)</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3,600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Conversion constant (3,600 kJ = 1 kWh)</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Fuel Rate (kWh/MT)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7,683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7,683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7,998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4,978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Lube oil density (kg/L)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Specific lube oil consumption (g/kWh)</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5.4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Lube oil cost (US$/L)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Questions for discussion</a:t>
            </a:r>
            <a:endParaRPr lang="en-US" sz="3400" dirty="0"/>
          </a:p>
        </p:txBody>
      </p:sp>
      <p:sp>
        <p:nvSpPr>
          <p:cNvPr id="4" name="Card"/>
          <p:cNvSpPr/>
          <p:nvPr/>
        </p:nvSpPr>
        <p:spPr>
          <a:xfrm>
            <a:off x="548640" y="1417320"/>
            <a:ext cx="5440680" cy="2011680"/>
          </a:xfrm>
          <a:prstGeom prst="roundRect">
            <a:avLst>
              <a:gd name="adj" fmla="val 5455"/>
            </a:avLst>
          </a:prstGeom>
          <a:solidFill>
            <a:schemeClr val="bg2"/>
          </a:solidFill>
          <a:ln w="12700">
            <a:solidFill>
              <a:schemeClr val="bg2"/>
            </a:solidFill>
            <a:prstDash val="solid"/>
          </a:ln>
        </p:spPr>
      </p:sp>
      <p:sp>
        <p:nvSpPr>
          <p:cNvPr id="5" name="Icon circle"/>
          <p:cNvSpPr/>
          <p:nvPr/>
        </p:nvSpPr>
        <p:spPr>
          <a:xfrm>
            <a:off x="822960" y="1737360"/>
            <a:ext cx="777240" cy="777240"/>
          </a:xfrm>
          <a:prstGeom prst="ellipse">
            <a:avLst/>
          </a:prstGeom>
          <a:solidFill>
            <a:schemeClr val="accent2"/>
          </a:solidFill>
          <a:ln w="12700">
            <a:solidFill>
              <a:schemeClr val="accent2"/>
            </a:solidFill>
            <a:prstDash val="solid"/>
          </a:ln>
        </p:spPr>
      </p:sp>
      <p:pic>
        <p:nvPicPr>
          <p:cNvPr id="6" name="Icon" descr="preencoded.png">    </p:cNvPr>
          <p:cNvPicPr>
            <a:picLocks noChangeAspect="1"/>
          </p:cNvPicPr>
          <p:nvPr/>
        </p:nvPicPr>
        <p:blipFill>
          <a:blip r:embed="rId1"/>
          <a:stretch>
            <a:fillRect/>
          </a:stretch>
        </p:blipFill>
        <p:spPr>
          <a:xfrm>
            <a:off x="1025042" y="1939442"/>
            <a:ext cx="373075" cy="373075"/>
          </a:xfrm>
          <a:prstGeom prst="rect">
            <a:avLst/>
          </a:prstGeom>
        </p:spPr>
      </p:pic>
      <p:sp>
        <p:nvSpPr>
          <p:cNvPr id="7" name="Text 3"/>
          <p:cNvSpPr txBox="1"/>
          <p:nvPr/>
        </p:nvSpPr>
        <p:spPr>
          <a:xfrm>
            <a:off x="1828800" y="1691640"/>
            <a:ext cx="3977640" cy="5486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All-in project cost</a:t>
            </a:r>
            <a:endParaRPr lang="en-US" sz="2200" dirty="0"/>
          </a:p>
        </p:txBody>
      </p:sp>
      <p:sp>
        <p:nvSpPr>
          <p:cNvPr id="8" name="Text 4"/>
          <p:cNvSpPr txBox="1"/>
          <p:nvPr/>
        </p:nvSpPr>
        <p:spPr>
          <a:xfrm>
            <a:off x="1828800" y="2286000"/>
            <a:ext cx="3977640" cy="1005840"/>
          </a:xfrm>
          <a:prstGeom prst="rect">
            <a:avLst/>
          </a:prstGeom>
          <a:noFill/>
          <a:ln/>
        </p:spPr>
        <p:txBody>
          <a:bodyPr wrap="square" lIns="0" tIns="0" rIns="0" bIns="0" rtlCol="0" anchor="t"/>
          <a:lstStyle/>
          <a:p>
            <a:pPr indent="0" marL="0">
              <a:buNone/>
            </a:pPr>
            <a:r>
              <a:rPr lang="en-US" sz="1700" dirty="0">
                <a:solidFill>
                  <a:schemeClr val="tx1"/>
                </a:solidFill>
              </a:rPr>
              <a:t>Do US$1,200 / 1,100 / 700 per kW match your recent EPC quotes?</a:t>
            </a:r>
            <a:endParaRPr lang="en-US" sz="1700" dirty="0"/>
          </a:p>
        </p:txBody>
      </p:sp>
      <p:sp>
        <p:nvSpPr>
          <p:cNvPr id="9" name="Card"/>
          <p:cNvSpPr/>
          <p:nvPr/>
        </p:nvSpPr>
        <p:spPr>
          <a:xfrm>
            <a:off x="6172200" y="1417320"/>
            <a:ext cx="5440680" cy="2011680"/>
          </a:xfrm>
          <a:prstGeom prst="roundRect">
            <a:avLst>
              <a:gd name="adj" fmla="val 5455"/>
            </a:avLst>
          </a:prstGeom>
          <a:solidFill>
            <a:schemeClr val="bg2"/>
          </a:solidFill>
          <a:ln w="12700">
            <a:solidFill>
              <a:schemeClr val="bg2"/>
            </a:solidFill>
            <a:prstDash val="solid"/>
          </a:ln>
        </p:spPr>
      </p:sp>
      <p:sp>
        <p:nvSpPr>
          <p:cNvPr id="10" name="Icon circle"/>
          <p:cNvSpPr/>
          <p:nvPr/>
        </p:nvSpPr>
        <p:spPr>
          <a:xfrm>
            <a:off x="6446520" y="1737360"/>
            <a:ext cx="777240" cy="777240"/>
          </a:xfrm>
          <a:prstGeom prst="ellipse">
            <a:avLst/>
          </a:prstGeom>
          <a:solidFill>
            <a:schemeClr val="accent2"/>
          </a:solidFill>
          <a:ln w="12700">
            <a:solidFill>
              <a:schemeClr val="accent2"/>
            </a:solidFill>
            <a:prstDash val="solid"/>
          </a:ln>
        </p:spPr>
      </p:sp>
      <p:pic>
        <p:nvPicPr>
          <p:cNvPr id="11" name="Icon" descr="preencoded.png">    </p:cNvPr>
          <p:cNvPicPr>
            <a:picLocks noChangeAspect="1"/>
          </p:cNvPicPr>
          <p:nvPr/>
        </p:nvPicPr>
        <p:blipFill>
          <a:blip r:embed="rId2"/>
          <a:stretch>
            <a:fillRect/>
          </a:stretch>
        </p:blipFill>
        <p:spPr>
          <a:xfrm>
            <a:off x="6648602" y="1939442"/>
            <a:ext cx="373075" cy="373075"/>
          </a:xfrm>
          <a:prstGeom prst="rect">
            <a:avLst/>
          </a:prstGeom>
        </p:spPr>
      </p:pic>
      <p:sp>
        <p:nvSpPr>
          <p:cNvPr id="12" name="Text 7"/>
          <p:cNvSpPr txBox="1"/>
          <p:nvPr/>
        </p:nvSpPr>
        <p:spPr>
          <a:xfrm>
            <a:off x="7452360" y="1691640"/>
            <a:ext cx="3977640" cy="5486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Capacity factor</a:t>
            </a:r>
            <a:endParaRPr lang="en-US" sz="2200" dirty="0"/>
          </a:p>
        </p:txBody>
      </p:sp>
      <p:sp>
        <p:nvSpPr>
          <p:cNvPr id="13" name="Text 8"/>
          <p:cNvSpPr txBox="1"/>
          <p:nvPr/>
        </p:nvSpPr>
        <p:spPr>
          <a:xfrm>
            <a:off x="7452360" y="2286000"/>
            <a:ext cx="3977640" cy="1005840"/>
          </a:xfrm>
          <a:prstGeom prst="rect">
            <a:avLst/>
          </a:prstGeom>
          <a:noFill/>
          <a:ln/>
        </p:spPr>
        <p:txBody>
          <a:bodyPr wrap="square" lIns="0" tIns="0" rIns="0" bIns="0" rtlCol="0" anchor="t"/>
          <a:lstStyle/>
          <a:p>
            <a:pPr indent="0" marL="0">
              <a:buNone/>
            </a:pPr>
            <a:r>
              <a:rPr lang="en-US" sz="1700" dirty="0">
                <a:solidFill>
                  <a:schemeClr val="tx1"/>
                </a:solidFill>
              </a:rPr>
              <a:t>Is 42% (TOR) or the historical 63%–67% the better reference?</a:t>
            </a:r>
            <a:endParaRPr lang="en-US" sz="1700" dirty="0"/>
          </a:p>
        </p:txBody>
      </p:sp>
      <p:sp>
        <p:nvSpPr>
          <p:cNvPr id="14" name="Card"/>
          <p:cNvSpPr/>
          <p:nvPr/>
        </p:nvSpPr>
        <p:spPr>
          <a:xfrm>
            <a:off x="548640" y="3657600"/>
            <a:ext cx="5440680" cy="2011680"/>
          </a:xfrm>
          <a:prstGeom prst="roundRect">
            <a:avLst>
              <a:gd name="adj" fmla="val 5455"/>
            </a:avLst>
          </a:prstGeom>
          <a:solidFill>
            <a:schemeClr val="bg2"/>
          </a:solidFill>
          <a:ln w="12700">
            <a:solidFill>
              <a:schemeClr val="bg2"/>
            </a:solidFill>
            <a:prstDash val="solid"/>
          </a:ln>
        </p:spPr>
      </p:sp>
      <p:sp>
        <p:nvSpPr>
          <p:cNvPr id="15" name="Icon circle"/>
          <p:cNvSpPr/>
          <p:nvPr/>
        </p:nvSpPr>
        <p:spPr>
          <a:xfrm>
            <a:off x="822960" y="3977640"/>
            <a:ext cx="777240" cy="777240"/>
          </a:xfrm>
          <a:prstGeom prst="ellipse">
            <a:avLst/>
          </a:prstGeom>
          <a:solidFill>
            <a:schemeClr val="accent2"/>
          </a:solidFill>
          <a:ln w="12700">
            <a:solidFill>
              <a:schemeClr val="accent2"/>
            </a:solidFill>
            <a:prstDash val="solid"/>
          </a:ln>
        </p:spPr>
      </p:sp>
      <p:pic>
        <p:nvPicPr>
          <p:cNvPr id="16" name="Icon" descr="preencoded.png">    </p:cNvPr>
          <p:cNvPicPr>
            <a:picLocks noChangeAspect="1"/>
          </p:cNvPicPr>
          <p:nvPr/>
        </p:nvPicPr>
        <p:blipFill>
          <a:blip r:embed="rId3"/>
          <a:stretch>
            <a:fillRect/>
          </a:stretch>
        </p:blipFill>
        <p:spPr>
          <a:xfrm>
            <a:off x="1025042" y="4179722"/>
            <a:ext cx="373075" cy="373075"/>
          </a:xfrm>
          <a:prstGeom prst="rect">
            <a:avLst/>
          </a:prstGeom>
        </p:spPr>
      </p:pic>
      <p:sp>
        <p:nvSpPr>
          <p:cNvPr id="17" name="Text 11"/>
          <p:cNvSpPr txBox="1"/>
          <p:nvPr/>
        </p:nvSpPr>
        <p:spPr>
          <a:xfrm>
            <a:off x="1828800" y="3931920"/>
            <a:ext cx="3977640" cy="5486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O&amp;M</a:t>
            </a:r>
            <a:endParaRPr lang="en-US" sz="2200" dirty="0"/>
          </a:p>
        </p:txBody>
      </p:sp>
      <p:sp>
        <p:nvSpPr>
          <p:cNvPr id="18" name="Text 12"/>
          <p:cNvSpPr txBox="1"/>
          <p:nvPr/>
        </p:nvSpPr>
        <p:spPr>
          <a:xfrm>
            <a:off x="1828800" y="4526280"/>
            <a:ext cx="3977640" cy="1005840"/>
          </a:xfrm>
          <a:prstGeom prst="rect">
            <a:avLst/>
          </a:prstGeom>
          <a:noFill/>
          <a:ln/>
        </p:spPr>
        <p:txBody>
          <a:bodyPr wrap="square" lIns="0" tIns="0" rIns="0" bIns="0" rtlCol="0" anchor="t"/>
          <a:lstStyle/>
          <a:p>
            <a:pPr indent="0" marL="0">
              <a:buNone/>
            </a:pPr>
            <a:r>
              <a:rPr lang="en-US" sz="1700" dirty="0">
                <a:solidFill>
                  <a:schemeClr val="tx1"/>
                </a:solidFill>
              </a:rPr>
              <a:t>Do the fixed and variable O&amp;M values match current service agreements?</a:t>
            </a:r>
            <a:endParaRPr lang="en-US" sz="1700" dirty="0"/>
          </a:p>
        </p:txBody>
      </p:sp>
      <p:sp>
        <p:nvSpPr>
          <p:cNvPr id="19" name="Card"/>
          <p:cNvSpPr/>
          <p:nvPr/>
        </p:nvSpPr>
        <p:spPr>
          <a:xfrm>
            <a:off x="6172200" y="3657600"/>
            <a:ext cx="5440680" cy="2011680"/>
          </a:xfrm>
          <a:prstGeom prst="roundRect">
            <a:avLst>
              <a:gd name="adj" fmla="val 5455"/>
            </a:avLst>
          </a:prstGeom>
          <a:solidFill>
            <a:schemeClr val="bg2"/>
          </a:solidFill>
          <a:ln w="12700">
            <a:solidFill>
              <a:schemeClr val="bg2"/>
            </a:solidFill>
            <a:prstDash val="solid"/>
          </a:ln>
        </p:spPr>
      </p:sp>
      <p:sp>
        <p:nvSpPr>
          <p:cNvPr id="20" name="Icon circle"/>
          <p:cNvSpPr/>
          <p:nvPr/>
        </p:nvSpPr>
        <p:spPr>
          <a:xfrm>
            <a:off x="6446520" y="3977640"/>
            <a:ext cx="777240" cy="777240"/>
          </a:xfrm>
          <a:prstGeom prst="ellipse">
            <a:avLst/>
          </a:prstGeom>
          <a:solidFill>
            <a:schemeClr val="accent2"/>
          </a:solidFill>
          <a:ln w="12700">
            <a:solidFill>
              <a:schemeClr val="accent2"/>
            </a:solidFill>
            <a:prstDash val="solid"/>
          </a:ln>
        </p:spPr>
      </p:sp>
      <p:pic>
        <p:nvPicPr>
          <p:cNvPr id="21" name="Icon" descr="preencoded.png">    </p:cNvPr>
          <p:cNvPicPr>
            <a:picLocks noChangeAspect="1"/>
          </p:cNvPicPr>
          <p:nvPr/>
        </p:nvPicPr>
        <p:blipFill>
          <a:blip r:embed="rId4"/>
          <a:stretch>
            <a:fillRect/>
          </a:stretch>
        </p:blipFill>
        <p:spPr>
          <a:xfrm>
            <a:off x="6648602" y="4179722"/>
            <a:ext cx="373075" cy="373075"/>
          </a:xfrm>
          <a:prstGeom prst="rect">
            <a:avLst/>
          </a:prstGeom>
        </p:spPr>
      </p:pic>
      <p:sp>
        <p:nvSpPr>
          <p:cNvPr id="22" name="Text 15"/>
          <p:cNvSpPr txBox="1"/>
          <p:nvPr/>
        </p:nvSpPr>
        <p:spPr>
          <a:xfrm>
            <a:off x="7452360" y="3931920"/>
            <a:ext cx="3977640" cy="5486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Financing</a:t>
            </a:r>
            <a:endParaRPr lang="en-US" sz="2200" dirty="0"/>
          </a:p>
        </p:txBody>
      </p:sp>
      <p:sp>
        <p:nvSpPr>
          <p:cNvPr id="23" name="Text 16"/>
          <p:cNvSpPr txBox="1"/>
          <p:nvPr/>
        </p:nvSpPr>
        <p:spPr>
          <a:xfrm>
            <a:off x="7452360" y="4526280"/>
            <a:ext cx="3977640" cy="1005840"/>
          </a:xfrm>
          <a:prstGeom prst="rect">
            <a:avLst/>
          </a:prstGeom>
          <a:noFill/>
          <a:ln/>
        </p:spPr>
        <p:txBody>
          <a:bodyPr wrap="square" lIns="0" tIns="0" rIns="0" bIns="0" rtlCol="0" anchor="t"/>
          <a:lstStyle/>
          <a:p>
            <a:pPr indent="0" marL="0">
              <a:buNone/>
            </a:pPr>
            <a:r>
              <a:rPr lang="en-US" sz="1700" dirty="0">
                <a:solidFill>
                  <a:schemeClr val="tx1"/>
                </a:solidFill>
              </a:rPr>
              <a:t>Are 8% debt, 15-year tenor and 14% equity return achievable today?</a:t>
            </a:r>
            <a:endParaRPr lang="en-US" sz="17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Next steps</a:t>
            </a:r>
            <a:endParaRPr lang="en-US" sz="3400" dirty="0"/>
          </a:p>
        </p:txBody>
      </p:sp>
      <p:sp>
        <p:nvSpPr>
          <p:cNvPr id="4" name="Connector"/>
          <p:cNvSpPr/>
          <p:nvPr/>
        </p:nvSpPr>
        <p:spPr>
          <a:xfrm>
            <a:off x="1874520" y="2011680"/>
            <a:ext cx="1993392" cy="0"/>
          </a:xfrm>
          <a:prstGeom prst="line">
            <a:avLst/>
          </a:prstGeom>
          <a:noFill/>
          <a:ln w="38100">
            <a:solidFill>
              <a:srgbClr val="C6E3E1"/>
            </a:solidFill>
            <a:prstDash val="solid"/>
          </a:ln>
        </p:spPr>
      </p:sp>
      <p:sp>
        <p:nvSpPr>
          <p:cNvPr id="5" name="Icon circle"/>
          <p:cNvSpPr/>
          <p:nvPr/>
        </p:nvSpPr>
        <p:spPr>
          <a:xfrm>
            <a:off x="1463040" y="1600200"/>
            <a:ext cx="822960" cy="822960"/>
          </a:xfrm>
          <a:prstGeom prst="ellipse">
            <a:avLst/>
          </a:prstGeom>
          <a:solidFill>
            <a:schemeClr val="accent2"/>
          </a:solidFill>
          <a:ln w="12700">
            <a:solidFill>
              <a:schemeClr val="accent2"/>
            </a:solidFill>
            <a:prstDash val="solid"/>
          </a:ln>
        </p:spPr>
      </p:sp>
      <p:pic>
        <p:nvPicPr>
          <p:cNvPr id="6" name="Icon" descr="preencoded.png">    </p:cNvPr>
          <p:cNvPicPr>
            <a:picLocks noChangeAspect="1"/>
          </p:cNvPicPr>
          <p:nvPr/>
        </p:nvPicPr>
        <p:blipFill>
          <a:blip r:embed="rId1"/>
          <a:stretch>
            <a:fillRect/>
          </a:stretch>
        </p:blipFill>
        <p:spPr>
          <a:xfrm>
            <a:off x="1677010" y="1814170"/>
            <a:ext cx="395021" cy="395021"/>
          </a:xfrm>
          <a:prstGeom prst="rect">
            <a:avLst/>
          </a:prstGeom>
        </p:spPr>
      </p:pic>
      <p:sp>
        <p:nvSpPr>
          <p:cNvPr id="7" name="Card"/>
          <p:cNvSpPr/>
          <p:nvPr/>
        </p:nvSpPr>
        <p:spPr>
          <a:xfrm>
            <a:off x="548640" y="2743200"/>
            <a:ext cx="2606040" cy="2286000"/>
          </a:xfrm>
          <a:prstGeom prst="roundRect">
            <a:avLst>
              <a:gd name="adj" fmla="val 4800"/>
            </a:avLst>
          </a:prstGeom>
          <a:solidFill>
            <a:schemeClr val="bg2"/>
          </a:solidFill>
          <a:ln w="12700">
            <a:solidFill>
              <a:schemeClr val="bg2"/>
            </a:solidFill>
            <a:prstDash val="solid"/>
          </a:ln>
        </p:spPr>
      </p:sp>
      <p:sp>
        <p:nvSpPr>
          <p:cNvPr id="8" name="Text 4"/>
          <p:cNvSpPr txBox="1"/>
          <p:nvPr/>
        </p:nvSpPr>
        <p:spPr>
          <a:xfrm>
            <a:off x="731520" y="2880360"/>
            <a:ext cx="2240280" cy="5486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Today</a:t>
            </a:r>
            <a:endParaRPr lang="en-US" sz="2000" dirty="0"/>
          </a:p>
        </p:txBody>
      </p:sp>
      <p:sp>
        <p:nvSpPr>
          <p:cNvPr id="9" name="Text 5"/>
          <p:cNvSpPr txBox="1"/>
          <p:nvPr/>
        </p:nvSpPr>
        <p:spPr>
          <a:xfrm>
            <a:off x="731520" y="3474720"/>
            <a:ext cx="2240280" cy="1463040"/>
          </a:xfrm>
          <a:prstGeom prst="rect">
            <a:avLst/>
          </a:prstGeom>
          <a:noFill/>
          <a:ln/>
        </p:spPr>
        <p:txBody>
          <a:bodyPr wrap="square" lIns="0" tIns="0" rIns="0" bIns="0" rtlCol="0" anchor="t"/>
          <a:lstStyle/>
          <a:p>
            <a:pPr indent="0" marL="0">
              <a:buNone/>
            </a:pPr>
            <a:r>
              <a:rPr lang="en-US" sz="1600" dirty="0">
                <a:solidFill>
                  <a:schemeClr val="tx1"/>
                </a:solidFill>
              </a:rPr>
              <a:t>Discussion of model assumptions</a:t>
            </a:r>
            <a:endParaRPr lang="en-US" sz="1600" dirty="0"/>
          </a:p>
        </p:txBody>
      </p:sp>
      <p:sp>
        <p:nvSpPr>
          <p:cNvPr id="10" name="Connector"/>
          <p:cNvSpPr/>
          <p:nvPr/>
        </p:nvSpPr>
        <p:spPr>
          <a:xfrm>
            <a:off x="4690872" y="2011680"/>
            <a:ext cx="1993392" cy="0"/>
          </a:xfrm>
          <a:prstGeom prst="line">
            <a:avLst/>
          </a:prstGeom>
          <a:noFill/>
          <a:ln w="38100">
            <a:solidFill>
              <a:srgbClr val="C6E3E1"/>
            </a:solidFill>
            <a:prstDash val="solid"/>
          </a:ln>
        </p:spPr>
      </p:sp>
      <p:sp>
        <p:nvSpPr>
          <p:cNvPr id="11" name="Icon circle"/>
          <p:cNvSpPr/>
          <p:nvPr/>
        </p:nvSpPr>
        <p:spPr>
          <a:xfrm>
            <a:off x="4279392" y="1600200"/>
            <a:ext cx="822960" cy="822960"/>
          </a:xfrm>
          <a:prstGeom prst="ellipse">
            <a:avLst/>
          </a:prstGeom>
          <a:solidFill>
            <a:schemeClr val="accent2"/>
          </a:solidFill>
          <a:ln w="12700">
            <a:solidFill>
              <a:schemeClr val="accent2"/>
            </a:solidFill>
            <a:prstDash val="solid"/>
          </a:ln>
        </p:spPr>
      </p:sp>
      <p:pic>
        <p:nvPicPr>
          <p:cNvPr id="12" name="Icon" descr="preencoded.png">    </p:cNvPr>
          <p:cNvPicPr>
            <a:picLocks noChangeAspect="1"/>
          </p:cNvPicPr>
          <p:nvPr/>
        </p:nvPicPr>
        <p:blipFill>
          <a:blip r:embed="rId2"/>
          <a:stretch>
            <a:fillRect/>
          </a:stretch>
        </p:blipFill>
        <p:spPr>
          <a:xfrm>
            <a:off x="4493362" y="1814170"/>
            <a:ext cx="395021" cy="395021"/>
          </a:xfrm>
          <a:prstGeom prst="rect">
            <a:avLst/>
          </a:prstGeom>
        </p:spPr>
      </p:pic>
      <p:sp>
        <p:nvSpPr>
          <p:cNvPr id="13" name="Card"/>
          <p:cNvSpPr/>
          <p:nvPr/>
        </p:nvSpPr>
        <p:spPr>
          <a:xfrm>
            <a:off x="3364992" y="2743200"/>
            <a:ext cx="2606040" cy="2286000"/>
          </a:xfrm>
          <a:prstGeom prst="roundRect">
            <a:avLst>
              <a:gd name="adj" fmla="val 4800"/>
            </a:avLst>
          </a:prstGeom>
          <a:solidFill>
            <a:schemeClr val="bg2"/>
          </a:solidFill>
          <a:ln w="12700">
            <a:solidFill>
              <a:schemeClr val="bg2"/>
            </a:solidFill>
            <a:prstDash val="solid"/>
          </a:ln>
        </p:spPr>
      </p:sp>
      <p:sp>
        <p:nvSpPr>
          <p:cNvPr id="14" name="Text 9"/>
          <p:cNvSpPr txBox="1"/>
          <p:nvPr/>
        </p:nvSpPr>
        <p:spPr>
          <a:xfrm>
            <a:off x="3547872" y="2880360"/>
            <a:ext cx="2240280" cy="5486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Written comments</a:t>
            </a:r>
            <a:endParaRPr lang="en-US" sz="2000" dirty="0"/>
          </a:p>
        </p:txBody>
      </p:sp>
      <p:sp>
        <p:nvSpPr>
          <p:cNvPr id="15" name="Text 10"/>
          <p:cNvSpPr txBox="1"/>
          <p:nvPr/>
        </p:nvSpPr>
        <p:spPr>
          <a:xfrm>
            <a:off x="3547872" y="3474720"/>
            <a:ext cx="2240280" cy="1463040"/>
          </a:xfrm>
          <a:prstGeom prst="rect">
            <a:avLst/>
          </a:prstGeom>
          <a:noFill/>
          <a:ln/>
        </p:spPr>
        <p:txBody>
          <a:bodyPr wrap="square" lIns="0" tIns="0" rIns="0" bIns="0" rtlCol="0" anchor="t"/>
          <a:lstStyle/>
          <a:p>
            <a:pPr indent="0" marL="0">
              <a:buNone/>
            </a:pPr>
            <a:r>
              <a:rPr lang="en-US" sz="1600" dirty="0">
                <a:solidFill>
                  <a:schemeClr val="tx1"/>
                </a:solidFill>
              </a:rPr>
              <a:t>With evidence, via the Case No. 2026-015 RM docket, by the date in the FGD notice</a:t>
            </a:r>
            <a:endParaRPr lang="en-US" sz="1600" dirty="0"/>
          </a:p>
        </p:txBody>
      </p:sp>
      <p:sp>
        <p:nvSpPr>
          <p:cNvPr id="16" name="Connector"/>
          <p:cNvSpPr/>
          <p:nvPr/>
        </p:nvSpPr>
        <p:spPr>
          <a:xfrm>
            <a:off x="7507224" y="2011680"/>
            <a:ext cx="1993392" cy="0"/>
          </a:xfrm>
          <a:prstGeom prst="line">
            <a:avLst/>
          </a:prstGeom>
          <a:noFill/>
          <a:ln w="38100">
            <a:solidFill>
              <a:srgbClr val="C6E3E1"/>
            </a:solidFill>
            <a:prstDash val="solid"/>
          </a:ln>
        </p:spPr>
      </p:sp>
      <p:sp>
        <p:nvSpPr>
          <p:cNvPr id="17" name="Icon circle"/>
          <p:cNvSpPr/>
          <p:nvPr/>
        </p:nvSpPr>
        <p:spPr>
          <a:xfrm>
            <a:off x="7095744" y="1600200"/>
            <a:ext cx="822960" cy="822960"/>
          </a:xfrm>
          <a:prstGeom prst="ellipse">
            <a:avLst/>
          </a:prstGeom>
          <a:solidFill>
            <a:schemeClr val="accent2"/>
          </a:solidFill>
          <a:ln w="12700">
            <a:solidFill>
              <a:schemeClr val="accent2"/>
            </a:solidFill>
            <a:prstDash val="solid"/>
          </a:ln>
        </p:spPr>
      </p:sp>
      <p:pic>
        <p:nvPicPr>
          <p:cNvPr id="18" name="Icon" descr="preencoded.png">    </p:cNvPr>
          <p:cNvPicPr>
            <a:picLocks noChangeAspect="1"/>
          </p:cNvPicPr>
          <p:nvPr/>
        </p:nvPicPr>
        <p:blipFill>
          <a:blip r:embed="rId3"/>
          <a:stretch>
            <a:fillRect/>
          </a:stretch>
        </p:blipFill>
        <p:spPr>
          <a:xfrm>
            <a:off x="7309714" y="1814170"/>
            <a:ext cx="395021" cy="395021"/>
          </a:xfrm>
          <a:prstGeom prst="rect">
            <a:avLst/>
          </a:prstGeom>
        </p:spPr>
      </p:pic>
      <p:sp>
        <p:nvSpPr>
          <p:cNvPr id="19" name="Card"/>
          <p:cNvSpPr/>
          <p:nvPr/>
        </p:nvSpPr>
        <p:spPr>
          <a:xfrm>
            <a:off x="6181344" y="2743200"/>
            <a:ext cx="2606040" cy="2286000"/>
          </a:xfrm>
          <a:prstGeom prst="roundRect">
            <a:avLst>
              <a:gd name="adj" fmla="val 4800"/>
            </a:avLst>
          </a:prstGeom>
          <a:solidFill>
            <a:schemeClr val="bg2"/>
          </a:solidFill>
          <a:ln w="12700">
            <a:solidFill>
              <a:schemeClr val="bg2"/>
            </a:solidFill>
            <a:prstDash val="solid"/>
          </a:ln>
        </p:spPr>
      </p:sp>
      <p:sp>
        <p:nvSpPr>
          <p:cNvPr id="20" name="Text 14"/>
          <p:cNvSpPr txBox="1"/>
          <p:nvPr/>
        </p:nvSpPr>
        <p:spPr>
          <a:xfrm>
            <a:off x="6364224" y="2880360"/>
            <a:ext cx="2240280" cy="5486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ERC review</a:t>
            </a:r>
            <a:endParaRPr lang="en-US" sz="2000" dirty="0"/>
          </a:p>
        </p:txBody>
      </p:sp>
      <p:sp>
        <p:nvSpPr>
          <p:cNvPr id="21" name="Text 15"/>
          <p:cNvSpPr txBox="1"/>
          <p:nvPr/>
        </p:nvSpPr>
        <p:spPr>
          <a:xfrm>
            <a:off x="6364224" y="3474720"/>
            <a:ext cx="2240280" cy="1463040"/>
          </a:xfrm>
          <a:prstGeom prst="rect">
            <a:avLst/>
          </a:prstGeom>
          <a:noFill/>
          <a:ln/>
        </p:spPr>
        <p:txBody>
          <a:bodyPr wrap="square" lIns="0" tIns="0" rIns="0" bIns="0" rtlCol="0" anchor="t"/>
          <a:lstStyle/>
          <a:p>
            <a:pPr indent="0" marL="0">
              <a:buNone/>
            </a:pPr>
            <a:r>
              <a:rPr lang="en-US" sz="1600" dirty="0">
                <a:solidFill>
                  <a:schemeClr val="tx1"/>
                </a:solidFill>
              </a:rPr>
              <a:t>Comments considered in the Reference Parameters</a:t>
            </a:r>
            <a:endParaRPr lang="en-US" sz="1600" dirty="0"/>
          </a:p>
        </p:txBody>
      </p:sp>
      <p:sp>
        <p:nvSpPr>
          <p:cNvPr id="22" name="Icon circle"/>
          <p:cNvSpPr/>
          <p:nvPr/>
        </p:nvSpPr>
        <p:spPr>
          <a:xfrm>
            <a:off x="9912096" y="1600200"/>
            <a:ext cx="822960" cy="822960"/>
          </a:xfrm>
          <a:prstGeom prst="ellipse">
            <a:avLst/>
          </a:prstGeom>
          <a:solidFill>
            <a:schemeClr val="accent3"/>
          </a:solidFill>
          <a:ln w="12700">
            <a:solidFill>
              <a:schemeClr val="accent3"/>
            </a:solidFill>
            <a:prstDash val="solid"/>
          </a:ln>
        </p:spPr>
      </p:sp>
      <p:pic>
        <p:nvPicPr>
          <p:cNvPr id="23" name="Icon" descr="preencoded.png">    </p:cNvPr>
          <p:cNvPicPr>
            <a:picLocks noChangeAspect="1"/>
          </p:cNvPicPr>
          <p:nvPr/>
        </p:nvPicPr>
        <p:blipFill>
          <a:blip r:embed="rId4"/>
          <a:stretch>
            <a:fillRect/>
          </a:stretch>
        </p:blipFill>
        <p:spPr>
          <a:xfrm>
            <a:off x="10126066" y="1814170"/>
            <a:ext cx="395021" cy="395021"/>
          </a:xfrm>
          <a:prstGeom prst="rect">
            <a:avLst/>
          </a:prstGeom>
        </p:spPr>
      </p:pic>
      <p:sp>
        <p:nvSpPr>
          <p:cNvPr id="24" name="Card"/>
          <p:cNvSpPr/>
          <p:nvPr/>
        </p:nvSpPr>
        <p:spPr>
          <a:xfrm>
            <a:off x="8997696" y="2743200"/>
            <a:ext cx="2606040" cy="2286000"/>
          </a:xfrm>
          <a:prstGeom prst="roundRect">
            <a:avLst>
              <a:gd name="adj" fmla="val 4800"/>
            </a:avLst>
          </a:prstGeom>
          <a:solidFill>
            <a:schemeClr val="bg2"/>
          </a:solidFill>
          <a:ln w="12700">
            <a:solidFill>
              <a:schemeClr val="bg2"/>
            </a:solidFill>
            <a:prstDash val="solid"/>
          </a:ln>
        </p:spPr>
      </p:sp>
      <p:sp>
        <p:nvSpPr>
          <p:cNvPr id="25" name="Text 18"/>
          <p:cNvSpPr txBox="1"/>
          <p:nvPr/>
        </p:nvSpPr>
        <p:spPr>
          <a:xfrm>
            <a:off x="9180576" y="2880360"/>
            <a:ext cx="2240280" cy="5486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Resolution</a:t>
            </a:r>
            <a:endParaRPr lang="en-US" sz="2000" dirty="0"/>
          </a:p>
        </p:txBody>
      </p:sp>
      <p:sp>
        <p:nvSpPr>
          <p:cNvPr id="26" name="Text 19"/>
          <p:cNvSpPr txBox="1"/>
          <p:nvPr/>
        </p:nvSpPr>
        <p:spPr>
          <a:xfrm>
            <a:off x="9180576" y="3474720"/>
            <a:ext cx="2240280" cy="1463040"/>
          </a:xfrm>
          <a:prstGeom prst="rect">
            <a:avLst/>
          </a:prstGeom>
          <a:noFill/>
          <a:ln/>
        </p:spPr>
        <p:txBody>
          <a:bodyPr wrap="square" lIns="0" tIns="0" rIns="0" bIns="0" rtlCol="0" anchor="t"/>
          <a:lstStyle/>
          <a:p>
            <a:pPr indent="0" marL="0">
              <a:buNone/>
            </a:pPr>
            <a:r>
              <a:rPr lang="en-US" sz="1600" dirty="0">
                <a:solidFill>
                  <a:schemeClr val="tx1"/>
                </a:solidFill>
              </a:rPr>
              <a:t>Commission issues the GAT Price by resolution</a:t>
            </a:r>
            <a:endParaRPr lang="en-US" sz="16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ERC Mid-Merit Gas">
  <a:themeElements>
    <a:clrScheme name="ERC Mid-Merit Gas">
      <a:dk1>
        <a:srgbClr val="17202A"/>
      </a:dk1>
      <a:lt1>
        <a:srgbClr val="FFFFFF"/>
      </a:lt1>
      <a:dk2>
        <a:srgbClr val="14324F"/>
      </a:dk2>
      <a:lt2>
        <a:srgbClr val="EEF3F7"/>
      </a:lt2>
      <a:accent1>
        <a:srgbClr val="14324F"/>
      </a:accent1>
      <a:accent2>
        <a:srgbClr val="1F8A8A"/>
      </a:accent2>
      <a:accent3>
        <a:srgbClr val="E39B2D"/>
      </a:accent3>
      <a:accent4>
        <a:srgbClr val="5B7083"/>
      </a:accent4>
      <a:accent5>
        <a:srgbClr val="C6E3E1"/>
      </a:accent5>
      <a:accent6>
        <a:srgbClr val="FBE7C6"/>
      </a:accent6>
      <a:hlink>
        <a:srgbClr val="1F8A8A"/>
      </a:hlink>
      <a:folHlink>
        <a:srgbClr val="5B7083"/>
      </a:folHlink>
    </a:clrScheme>
    <a:fontScheme name="ERC Mid-Merit Ga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Energy Regulatory Commission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GAT Price Financial Model – Key Assumptions</dc:title>
  <dc:subject>PptxGenJS Presentation</dc:subject>
  <dc:creator>Energy Regulatory Commission</dc:creator>
  <cp:lastModifiedBy>Energy Regulatory Commission</cp:lastModifiedBy>
  <cp:revision>1</cp:revision>
  <dcterms:created xsi:type="dcterms:W3CDTF">2026-10-20T02:15:12Z</dcterms:created>
  <dcterms:modified xsi:type="dcterms:W3CDTF">2026-10-20T02:15:12Z</dcterms:modified>
</cp:coreProperties>
</file>