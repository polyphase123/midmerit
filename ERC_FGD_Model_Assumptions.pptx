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welcome. I am [name] of the ERC. Today we walk you through the assumptions in the Commission's financial model for the Gas Auction Threshold Price. We will not show any prices today, only inputs, values and their basis. We want your views on whether these inputs are reasonable. Please hold questions until the discussion slots; use the chat for anything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today. One, show you every assumption in the model and where it comes from. Two, hear from you where our values differ from what you see in the market, with evidence. Three, explain what happens next. To be clear: no GAT Price figures are shared today. Prices are set only by Commission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a 30-year discounted cash-flow model of a reference plant. It finds the flat price per kWh at which equity earns exactly its required return. That price has two parts: CRF, the capital recovery for the plant, financing, taxes and overhead; and OM, the plant's fixed and variable operating cost. Fuel is outside. Gas commodity cost and the capped logistics cost, the CLLC, are paid through the Fuel Cost pass-through, against benchmarks and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model one reference plant for each DOE lot and technology: the two existing-plant lots in Luzon, and new-build CCGT, OCGT and gas-engine plants for Luzon and both Visayas lots. Each case is run twice: at the TOR capacity factor of 42 percent, and at the historical capacity factor of the gas fleet. The model works per kW, so plant size does not change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factor drives energy, so it matters most. Case A uses 42 percent, the top of the TOR band. Case B uses what the gas fleet actually ran: 66.8 percent for existing plants and 63.1 percent for the whole fleet, from MERALCO's published generation-charge data. For Lot 1 we add 24 percent non-mid-merit energy, which the TOR pays at Fuel Cost only. Capacity factors are net, so no separate own-use deduction.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plants have no construction period; their capital sits at year zero. New-build plants take 36 months for a CCGT, 24 for an OCGT and 18 for gas engines. Every plant recovers its costs over 30 years, the ERC economic-life basis, even where the TOR contract is shorter. The model base year is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input. For existing plants we use 450 US dollars per kW. For new builds we raised the values to current market levels: 1,200 for a CCGT, 1,100 for gas engines and 700 for an OCGT. All-in means equipment, balance of plant, transport, development, contingency, financing during construction, VAT, duties and initial working capital. If your recent quotes or financings say otherwise, this is the number we most want evidence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percentages and fixed amounts the model uses to build up the all-in cost, plus two lifetime items: a major refurbishment of 5 percent of EPC in year 15, and a 10 percent salvage value at the end. Most are the ERC model defaults and are the same for every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 in the GAT Price is fixed O&amp;M per kW per year plus variable non-fuel O&amp;M per MWh. Logistics costs are not here: they moved to the Fuel Cost as the CLLC. G&amp;A is 6 percent of O&amp;M. We would welcome your long-term service agreement benchmarks on these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follows a standard project-finance structure: 70 percent debt, 30 percent equity. Debt costs 8 percent a year over 15 years, with a six-month grace period after COD and a six-month debt service reserve. Equity requires 14 percent nominal, within a CAPM range of 12 to 14 percent. The resulting WACC is shown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assume no BOI or PEZA incentives and no income tax holiday, so corporate income tax is 25 percent from the start. Local taxes, the ER 1-94 host-community benefit, and taxes on financing are included in CRF. If you hold or expect incentives, tell us; we deliberately did not assume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converts at 62.756 pesos per US dollar, the BSP reference rate on 25 September 2026. It runs in real terms with zero escalation, because the GAT Price is fixed in pesos and not indexed after award. Receivables, payables and inventory are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the complete list: every parameter in the model's Inputs and Assumptions, 115 lines in nine groups, with its value and basis. We will move quickly; the slides are yours to keep and check line by line. Flag anything you want to discuss.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guide to the tables. Values are for the Luzon cases at the TOR capacity factor, Case A. Where the historical-dispatch case, Case B, gives a different value, it gets its own purple line under the teal Case A line. Visayas cases use the same per-kW inputs at 440 or 500 megawatts. Where all five cases share one value, it is shown once across the row. The Type column says whether a value is typed in, calculated, or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colours run through every slide. Teal is Case A, the TOR capacity factor; purple is Case B, the historical one. Each lot and region has its own colour: navy for Lot 1, blue for Lot 2, green for new-build Luzon, orange for Visayas 440 megawatts and magenta for Visayas 500 megawatts. Mindanao is grey: the DOE TOR has no Mindanao lot, so it is not modelled.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size and dispatch. Capacity comes from the TOR lot sizes, split into standard units. Capacity factor is 42 percent in Case A, teal; Case B, purple, sits on the line below. Everything is on a net basis, and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Construction runs zero to 36 months by technology, recovery is over 30 years, and all costs are in 2028 terms, so there is no escalation offset to worry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 cost. The all-in cost targets drive everything here; the model calibrates equipment cost to hit them. The percentages for balance of plant, freight, development, contingency and working capital are model defaults we invite you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and sources of funds, in US dollar millions. These follow from the all-in cost and the 70-30 capital structure. Financing cost during construction is largest for the CCGT because it takes three years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O&amp;M and G&amp;A. Fixed O&amp;M per kW-year, variable non-fuel O&amp;M per MWh, and G&amp;A at 6 percent. Logistics are excluded. The three target lines are reference values only and do not enter the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70-30 debt to equity, 8 percent debt over 15 years with a six-month grace, 14 percent equity return. The local and foreign split and the debt amounts are calculated. WACC is a result, shown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Taxes and incentives. No BOI or PEZA incentive and no tax holiday. Income tax 25 percent; property tax, local business tax, ER 1-94, and taxes on financing are all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 and currency. Real terms: zero CPI and zero peso depreciation, because the GAT Price is fixed in pesos and not indexed. The exchange rate is the BSP rate of 25 September 2026. Working capital runs on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Fuel and technical. Fuel is switched off in the model because it sits outside the GAT Price. These lines remain for the efficiency calculation only and do not affect the GAT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only lines where the Visayas cases differ from new-build Luzon: plant size, and the amounts that scale with it. Orange is Visayas 440 megawatts from 2028, magenta is Visayas 500 megawatts from 2031. Per-kW inputs, financing, taxes and timing are the same as Luzon, so the basis column on the earlier slides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open the floor. These are the four areas where your evidence helps us most. Please raise your hand in the platform; state your company once and keep each point to about two minutes. We will note every point in the comments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please send written comments, with supporting documents, through the ERC docket for Case No. 2026-015 RM by the deadline in the FGD notice. We will consider them before the Commission issues the Reference Parameters and the GAT Price by resolution.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10698480" cy="146304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355080"/>
            <a:ext cx="8686800" cy="320040"/>
          </a:xfrm>
          <a:prstGeom prst="rect">
            <a:avLst/>
          </a:prstGeom>
          <a:noFill/>
          <a:ln/>
        </p:spPr>
        <p:txBody>
          <a:bodyPr wrap="square" rtlCol="0" anchor="ctr"/>
          <a:lstStyle/>
          <a:p>
            <a:pPr indent="0" marL="0">
              <a:buNone/>
            </a:pPr>
            <a:r>
              <a:rPr lang="en-US" sz="1200" dirty="0">
                <a:solidFill>
                  <a:schemeClr val="accent4"/>
                </a:solidFill>
              </a:rPr>
              <a:t>ERC  |  Focus Group Discussion with Pre-Qualified Bidders  |  22 October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3.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3.xml"/><Relationship Id="rId6"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GAT Price Financial Model: Key Assumptions</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Virtual Focus Group Discussion with the Pre-Qualified Bidders</a:t>
            </a:r>
            <a:endParaRPr lang="en-US" sz="2200" dirty="0"/>
          </a:p>
          <a:p>
            <a:pPr indent="0" marL="0">
              <a:buNone/>
            </a:pPr>
            <a:r>
              <a:rPr lang="en-US" sz="1800" dirty="0">
                <a:solidFill>
                  <a:srgbClr val="FFFFFF"/>
                </a:solidFill>
              </a:rPr>
              <a:t>Mid-Merit Natural Gas Capacity Auction  |  ERC Case No. 2026-015 RM  |  Thursday, 22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Why we are meeting today</a:t>
            </a:r>
            <a:endParaRPr lang="en-US" sz="3400" dirty="0"/>
          </a:p>
        </p:txBody>
      </p:sp>
      <p:sp>
        <p:nvSpPr>
          <p:cNvPr id="4" name="Card"/>
          <p:cNvSpPr/>
          <p:nvPr/>
        </p:nvSpPr>
        <p:spPr>
          <a:xfrm>
            <a:off x="548640" y="1463040"/>
            <a:ext cx="3474720" cy="4023360"/>
          </a:xfrm>
          <a:prstGeom prst="roundRect">
            <a:avLst>
              <a:gd name="adj" fmla="val 3158"/>
            </a:avLst>
          </a:prstGeom>
          <a:solidFill>
            <a:schemeClr val="bg2"/>
          </a:solidFill>
          <a:ln w="12700">
            <a:solidFill>
              <a:schemeClr val="bg2"/>
            </a:solidFill>
            <a:prstDash val="solid"/>
          </a:ln>
        </p:spPr>
      </p:sp>
      <p:sp>
        <p:nvSpPr>
          <p:cNvPr id="5" name="Icon circle"/>
          <p:cNvSpPr/>
          <p:nvPr/>
        </p:nvSpPr>
        <p:spPr>
          <a:xfrm>
            <a:off x="868680" y="178308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82650" y="1997050"/>
            <a:ext cx="395021" cy="395021"/>
          </a:xfrm>
          <a:prstGeom prst="rect">
            <a:avLst/>
          </a:prstGeom>
        </p:spPr>
      </p:pic>
      <p:sp>
        <p:nvSpPr>
          <p:cNvPr id="7" name="Text 3"/>
          <p:cNvSpPr txBox="1"/>
          <p:nvPr/>
        </p:nvSpPr>
        <p:spPr>
          <a:xfrm>
            <a:off x="86868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Walk through the model inputs</a:t>
            </a:r>
            <a:endParaRPr lang="en-US" sz="2200" dirty="0"/>
          </a:p>
        </p:txBody>
      </p:sp>
      <p:sp>
        <p:nvSpPr>
          <p:cNvPr id="8" name="Text 4"/>
          <p:cNvSpPr txBox="1"/>
          <p:nvPr/>
        </p:nvSpPr>
        <p:spPr>
          <a:xfrm>
            <a:off x="86868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Every parameter, its value and its basis or source.</a:t>
            </a:r>
            <a:endParaRPr lang="en-US" sz="1700" dirty="0"/>
          </a:p>
        </p:txBody>
      </p:sp>
      <p:sp>
        <p:nvSpPr>
          <p:cNvPr id="9" name="Card"/>
          <p:cNvSpPr/>
          <p:nvPr/>
        </p:nvSpPr>
        <p:spPr>
          <a:xfrm>
            <a:off x="4297680" y="1463040"/>
            <a:ext cx="3474720" cy="4023360"/>
          </a:xfrm>
          <a:prstGeom prst="roundRect">
            <a:avLst>
              <a:gd name="adj" fmla="val 3158"/>
            </a:avLst>
          </a:prstGeom>
          <a:solidFill>
            <a:schemeClr val="bg2"/>
          </a:solidFill>
          <a:ln w="12700">
            <a:solidFill>
              <a:schemeClr val="bg2"/>
            </a:solidFill>
            <a:prstDash val="solid"/>
          </a:ln>
        </p:spPr>
      </p:sp>
      <p:sp>
        <p:nvSpPr>
          <p:cNvPr id="10" name="Icon circle"/>
          <p:cNvSpPr/>
          <p:nvPr/>
        </p:nvSpPr>
        <p:spPr>
          <a:xfrm>
            <a:off x="4617720" y="1783080"/>
            <a:ext cx="822960" cy="82296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4831690" y="1997050"/>
            <a:ext cx="395021" cy="395021"/>
          </a:xfrm>
          <a:prstGeom prst="rect">
            <a:avLst/>
          </a:prstGeom>
        </p:spPr>
      </p:pic>
      <p:sp>
        <p:nvSpPr>
          <p:cNvPr id="12" name="Text 7"/>
          <p:cNvSpPr txBox="1"/>
          <p:nvPr/>
        </p:nvSpPr>
        <p:spPr>
          <a:xfrm>
            <a:off x="461772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Hear your evidence</a:t>
            </a:r>
            <a:endParaRPr lang="en-US" sz="2200" dirty="0"/>
          </a:p>
        </p:txBody>
      </p:sp>
      <p:sp>
        <p:nvSpPr>
          <p:cNvPr id="13" name="Text 8"/>
          <p:cNvSpPr txBox="1"/>
          <p:nvPr/>
        </p:nvSpPr>
        <p:spPr>
          <a:xfrm>
            <a:off x="461772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Where do our values differ from current market terms? Tell us why, with documents.</a:t>
            </a:r>
            <a:endParaRPr lang="en-US" sz="1700" dirty="0"/>
          </a:p>
        </p:txBody>
      </p:sp>
      <p:sp>
        <p:nvSpPr>
          <p:cNvPr id="14" name="Card"/>
          <p:cNvSpPr/>
          <p:nvPr/>
        </p:nvSpPr>
        <p:spPr>
          <a:xfrm>
            <a:off x="8046720" y="1463040"/>
            <a:ext cx="3474720" cy="4023360"/>
          </a:xfrm>
          <a:prstGeom prst="roundRect">
            <a:avLst>
              <a:gd name="adj" fmla="val 3158"/>
            </a:avLst>
          </a:prstGeom>
          <a:solidFill>
            <a:schemeClr val="bg2"/>
          </a:solidFill>
          <a:ln w="12700">
            <a:solidFill>
              <a:schemeClr val="bg2"/>
            </a:solidFill>
            <a:prstDash val="solid"/>
          </a:ln>
        </p:spPr>
      </p:sp>
      <p:sp>
        <p:nvSpPr>
          <p:cNvPr id="15" name="Icon circle"/>
          <p:cNvSpPr/>
          <p:nvPr/>
        </p:nvSpPr>
        <p:spPr>
          <a:xfrm>
            <a:off x="8366760" y="1783080"/>
            <a:ext cx="822960" cy="822960"/>
          </a:xfrm>
          <a:prstGeom prst="ellipse">
            <a:avLst/>
          </a:prstGeom>
          <a:solidFill>
            <a:schemeClr val="accent3"/>
          </a:solidFill>
          <a:ln w="12700">
            <a:solidFill>
              <a:schemeClr val="accent3"/>
            </a:solidFill>
            <a:prstDash val="solid"/>
          </a:ln>
        </p:spPr>
      </p:sp>
      <p:pic>
        <p:nvPicPr>
          <p:cNvPr id="16" name="Icon" descr="preencoded.png">    </p:cNvPr>
          <p:cNvPicPr>
            <a:picLocks noChangeAspect="1"/>
          </p:cNvPicPr>
          <p:nvPr/>
        </p:nvPicPr>
        <p:blipFill>
          <a:blip r:embed="rId3"/>
          <a:stretch>
            <a:fillRect/>
          </a:stretch>
        </p:blipFill>
        <p:spPr>
          <a:xfrm>
            <a:off x="8580730" y="1997050"/>
            <a:ext cx="395021" cy="395021"/>
          </a:xfrm>
          <a:prstGeom prst="rect">
            <a:avLst/>
          </a:prstGeom>
        </p:spPr>
      </p:pic>
      <p:sp>
        <p:nvSpPr>
          <p:cNvPr id="17" name="Text 11"/>
          <p:cNvSpPr txBox="1"/>
          <p:nvPr/>
        </p:nvSpPr>
        <p:spPr>
          <a:xfrm>
            <a:off x="836676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No prices today</a:t>
            </a:r>
            <a:endParaRPr lang="en-US" sz="2200" dirty="0"/>
          </a:p>
        </p:txBody>
      </p:sp>
      <p:sp>
        <p:nvSpPr>
          <p:cNvPr id="18" name="Text 12"/>
          <p:cNvSpPr txBox="1"/>
          <p:nvPr/>
        </p:nvSpPr>
        <p:spPr>
          <a:xfrm>
            <a:off x="836676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GAT Prices are issued only by Commission resolution, after this consultation.</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the model sets the GAT Price</a:t>
            </a:r>
            <a:endParaRPr lang="en-US" sz="3400" dirty="0"/>
          </a:p>
        </p:txBody>
      </p:sp>
      <p:sp>
        <p:nvSpPr>
          <p:cNvPr id="4" name="Card"/>
          <p:cNvSpPr/>
          <p:nvPr/>
        </p:nvSpPr>
        <p:spPr>
          <a:xfrm>
            <a:off x="548640" y="1508760"/>
            <a:ext cx="3566160" cy="2834640"/>
          </a:xfrm>
          <a:prstGeom prst="roundRect">
            <a:avLst>
              <a:gd name="adj" fmla="val 3871"/>
            </a:avLst>
          </a:prstGeom>
          <a:solidFill>
            <a:schemeClr val="tx2"/>
          </a:solidFill>
          <a:ln w="12700">
            <a:solidFill>
              <a:schemeClr val="tx2"/>
            </a:solidFill>
            <a:prstDash val="solid"/>
          </a:ln>
        </p:spPr>
      </p:sp>
      <p:sp>
        <p:nvSpPr>
          <p:cNvPr id="5" name="Icon circle"/>
          <p:cNvSpPr/>
          <p:nvPr/>
        </p:nvSpPr>
        <p:spPr>
          <a:xfrm>
            <a:off x="822960" y="1737360"/>
            <a:ext cx="685800" cy="68580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01268" y="1915668"/>
            <a:ext cx="329184" cy="329184"/>
          </a:xfrm>
          <a:prstGeom prst="rect">
            <a:avLst/>
          </a:prstGeom>
        </p:spPr>
      </p:pic>
      <p:sp>
        <p:nvSpPr>
          <p:cNvPr id="7" name="Text 3"/>
          <p:cNvSpPr txBox="1"/>
          <p:nvPr/>
        </p:nvSpPr>
        <p:spPr>
          <a:xfrm>
            <a:off x="1645920" y="1737360"/>
            <a:ext cx="228600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CRF</a:t>
            </a:r>
            <a:endParaRPr lang="en-US" sz="2400" dirty="0"/>
          </a:p>
        </p:txBody>
      </p:sp>
      <p:sp>
        <p:nvSpPr>
          <p:cNvPr id="8" name="Text 4"/>
          <p:cNvSpPr txBox="1"/>
          <p:nvPr/>
        </p:nvSpPr>
        <p:spPr>
          <a:xfrm>
            <a:off x="822960" y="2606040"/>
            <a:ext cx="3017520" cy="1645920"/>
          </a:xfrm>
          <a:prstGeom prst="rect">
            <a:avLst/>
          </a:prstGeom>
          <a:noFill/>
          <a:ln/>
        </p:spPr>
        <p:txBody>
          <a:bodyPr wrap="square" lIns="0" tIns="0" rIns="0" bIns="0" rtlCol="0" anchor="t"/>
          <a:lstStyle/>
          <a:p>
            <a:pPr indent="0" marL="0">
              <a:buNone/>
            </a:pPr>
            <a:r>
              <a:rPr lang="en-US" sz="1700" dirty="0">
                <a:solidFill>
                  <a:schemeClr val="bg1"/>
                </a:solidFill>
              </a:rPr>
              <a:t>Capital recovery: return of and on capital, financing, income and local taxes, G&amp;A</a:t>
            </a:r>
            <a:endParaRPr lang="en-US" sz="1700" dirty="0"/>
          </a:p>
        </p:txBody>
      </p:sp>
      <p:sp>
        <p:nvSpPr>
          <p:cNvPr id="9" name="Text 5"/>
          <p:cNvSpPr txBox="1"/>
          <p:nvPr/>
        </p:nvSpPr>
        <p:spPr>
          <a:xfrm>
            <a:off x="411480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0" name="Card"/>
          <p:cNvSpPr/>
          <p:nvPr/>
        </p:nvSpPr>
        <p:spPr>
          <a:xfrm>
            <a:off x="4572000" y="1508760"/>
            <a:ext cx="3291840" cy="2834640"/>
          </a:xfrm>
          <a:prstGeom prst="roundRect">
            <a:avLst>
              <a:gd name="adj" fmla="val 3871"/>
            </a:avLst>
          </a:prstGeom>
          <a:solidFill>
            <a:schemeClr val="tx2"/>
          </a:solidFill>
          <a:ln w="12700">
            <a:solidFill>
              <a:schemeClr val="tx2"/>
            </a:solidFill>
            <a:prstDash val="solid"/>
          </a:ln>
        </p:spPr>
      </p:sp>
      <p:sp>
        <p:nvSpPr>
          <p:cNvPr id="11" name="Icon circle"/>
          <p:cNvSpPr/>
          <p:nvPr/>
        </p:nvSpPr>
        <p:spPr>
          <a:xfrm>
            <a:off x="4846320" y="1737360"/>
            <a:ext cx="685800" cy="68580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5024628" y="1915668"/>
            <a:ext cx="329184" cy="329184"/>
          </a:xfrm>
          <a:prstGeom prst="rect">
            <a:avLst/>
          </a:prstGeom>
        </p:spPr>
      </p:pic>
      <p:sp>
        <p:nvSpPr>
          <p:cNvPr id="13" name="Text 8"/>
          <p:cNvSpPr txBox="1"/>
          <p:nvPr/>
        </p:nvSpPr>
        <p:spPr>
          <a:xfrm>
            <a:off x="5669280" y="1737360"/>
            <a:ext cx="201168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OM</a:t>
            </a:r>
            <a:endParaRPr lang="en-US" sz="2400" dirty="0"/>
          </a:p>
        </p:txBody>
      </p:sp>
      <p:sp>
        <p:nvSpPr>
          <p:cNvPr id="14" name="Text 9"/>
          <p:cNvSpPr txBox="1"/>
          <p:nvPr/>
        </p:nvSpPr>
        <p:spPr>
          <a:xfrm>
            <a:off x="4846320" y="2606040"/>
            <a:ext cx="2743200" cy="1645920"/>
          </a:xfrm>
          <a:prstGeom prst="rect">
            <a:avLst/>
          </a:prstGeom>
          <a:noFill/>
          <a:ln/>
        </p:spPr>
        <p:txBody>
          <a:bodyPr wrap="square" lIns="0" tIns="0" rIns="0" bIns="0" rtlCol="0" anchor="t"/>
          <a:lstStyle/>
          <a:p>
            <a:pPr indent="0" marL="0">
              <a:buNone/>
            </a:pPr>
            <a:r>
              <a:rPr lang="en-US" sz="1700" dirty="0">
                <a:solidFill>
                  <a:schemeClr val="bg1"/>
                </a:solidFill>
              </a:rPr>
              <a:t>Fixed O&amp;M and variable non-fuel O&amp;M of the plant</a:t>
            </a:r>
            <a:endParaRPr lang="en-US" sz="1700" dirty="0"/>
          </a:p>
        </p:txBody>
      </p:sp>
      <p:sp>
        <p:nvSpPr>
          <p:cNvPr id="15" name="Text 10"/>
          <p:cNvSpPr txBox="1"/>
          <p:nvPr/>
        </p:nvSpPr>
        <p:spPr>
          <a:xfrm>
            <a:off x="786384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6" name="Card"/>
          <p:cNvSpPr/>
          <p:nvPr/>
        </p:nvSpPr>
        <p:spPr>
          <a:xfrm>
            <a:off x="8321040" y="1508760"/>
            <a:ext cx="3291840" cy="2834640"/>
          </a:xfrm>
          <a:prstGeom prst="roundRect">
            <a:avLst>
              <a:gd name="adj" fmla="val 3871"/>
            </a:avLst>
          </a:prstGeom>
          <a:solidFill>
            <a:schemeClr val="accent3"/>
          </a:solidFill>
          <a:ln w="12700">
            <a:solidFill>
              <a:schemeClr val="accent3"/>
            </a:solidFill>
            <a:prstDash val="solid"/>
          </a:ln>
        </p:spPr>
      </p:sp>
      <p:sp>
        <p:nvSpPr>
          <p:cNvPr id="17" name="Text 12"/>
          <p:cNvSpPr txBox="1"/>
          <p:nvPr/>
        </p:nvSpPr>
        <p:spPr>
          <a:xfrm>
            <a:off x="8549640" y="1737360"/>
            <a:ext cx="2834640" cy="2377440"/>
          </a:xfrm>
          <a:prstGeom prst="rect">
            <a:avLst/>
          </a:prstGeom>
          <a:noFill/>
          <a:ln/>
        </p:spPr>
        <p:txBody>
          <a:bodyPr wrap="square" lIns="0" tIns="0" rIns="0" bIns="0" rtlCol="0" anchor="ctr"/>
          <a:lstStyle/>
          <a:p>
            <a:pPr indent="0" marL="0">
              <a:buNone/>
            </a:pPr>
            <a:r>
              <a:rPr lang="en-US" sz="2800" b="1" dirty="0">
                <a:solidFill>
                  <a:schemeClr val="tx1"/>
                </a:solidFill>
                <a:latin typeface="Calibri" pitchFamily="34" charset="0"/>
                <a:ea typeface="Calibri" pitchFamily="34" charset="-122"/>
                <a:cs typeface="Calibri" pitchFamily="34" charset="-120"/>
              </a:rPr>
              <a:t>GAT Price</a:t>
            </a:r>
            <a:endParaRPr lang="en-US" sz="2800" dirty="0"/>
          </a:p>
          <a:p>
            <a:pPr indent="0" marL="0">
              <a:buNone/>
            </a:pPr>
            <a:r>
              <a:rPr lang="en-US" sz="1700" dirty="0">
                <a:solidFill>
                  <a:schemeClr val="tx1"/>
                </a:solidFill>
                <a:latin typeface="Calibri" pitchFamily="34" charset="0"/>
                <a:ea typeface="Calibri" pitchFamily="34" charset="-122"/>
                <a:cs typeface="Calibri" pitchFamily="34" charset="-120"/>
              </a:rPr>
              <a:t>PhP/kWh price ceiling for each Facility Type</a:t>
            </a:r>
            <a:endParaRPr lang="en-US" sz="2800" dirty="0"/>
          </a:p>
        </p:txBody>
      </p:sp>
      <p:sp>
        <p:nvSpPr>
          <p:cNvPr id="18" name="Card"/>
          <p:cNvSpPr/>
          <p:nvPr/>
        </p:nvSpPr>
        <p:spPr>
          <a:xfrm>
            <a:off x="548640" y="4572000"/>
            <a:ext cx="11064240" cy="1188720"/>
          </a:xfrm>
          <a:prstGeom prst="roundRect">
            <a:avLst>
              <a:gd name="adj" fmla="val 9231"/>
            </a:avLst>
          </a:prstGeom>
          <a:solidFill>
            <a:schemeClr val="bg2"/>
          </a:solidFill>
          <a:ln w="12700">
            <a:solidFill>
              <a:schemeClr val="bg2"/>
            </a:solidFill>
            <a:prstDash val="solid"/>
          </a:ln>
        </p:spPr>
      </p:sp>
      <p:sp>
        <p:nvSpPr>
          <p:cNvPr id="19" name="Icon circle"/>
          <p:cNvSpPr/>
          <p:nvPr/>
        </p:nvSpPr>
        <p:spPr>
          <a:xfrm>
            <a:off x="777240" y="4800600"/>
            <a:ext cx="731520" cy="731520"/>
          </a:xfrm>
          <a:prstGeom prst="ellipse">
            <a:avLst/>
          </a:prstGeom>
          <a:solidFill>
            <a:schemeClr val="accent4"/>
          </a:solidFill>
          <a:ln w="12700">
            <a:solidFill>
              <a:schemeClr val="accent4"/>
            </a:solidFill>
            <a:prstDash val="solid"/>
          </a:ln>
        </p:spPr>
      </p:sp>
      <p:pic>
        <p:nvPicPr>
          <p:cNvPr id="20" name="Icon" descr="preencoded.png">    </p:cNvPr>
          <p:cNvPicPr>
            <a:picLocks noChangeAspect="1"/>
          </p:cNvPicPr>
          <p:nvPr/>
        </p:nvPicPr>
        <p:blipFill>
          <a:blip r:embed="rId3"/>
          <a:stretch>
            <a:fillRect/>
          </a:stretch>
        </p:blipFill>
        <p:spPr>
          <a:xfrm>
            <a:off x="967435" y="4990795"/>
            <a:ext cx="351130" cy="351130"/>
          </a:xfrm>
          <a:prstGeom prst="rect">
            <a:avLst/>
          </a:prstGeom>
        </p:spPr>
      </p:pic>
      <p:sp>
        <p:nvSpPr>
          <p:cNvPr id="21" name="Text 15"/>
          <p:cNvSpPr txBox="1"/>
          <p:nvPr/>
        </p:nvSpPr>
        <p:spPr>
          <a:xfrm>
            <a:off x="1737360" y="4663440"/>
            <a:ext cx="9692640" cy="1005840"/>
          </a:xfrm>
          <a:prstGeom prst="rect">
            <a:avLst/>
          </a:prstGeom>
          <a:noFill/>
          <a:ln/>
        </p:spPr>
        <p:txBody>
          <a:bodyPr wrap="square" lIns="0" tIns="0" rIns="0" bIns="0" rtlCol="0" anchor="ctr"/>
          <a:lstStyle/>
          <a:p>
            <a:pPr indent="0" marL="0">
              <a:buNone/>
            </a:pPr>
            <a:r>
              <a:rPr lang="en-US" sz="1700" b="1" dirty="0">
                <a:solidFill>
                  <a:schemeClr val="tx1"/>
                </a:solidFill>
              </a:rPr>
              <a:t>Outside the GAT Price: </a:t>
            </a:r>
            <a:pPr indent="0" marL="0">
              <a:buNone/>
            </a:pPr>
            <a:r>
              <a:rPr lang="en-US" sz="1700" dirty="0">
                <a:solidFill>
                  <a:schemeClr val="tx1"/>
                </a:solidFill>
              </a:rPr>
              <a:t>Fuel Cost = Fuel Commodity Cost + Capped Landed Logistics Cost (CLLC), recovered through the Fuel Cost Pass-Through against the Gas Price Benchmark and caps.</a:t>
            </a:r>
            <a:endParaRPr lang="en-US" sz="1700" dirty="0"/>
          </a:p>
        </p:txBody>
      </p:sp>
      <p:sp>
        <p:nvSpPr>
          <p:cNvPr id="22" name="Text 16"/>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Solved by iteration: equity NPV = 0 at the required equity return. Draft GAIR Secs. 8–9; DOE DC2026-06-0013 Sec. 7.2.</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Eleven reference cases, two dispatch views</a:t>
            </a:r>
            <a:endParaRPr lang="en-US" sz="3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011680"/>
                <a:gridCol w="1280160"/>
                <a:gridCol w="1371600"/>
                <a:gridCol w="2926080"/>
                <a:gridCol w="1554480"/>
                <a:gridCol w="1920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DOE lot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Grid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Capacity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Technologies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Delivery starts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Supply period (TOR)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1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1,400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(3 × 466.7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yrs + 5 yrs extension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2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(1 × 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2027</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440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B7280"/>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Mindanao</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No Mindanao lot in the DOE TOR; not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r>
            </a:tbl>
          </a:graphicData>
        </a:graphic>
      </p:graphicFrame>
      <p:sp>
        <p:nvSpPr>
          <p:cNvPr id="5" name="Card"/>
          <p:cNvSpPr/>
          <p:nvPr/>
        </p:nvSpPr>
        <p:spPr>
          <a:xfrm>
            <a:off x="548640" y="4709160"/>
            <a:ext cx="5394960" cy="1051560"/>
          </a:xfrm>
          <a:prstGeom prst="roundRect">
            <a:avLst>
              <a:gd name="adj" fmla="val 10435"/>
            </a:avLst>
          </a:prstGeom>
          <a:solidFill>
            <a:srgbClr val="D3EEEC"/>
          </a:solidFill>
          <a:ln w="12700">
            <a:solidFill>
              <a:srgbClr val="D3EEEC"/>
            </a:solidFill>
            <a:prstDash val="solid"/>
          </a:ln>
        </p:spPr>
      </p:sp>
      <p:sp>
        <p:nvSpPr>
          <p:cNvPr id="6" name="Text 2"/>
          <p:cNvSpPr txBox="1"/>
          <p:nvPr/>
        </p:nvSpPr>
        <p:spPr>
          <a:xfrm>
            <a:off x="777240" y="4754880"/>
            <a:ext cx="5029200" cy="960120"/>
          </a:xfrm>
          <a:prstGeom prst="rect">
            <a:avLst/>
          </a:prstGeom>
          <a:noFill/>
          <a:ln/>
        </p:spPr>
        <p:txBody>
          <a:bodyPr wrap="square" lIns="0" tIns="0" rIns="0" bIns="0" rtlCol="0" anchor="ctr"/>
          <a:lstStyle/>
          <a:p>
            <a:pPr indent="0" marL="0">
              <a:buNone/>
            </a:pPr>
            <a:r>
              <a:rPr lang="en-US" sz="1700" b="1" dirty="0">
                <a:solidFill>
                  <a:srgbClr val="1F8A8A"/>
                </a:solidFill>
              </a:rPr>
              <a:t>Case A – TOR view: </a:t>
            </a:r>
            <a:pPr indent="0" marL="0">
              <a:buNone/>
            </a:pPr>
            <a:r>
              <a:rPr lang="en-US" sz="1700" dirty="0">
                <a:solidFill>
                  <a:schemeClr val="tx1"/>
                </a:solidFill>
              </a:rPr>
              <a:t>capacity factor 42%, the top of every TOR band.</a:t>
            </a:r>
            <a:endParaRPr lang="en-US" sz="1700" dirty="0"/>
          </a:p>
        </p:txBody>
      </p:sp>
      <p:sp>
        <p:nvSpPr>
          <p:cNvPr id="7" name="Card"/>
          <p:cNvSpPr/>
          <p:nvPr/>
        </p:nvSpPr>
        <p:spPr>
          <a:xfrm>
            <a:off x="6217920" y="4709160"/>
            <a:ext cx="5394960" cy="1051560"/>
          </a:xfrm>
          <a:prstGeom prst="roundRect">
            <a:avLst>
              <a:gd name="adj" fmla="val 10435"/>
            </a:avLst>
          </a:prstGeom>
          <a:solidFill>
            <a:srgbClr val="E9E1F4"/>
          </a:solidFill>
          <a:ln w="12700">
            <a:solidFill>
              <a:srgbClr val="E9E1F4"/>
            </a:solidFill>
            <a:prstDash val="solid"/>
          </a:ln>
        </p:spPr>
      </p:sp>
      <p:sp>
        <p:nvSpPr>
          <p:cNvPr id="8" name="Text 4"/>
          <p:cNvSpPr txBox="1"/>
          <p:nvPr/>
        </p:nvSpPr>
        <p:spPr>
          <a:xfrm>
            <a:off x="6446520" y="4754880"/>
            <a:ext cx="5029200" cy="960120"/>
          </a:xfrm>
          <a:prstGeom prst="rect">
            <a:avLst/>
          </a:prstGeom>
          <a:noFill/>
          <a:ln/>
        </p:spPr>
        <p:txBody>
          <a:bodyPr wrap="square" lIns="0" tIns="0" rIns="0" bIns="0" rtlCol="0" anchor="ctr"/>
          <a:lstStyle/>
          <a:p>
            <a:pPr indent="0" marL="0">
              <a:buNone/>
            </a:pPr>
            <a:r>
              <a:rPr lang="en-US" sz="1700" b="1" dirty="0">
                <a:solidFill>
                  <a:srgbClr val="6C3FA0"/>
                </a:solidFill>
              </a:rPr>
              <a:t>Case B – historical view: </a:t>
            </a:r>
            <a:pPr indent="0" marL="0">
              <a:buNone/>
            </a:pPr>
            <a:r>
              <a:rPr lang="en-US" sz="1700" dirty="0">
                <a:solidFill>
                  <a:schemeClr val="tx1"/>
                </a:solidFill>
              </a:rPr>
              <a:t>actual dispatch of the gas fleet, Jan 2024–Sep 2026.</a:t>
            </a:r>
            <a:endParaRPr lang="en-US" sz="1700" dirty="0"/>
          </a:p>
        </p:txBody>
      </p:sp>
      <p:sp>
        <p:nvSpPr>
          <p:cNvPr id="9" name="Text 5"/>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Source: DOE Terms of Reference (Annex B), Secs. 1.1, 1.2, 4.2 and 18.3.</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Plant size and dispatch</a:t>
            </a:r>
            <a:endParaRPr lang="en-US" sz="3400" dirty="0"/>
          </a:p>
        </p:txBody>
      </p:sp>
      <p:sp>
        <p:nvSpPr>
          <p:cNvPr id="4" name="Card"/>
          <p:cNvSpPr/>
          <p:nvPr/>
        </p:nvSpPr>
        <p:spPr>
          <a:xfrm>
            <a:off x="548640" y="1417320"/>
            <a:ext cx="3520440" cy="2377440"/>
          </a:xfrm>
          <a:prstGeom prst="roundRect">
            <a:avLst>
              <a:gd name="adj" fmla="val 4615"/>
            </a:avLst>
          </a:prstGeom>
          <a:solidFill>
            <a:srgbClr val="D3EEEC"/>
          </a:solidFill>
          <a:ln w="12700">
            <a:solidFill>
              <a:srgbClr val="D3EEEC"/>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rgbClr val="1F8A8A"/>
                </a:solidFill>
                <a:latin typeface="Cambria" pitchFamily="34" charset="0"/>
                <a:ea typeface="Cambria" pitchFamily="34" charset="-122"/>
                <a:cs typeface="Cambria" pitchFamily="34" charset="-120"/>
              </a:rPr>
              <a:t>42%</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A</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Top of the TOR band (37%–42%)</a:t>
            </a:r>
            <a:endParaRPr lang="en-US" sz="1400" dirty="0"/>
          </a:p>
        </p:txBody>
      </p:sp>
      <p:sp>
        <p:nvSpPr>
          <p:cNvPr id="8" name="Card"/>
          <p:cNvSpPr/>
          <p:nvPr/>
        </p:nvSpPr>
        <p:spPr>
          <a:xfrm>
            <a:off x="4343400" y="1417320"/>
            <a:ext cx="3520440" cy="2377440"/>
          </a:xfrm>
          <a:prstGeom prst="roundRect">
            <a:avLst>
              <a:gd name="adj" fmla="val 4615"/>
            </a:avLst>
          </a:prstGeom>
          <a:solidFill>
            <a:srgbClr val="E9E1F4"/>
          </a:solidFill>
          <a:ln w="12700">
            <a:solidFill>
              <a:srgbClr val="E9E1F4"/>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3200" b="1" dirty="0">
                <a:solidFill>
                  <a:srgbClr val="6C3FA0"/>
                </a:solidFill>
                <a:latin typeface="Cambria" pitchFamily="34" charset="0"/>
                <a:ea typeface="Cambria" pitchFamily="34" charset="-122"/>
                <a:cs typeface="Cambria" pitchFamily="34" charset="-120"/>
              </a:rPr>
              <a:t>66.8% / 63.1%</a:t>
            </a:r>
            <a:endParaRPr lang="en-US" sz="32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B</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Existing fleet / whole fleet, Jan 2024–Sep 2026</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0.2% / yr</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Output degradation</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Applied from COD (draft Annex A.20)</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017520"/>
                <a:gridCol w="3840480"/>
                <a:gridCol w="4206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non-mid-merit energy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+24% capacity factor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TOR 4.2.2: paid Fuel Cost only, not the GAP</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Capacity factor basis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Net (own use 0%, efficiency 100%)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Capacity factor already net of own use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Standard unit sizes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500 MW; OCGT 220 MW; gas engine 20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TOR lot sizes split into standard units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17" name="Text 1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Case B source: MERALCO “Breakdown of Generation Charge” tables (plants supplying MERALCO), Jan 2024–Sep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Construction, operation and base year</a:t>
            </a:r>
            <a:endParaRPr lang="en-US" sz="3400" dirty="0"/>
          </a:p>
        </p:txBody>
      </p:sp>
      <p:sp>
        <p:nvSpPr>
          <p:cNvPr id="4" name="Card"/>
          <p:cNvSpPr/>
          <p:nvPr/>
        </p:nvSpPr>
        <p:spPr>
          <a:xfrm>
            <a:off x="548640" y="1463040"/>
            <a:ext cx="2560320" cy="2286000"/>
          </a:xfrm>
          <a:prstGeom prst="roundRect">
            <a:avLst>
              <a:gd name="adj" fmla="val 4800"/>
            </a:avLst>
          </a:prstGeom>
          <a:solidFill>
            <a:srgbClr val="DCE5EF"/>
          </a:solidFill>
          <a:ln w="12700">
            <a:solidFill>
              <a:srgbClr val="DCE5EF"/>
            </a:solidFill>
            <a:prstDash val="solid"/>
          </a:ln>
        </p:spPr>
      </p:sp>
      <p:sp>
        <p:nvSpPr>
          <p:cNvPr id="5" name="Text 2"/>
          <p:cNvSpPr txBox="1"/>
          <p:nvPr/>
        </p:nvSpPr>
        <p:spPr>
          <a:xfrm>
            <a:off x="731520" y="1600200"/>
            <a:ext cx="2194560" cy="914400"/>
          </a:xfrm>
          <a:prstGeom prst="rect">
            <a:avLst/>
          </a:prstGeom>
          <a:noFill/>
          <a:ln/>
        </p:spPr>
        <p:txBody>
          <a:bodyPr wrap="square" lIns="0" tIns="0" rIns="0" bIns="0" rtlCol="0" anchor="ctr"/>
          <a:lstStyle/>
          <a:p>
            <a:pPr indent="0" marL="0">
              <a:buNone/>
            </a:pPr>
            <a:r>
              <a:rPr lang="en-US" sz="4800" b="1" dirty="0">
                <a:solidFill>
                  <a:srgbClr val="14324F"/>
                </a:solidFill>
                <a:latin typeface="Cambria" pitchFamily="34" charset="0"/>
                <a:ea typeface="Cambria" pitchFamily="34" charset="-122"/>
                <a:cs typeface="Cambria" pitchFamily="34" charset="-120"/>
              </a:rPr>
              <a:t>0</a:t>
            </a:r>
            <a:endParaRPr lang="en-US" sz="4800" dirty="0"/>
          </a:p>
        </p:txBody>
      </p:sp>
      <p:sp>
        <p:nvSpPr>
          <p:cNvPr id="6" name="Text 3"/>
          <p:cNvSpPr txBox="1"/>
          <p:nvPr/>
        </p:nvSpPr>
        <p:spPr>
          <a:xfrm>
            <a:off x="73152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7" name="Text 4"/>
          <p:cNvSpPr txBox="1"/>
          <p:nvPr/>
        </p:nvSpPr>
        <p:spPr>
          <a:xfrm>
            <a:off x="73152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Existing CCGT (Lots 1, 2)</a:t>
            </a:r>
            <a:endParaRPr lang="en-US" sz="1900" dirty="0"/>
          </a:p>
        </p:txBody>
      </p:sp>
      <p:sp>
        <p:nvSpPr>
          <p:cNvPr id="8" name="Text 5"/>
          <p:cNvSpPr txBox="1"/>
          <p:nvPr/>
        </p:nvSpPr>
        <p:spPr>
          <a:xfrm>
            <a:off x="73152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2028</a:t>
            </a:r>
            <a:endParaRPr lang="en-US" sz="1500" dirty="0"/>
          </a:p>
        </p:txBody>
      </p:sp>
      <p:sp>
        <p:nvSpPr>
          <p:cNvPr id="9" name="Card"/>
          <p:cNvSpPr/>
          <p:nvPr/>
        </p:nvSpPr>
        <p:spPr>
          <a:xfrm>
            <a:off x="3337560" y="1463040"/>
            <a:ext cx="2560320" cy="2286000"/>
          </a:xfrm>
          <a:prstGeom prst="roundRect">
            <a:avLst>
              <a:gd name="adj" fmla="val 4800"/>
            </a:avLst>
          </a:prstGeom>
          <a:solidFill>
            <a:srgbClr val="DDEFDD"/>
          </a:solidFill>
          <a:ln w="12700">
            <a:solidFill>
              <a:srgbClr val="DDEFDD"/>
            </a:solidFill>
            <a:prstDash val="solid"/>
          </a:ln>
        </p:spPr>
      </p:sp>
      <p:sp>
        <p:nvSpPr>
          <p:cNvPr id="10" name="Text 7"/>
          <p:cNvSpPr txBox="1"/>
          <p:nvPr/>
        </p:nvSpPr>
        <p:spPr>
          <a:xfrm>
            <a:off x="352044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36</a:t>
            </a:r>
            <a:endParaRPr lang="en-US" sz="4800" dirty="0"/>
          </a:p>
        </p:txBody>
      </p:sp>
      <p:sp>
        <p:nvSpPr>
          <p:cNvPr id="11" name="Text 8"/>
          <p:cNvSpPr txBox="1"/>
          <p:nvPr/>
        </p:nvSpPr>
        <p:spPr>
          <a:xfrm>
            <a:off x="352044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2" name="Text 9"/>
          <p:cNvSpPr txBox="1"/>
          <p:nvPr/>
        </p:nvSpPr>
        <p:spPr>
          <a:xfrm>
            <a:off x="352044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CCGT</a:t>
            </a:r>
            <a:endParaRPr lang="en-US" sz="1900" dirty="0"/>
          </a:p>
        </p:txBody>
      </p:sp>
      <p:sp>
        <p:nvSpPr>
          <p:cNvPr id="13" name="Text 10"/>
          <p:cNvSpPr txBox="1"/>
          <p:nvPr/>
        </p:nvSpPr>
        <p:spPr>
          <a:xfrm>
            <a:off x="352044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2031</a:t>
            </a:r>
            <a:endParaRPr lang="en-US" sz="1500" dirty="0"/>
          </a:p>
        </p:txBody>
      </p:sp>
      <p:sp>
        <p:nvSpPr>
          <p:cNvPr id="14" name="Card"/>
          <p:cNvSpPr/>
          <p:nvPr/>
        </p:nvSpPr>
        <p:spPr>
          <a:xfrm>
            <a:off x="6126480" y="1463040"/>
            <a:ext cx="2560320" cy="2286000"/>
          </a:xfrm>
          <a:prstGeom prst="roundRect">
            <a:avLst>
              <a:gd name="adj" fmla="val 4800"/>
            </a:avLst>
          </a:prstGeom>
          <a:solidFill>
            <a:srgbClr val="DDEFDD"/>
          </a:solidFill>
          <a:ln w="12700">
            <a:solidFill>
              <a:srgbClr val="DDEFDD"/>
            </a:solidFill>
            <a:prstDash val="solid"/>
          </a:ln>
        </p:spPr>
      </p:sp>
      <p:sp>
        <p:nvSpPr>
          <p:cNvPr id="15" name="Text 12"/>
          <p:cNvSpPr txBox="1"/>
          <p:nvPr/>
        </p:nvSpPr>
        <p:spPr>
          <a:xfrm>
            <a:off x="630936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24</a:t>
            </a:r>
            <a:endParaRPr lang="en-US" sz="4800" dirty="0"/>
          </a:p>
        </p:txBody>
      </p:sp>
      <p:sp>
        <p:nvSpPr>
          <p:cNvPr id="16" name="Text 13"/>
          <p:cNvSpPr txBox="1"/>
          <p:nvPr/>
        </p:nvSpPr>
        <p:spPr>
          <a:xfrm>
            <a:off x="630936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7" name="Text 14"/>
          <p:cNvSpPr txBox="1"/>
          <p:nvPr/>
        </p:nvSpPr>
        <p:spPr>
          <a:xfrm>
            <a:off x="630936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OCGT</a:t>
            </a:r>
            <a:endParaRPr lang="en-US" sz="1900" dirty="0"/>
          </a:p>
        </p:txBody>
      </p:sp>
      <p:sp>
        <p:nvSpPr>
          <p:cNvPr id="18" name="Text 15"/>
          <p:cNvSpPr txBox="1"/>
          <p:nvPr/>
        </p:nvSpPr>
        <p:spPr>
          <a:xfrm>
            <a:off x="630936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sp>
        <p:nvSpPr>
          <p:cNvPr id="19" name="Card"/>
          <p:cNvSpPr/>
          <p:nvPr/>
        </p:nvSpPr>
        <p:spPr>
          <a:xfrm>
            <a:off x="8915400" y="1463040"/>
            <a:ext cx="2560320" cy="2286000"/>
          </a:xfrm>
          <a:prstGeom prst="roundRect">
            <a:avLst>
              <a:gd name="adj" fmla="val 4800"/>
            </a:avLst>
          </a:prstGeom>
          <a:solidFill>
            <a:srgbClr val="DDEFDD"/>
          </a:solidFill>
          <a:ln w="12700">
            <a:solidFill>
              <a:srgbClr val="DDEFDD"/>
            </a:solidFill>
            <a:prstDash val="solid"/>
          </a:ln>
        </p:spPr>
      </p:sp>
      <p:sp>
        <p:nvSpPr>
          <p:cNvPr id="20" name="Text 17"/>
          <p:cNvSpPr txBox="1"/>
          <p:nvPr/>
        </p:nvSpPr>
        <p:spPr>
          <a:xfrm>
            <a:off x="909828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18</a:t>
            </a:r>
            <a:endParaRPr lang="en-US" sz="4800" dirty="0"/>
          </a:p>
        </p:txBody>
      </p:sp>
      <p:sp>
        <p:nvSpPr>
          <p:cNvPr id="21" name="Text 18"/>
          <p:cNvSpPr txBox="1"/>
          <p:nvPr/>
        </p:nvSpPr>
        <p:spPr>
          <a:xfrm>
            <a:off x="909828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22" name="Text 19"/>
          <p:cNvSpPr txBox="1"/>
          <p:nvPr/>
        </p:nvSpPr>
        <p:spPr>
          <a:xfrm>
            <a:off x="909828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gas engine</a:t>
            </a:r>
            <a:endParaRPr lang="en-US" sz="1900" dirty="0"/>
          </a:p>
        </p:txBody>
      </p:sp>
      <p:sp>
        <p:nvSpPr>
          <p:cNvPr id="23" name="Text 20"/>
          <p:cNvSpPr txBox="1"/>
          <p:nvPr/>
        </p:nvSpPr>
        <p:spPr>
          <a:xfrm>
            <a:off x="909828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291840"/>
                <a:gridCol w="3291840"/>
                <a:gridCol w="44805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Operating (cost-recovery)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30 years from COD, all plants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plant economic life (draft Annex A.8)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Base year for costs and FX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Mid-Merit Financial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Construction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As above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Typical EPC schedules by technology (draft Annex A.7)</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All-in project cost</a:t>
            </a:r>
            <a:endParaRPr lang="en-US" sz="3400" dirty="0"/>
          </a:p>
        </p:txBody>
      </p:sp>
      <p:sp>
        <p:nvSpPr>
          <p:cNvPr id="4" name="Card"/>
          <p:cNvSpPr/>
          <p:nvPr/>
        </p:nvSpPr>
        <p:spPr>
          <a:xfrm>
            <a:off x="548640" y="1417320"/>
            <a:ext cx="2651760" cy="2377440"/>
          </a:xfrm>
          <a:prstGeom prst="roundRect">
            <a:avLst>
              <a:gd name="adj" fmla="val 4615"/>
            </a:avLst>
          </a:prstGeom>
          <a:solidFill>
            <a:srgbClr val="DCE5EF"/>
          </a:solidFill>
          <a:ln w="12700">
            <a:solidFill>
              <a:srgbClr val="DCE5EF"/>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rgbClr val="14324F"/>
                </a:solidFill>
                <a:latin typeface="Cambria" pitchFamily="34" charset="0"/>
                <a:ea typeface="Cambria" pitchFamily="34" charset="-122"/>
                <a:cs typeface="Cambria" pitchFamily="34" charset="-120"/>
              </a:rPr>
              <a:t>US$450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Existing CCGT</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 Lots 1 and 2</a:t>
            </a:r>
            <a:endParaRPr lang="en-US" sz="1400" dirty="0"/>
          </a:p>
        </p:txBody>
      </p:sp>
      <p:sp>
        <p:nvSpPr>
          <p:cNvPr id="8" name="Card"/>
          <p:cNvSpPr/>
          <p:nvPr/>
        </p:nvSpPr>
        <p:spPr>
          <a:xfrm>
            <a:off x="3355848" y="1417320"/>
            <a:ext cx="2651760" cy="2377440"/>
          </a:xfrm>
          <a:prstGeom prst="roundRect">
            <a:avLst>
              <a:gd name="adj" fmla="val 4615"/>
            </a:avLst>
          </a:prstGeom>
          <a:solidFill>
            <a:srgbClr val="DDEFDD"/>
          </a:solidFill>
          <a:ln w="12700">
            <a:solidFill>
              <a:srgbClr val="DDEFDD"/>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US$1,200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CCGT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2" name="Card"/>
          <p:cNvSpPr/>
          <p:nvPr/>
        </p:nvSpPr>
        <p:spPr>
          <a:xfrm>
            <a:off x="6163056" y="1417320"/>
            <a:ext cx="2651760" cy="2377440"/>
          </a:xfrm>
          <a:prstGeom prst="roundRect">
            <a:avLst>
              <a:gd name="adj" fmla="val 4615"/>
            </a:avLst>
          </a:prstGeom>
          <a:solidFill>
            <a:srgbClr val="DDEFDD"/>
          </a:solidFill>
          <a:ln w="12700">
            <a:solidFill>
              <a:srgbClr val="DDEFDD"/>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US$1,100</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gas engine</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6" name="Card"/>
          <p:cNvSpPr/>
          <p:nvPr/>
        </p:nvSpPr>
        <p:spPr>
          <a:xfrm>
            <a:off x="8970264" y="1417320"/>
            <a:ext cx="2651760" cy="2377440"/>
          </a:xfrm>
          <a:prstGeom prst="roundRect">
            <a:avLst>
              <a:gd name="adj" fmla="val 4615"/>
            </a:avLst>
          </a:prstGeom>
          <a:solidFill>
            <a:srgbClr val="DDEFDD"/>
          </a:solidFill>
          <a:ln w="12700">
            <a:solidFill>
              <a:srgbClr val="DDEFDD"/>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US$700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OCGT</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20"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21"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22"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23" name="Text 19"/>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700" b="1" dirty="0">
                <a:solidFill>
                  <a:schemeClr val="tx1"/>
                </a:solidFill>
              </a:rPr>
              <a:t>Basis: </a:t>
            </a:r>
            <a:pPr indent="0" marL="0">
              <a:buNone/>
            </a:pPr>
            <a:r>
              <a:rPr lang="en-US" sz="1700" dirty="0">
                <a:solidFill>
                  <a:schemeClr val="tx1"/>
                </a:solidFill>
              </a:rPr>
              <a:t>new-build values (green; same for Luzon and Visayas) set at current market levels (October 2026); existing plants (Lots 1 and 2) at a brownfield value. Costs are all-in and per kW of gross installed capacity (draft Annex A.3). The model calibrates equipment cost so the all-in total equals these targets.</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makes up the all-in cost</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749040"/>
                <a:gridCol w="4206240"/>
                <a:gridCol w="31089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Item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Balance of plant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21%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Insurance, ocean freight, local transport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Development and other costs (land, permits)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15%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Contingency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 of total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Initial working capital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11.03%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Interconnection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 km line at US$40k/km; switchyard US$786k; 1 km road at US$182k/km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Major refurbishment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of EPC in year 15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Salvage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received in the final year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Draft GAIR Sec. 8.8.7 (Annex A.23)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Operating and overhead costs</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291840"/>
                <a:gridCol w="2743200"/>
                <a:gridCol w="3200400"/>
                <a:gridCol w="182880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Fixed O&amp;M (US$/kW-yr)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Variable non-fuel O&amp;M (US$/MWh)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G&amp;A</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Existing CCGT (Lots 1, 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CCGT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OCGT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8.50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gas engine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16.50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3.80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bl>
          </a:graphicData>
        </a:graphic>
      </p:graphicFrame>
      <p:sp>
        <p:nvSpPr>
          <p:cNvPr id="5" name="Card"/>
          <p:cNvSpPr/>
          <p:nvPr/>
        </p:nvSpPr>
        <p:spPr>
          <a:xfrm>
            <a:off x="548640" y="4160520"/>
            <a:ext cx="5394960" cy="1600200"/>
          </a:xfrm>
          <a:prstGeom prst="roundRect">
            <a:avLst>
              <a:gd name="adj" fmla="val 6857"/>
            </a:avLst>
          </a:prstGeom>
          <a:solidFill>
            <a:schemeClr val="bg2"/>
          </a:solidFill>
          <a:ln w="12700">
            <a:solidFill>
              <a:schemeClr val="bg2"/>
            </a:solidFill>
            <a:prstDash val="solid"/>
          </a:ln>
        </p:spPr>
      </p:sp>
      <p:sp>
        <p:nvSpPr>
          <p:cNvPr id="6" name="Icon circle"/>
          <p:cNvSpPr/>
          <p:nvPr/>
        </p:nvSpPr>
        <p:spPr>
          <a:xfrm>
            <a:off x="777240" y="4434840"/>
            <a:ext cx="731520" cy="731520"/>
          </a:xfrm>
          <a:prstGeom prst="ellipse">
            <a:avLst/>
          </a:prstGeom>
          <a:solidFill>
            <a:schemeClr val="accent2"/>
          </a:solidFill>
          <a:ln w="12700">
            <a:solidFill>
              <a:schemeClr val="accent2"/>
            </a:solidFill>
            <a:prstDash val="solid"/>
          </a:ln>
        </p:spPr>
      </p:sp>
      <p:pic>
        <p:nvPicPr>
          <p:cNvPr id="7" name="Icon" descr="preencoded.png">    </p:cNvPr>
          <p:cNvPicPr>
            <a:picLocks noChangeAspect="1"/>
          </p:cNvPicPr>
          <p:nvPr/>
        </p:nvPicPr>
        <p:blipFill>
          <a:blip r:embed="rId1"/>
          <a:stretch>
            <a:fillRect/>
          </a:stretch>
        </p:blipFill>
        <p:spPr>
          <a:xfrm>
            <a:off x="967435" y="4625035"/>
            <a:ext cx="351130" cy="351130"/>
          </a:xfrm>
          <a:prstGeom prst="rect">
            <a:avLst/>
          </a:prstGeom>
        </p:spPr>
      </p:pic>
      <p:sp>
        <p:nvSpPr>
          <p:cNvPr id="8" name="Text 3"/>
          <p:cNvSpPr txBox="1"/>
          <p:nvPr/>
        </p:nvSpPr>
        <p:spPr>
          <a:xfrm>
            <a:off x="169164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Basis: ERC model O&amp;M inputs; G&amp;A at 6% of fixed plus variable O&amp;M (corporate overhead standard, draft Annex A.6).</a:t>
            </a:r>
            <a:endParaRPr lang="en-US" sz="1600" dirty="0"/>
          </a:p>
        </p:txBody>
      </p:sp>
      <p:sp>
        <p:nvSpPr>
          <p:cNvPr id="9" name="Card"/>
          <p:cNvSpPr/>
          <p:nvPr/>
        </p:nvSpPr>
        <p:spPr>
          <a:xfrm>
            <a:off x="6217920" y="4160520"/>
            <a:ext cx="5394960" cy="1600200"/>
          </a:xfrm>
          <a:prstGeom prst="roundRect">
            <a:avLst>
              <a:gd name="adj" fmla="val 6857"/>
            </a:avLst>
          </a:prstGeom>
          <a:solidFill>
            <a:schemeClr val="accent6"/>
          </a:solidFill>
          <a:ln w="12700">
            <a:solidFill>
              <a:schemeClr val="accent6"/>
            </a:solidFill>
            <a:prstDash val="solid"/>
          </a:ln>
        </p:spPr>
      </p:sp>
      <p:sp>
        <p:nvSpPr>
          <p:cNvPr id="10" name="Icon circle"/>
          <p:cNvSpPr/>
          <p:nvPr/>
        </p:nvSpPr>
        <p:spPr>
          <a:xfrm>
            <a:off x="6446520" y="4434840"/>
            <a:ext cx="731520" cy="731520"/>
          </a:xfrm>
          <a:prstGeom prst="ellipse">
            <a:avLst/>
          </a:prstGeom>
          <a:solidFill>
            <a:schemeClr val="accent3"/>
          </a:solidFill>
          <a:ln w="12700">
            <a:solidFill>
              <a:schemeClr val="accent3"/>
            </a:solidFill>
            <a:prstDash val="solid"/>
          </a:ln>
        </p:spPr>
      </p:sp>
      <p:pic>
        <p:nvPicPr>
          <p:cNvPr id="11" name="Icon" descr="preencoded.png">    </p:cNvPr>
          <p:cNvPicPr>
            <a:picLocks noChangeAspect="1"/>
          </p:cNvPicPr>
          <p:nvPr/>
        </p:nvPicPr>
        <p:blipFill>
          <a:blip r:embed="rId2"/>
          <a:stretch>
            <a:fillRect/>
          </a:stretch>
        </p:blipFill>
        <p:spPr>
          <a:xfrm>
            <a:off x="6636715" y="4625035"/>
            <a:ext cx="351130" cy="351130"/>
          </a:xfrm>
          <a:prstGeom prst="rect">
            <a:avLst/>
          </a:prstGeom>
        </p:spPr>
      </p:pic>
      <p:sp>
        <p:nvSpPr>
          <p:cNvPr id="12" name="Text 6"/>
          <p:cNvSpPr txBox="1"/>
          <p:nvPr/>
        </p:nvSpPr>
        <p:spPr>
          <a:xfrm>
            <a:off x="736092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Excluded: fuel, and logistics (regasification, pipeline, storage). These are recovered through the Fuel Cost, within caps.</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Financing assumptions</a:t>
            </a:r>
            <a:endParaRPr lang="en-US" sz="3400" dirty="0"/>
          </a:p>
        </p:txBody>
      </p:sp>
      <p:sp>
        <p:nvSpPr>
          <p:cNvPr id="4" name="Card"/>
          <p:cNvSpPr/>
          <p:nvPr/>
        </p:nvSpPr>
        <p:spPr>
          <a:xfrm>
            <a:off x="548640" y="1417320"/>
            <a:ext cx="265176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70 : 30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 equity</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Project-finance standard (A.9)</a:t>
            </a:r>
            <a:endParaRPr lang="en-US" sz="1400" dirty="0"/>
          </a:p>
        </p:txBody>
      </p:sp>
      <p:sp>
        <p:nvSpPr>
          <p:cNvPr id="8" name="Card"/>
          <p:cNvSpPr/>
          <p:nvPr/>
        </p:nvSpPr>
        <p:spPr>
          <a:xfrm>
            <a:off x="3355848" y="1417320"/>
            <a:ext cx="265176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8.0%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Cost of debt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pre-tax (A.10)</a:t>
            </a:r>
            <a:endParaRPr lang="en-US" sz="1400" dirty="0"/>
          </a:p>
        </p:txBody>
      </p:sp>
      <p:sp>
        <p:nvSpPr>
          <p:cNvPr id="12" name="Card"/>
          <p:cNvSpPr/>
          <p:nvPr/>
        </p:nvSpPr>
        <p:spPr>
          <a:xfrm>
            <a:off x="6163056" y="1417320"/>
            <a:ext cx="265176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15 yrs</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tenor</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(A.11)</a:t>
            </a:r>
            <a:endParaRPr lang="en-US" sz="1400" dirty="0"/>
          </a:p>
        </p:txBody>
      </p:sp>
      <p:sp>
        <p:nvSpPr>
          <p:cNvPr id="16" name="Card"/>
          <p:cNvSpPr/>
          <p:nvPr/>
        </p:nvSpPr>
        <p:spPr>
          <a:xfrm>
            <a:off x="8970264" y="1417320"/>
            <a:ext cx="2651760" cy="2377440"/>
          </a:xfrm>
          <a:prstGeom prst="roundRect">
            <a:avLst>
              <a:gd name="adj" fmla="val 4615"/>
            </a:avLst>
          </a:prstGeom>
          <a:solidFill>
            <a:schemeClr val="bg2"/>
          </a:solidFill>
          <a:ln w="12700">
            <a:solidFill>
              <a:schemeClr val="bg2"/>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14.0%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Required equity return</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Nominal; CAPM range 12%–14% (A.12)</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657600"/>
                <a:gridCol w="3657600"/>
                <a:gridCol w="3749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Grace period | debt service reserve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months from COD | 6 months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Upfront fees | commitment fees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Resulting WACC (reference only)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9.8% (pre-tax 11.2%; after-tax 8.4%)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result, draft GAIR Sec. 8.8.8 check</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Taxes and incentives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3291840"/>
                <a:gridCol w="38404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Tax / charge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Corporate income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25%; no income tax holiday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CREATE Act; no BOI/PEZA incentive assumed (A.14)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Real property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 on 80% assessment level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 A.26)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Local business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ER 1-94 host-community benefit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PhP 0.03/kWh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DOE DC2025-10-0023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VAT on imported equipment | customs duty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12% | 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NIRC Sec. 107; ERC model default (A.22)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Withholding tax | GRT | documentary stamp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 1%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On interest and loan documents; NIRC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Exchange rate and inflation</a:t>
            </a:r>
            <a:endParaRPr lang="en-US" sz="3400" dirty="0"/>
          </a:p>
        </p:txBody>
      </p:sp>
      <p:sp>
        <p:nvSpPr>
          <p:cNvPr id="4" name="Card"/>
          <p:cNvSpPr/>
          <p:nvPr/>
        </p:nvSpPr>
        <p:spPr>
          <a:xfrm>
            <a:off x="548640" y="1417320"/>
            <a:ext cx="352044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PhP 62.756</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per US$</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BSP reference rate, 25 Sep 2026 (A.16)</a:t>
            </a:r>
            <a:endParaRPr lang="en-US" sz="1400" dirty="0"/>
          </a:p>
        </p:txBody>
      </p:sp>
      <p:sp>
        <p:nvSpPr>
          <p:cNvPr id="8" name="Card"/>
          <p:cNvSpPr/>
          <p:nvPr/>
        </p:nvSpPr>
        <p:spPr>
          <a:xfrm>
            <a:off x="4343400" y="1417320"/>
            <a:ext cx="352044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Annual escalation</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Real terms; GAT Price not indexed (draft Sec. 8.9)</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30 days</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Working-capital cycle</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Receivables, payables, inventory</a:t>
            </a:r>
            <a:endParaRPr lang="en-US" sz="1400" dirty="0"/>
          </a:p>
        </p:txBody>
      </p:sp>
      <p:sp>
        <p:nvSpPr>
          <p:cNvPr id="16"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17"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18"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19" name="Text 15"/>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800" dirty="0">
                <a:solidFill>
                  <a:schemeClr val="tx1"/>
                </a:solidFill>
              </a:rPr>
              <a:t>The GAT Price and each Gas Auction Price are fixed in PhP/kWh for the term of the award, with no foreign-exchange indexation or pass-through (draft GAIR Sec. 8.5).</a:t>
            </a:r>
            <a:endParaRPr lang="en-US" sz="18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Complete parameter list</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All 115 model parameters in nine groups: value, type and basis for each</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to read the parameter tables</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8321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Column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it shows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line item, with its unit and the draft Annex A item where one applies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Type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How the value is set (colour key below)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 (teal) = TOR capacity factor; B (purple) = historical; “A = B” when both give the same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Value for each Luzon case; headers coloured by lot (Visayas on its own slides)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Where the value comes from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5" name="Type key"/>
          <p:cNvSpPr/>
          <p:nvPr/>
        </p:nvSpPr>
        <p:spPr>
          <a:xfrm>
            <a:off x="548640" y="4206240"/>
            <a:ext cx="3474720" cy="1417320"/>
          </a:xfrm>
          <a:prstGeom prst="roundRect">
            <a:avLst>
              <a:gd name="adj" fmla="val 7742"/>
            </a:avLst>
          </a:prstGeom>
          <a:solidFill>
            <a:srgbClr val="C6E3E1"/>
          </a:solidFill>
          <a:ln w="12700">
            <a:solidFill>
              <a:srgbClr val="C6E3E1"/>
            </a:solidFill>
            <a:prstDash val="solid"/>
          </a:ln>
        </p:spPr>
      </p:sp>
      <p:sp>
        <p:nvSpPr>
          <p:cNvPr id="6" name="Text 2"/>
          <p:cNvSpPr txBox="1"/>
          <p:nvPr/>
        </p:nvSpPr>
        <p:spPr>
          <a:xfrm>
            <a:off x="77724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Input</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Typed into the model; open for comment</a:t>
            </a:r>
            <a:endParaRPr lang="en-US" sz="2000" dirty="0"/>
          </a:p>
        </p:txBody>
      </p:sp>
      <p:sp>
        <p:nvSpPr>
          <p:cNvPr id="7" name="Type key"/>
          <p:cNvSpPr/>
          <p:nvPr/>
        </p:nvSpPr>
        <p:spPr>
          <a:xfrm>
            <a:off x="4297680" y="4206240"/>
            <a:ext cx="3474720" cy="1417320"/>
          </a:xfrm>
          <a:prstGeom prst="roundRect">
            <a:avLst>
              <a:gd name="adj" fmla="val 7742"/>
            </a:avLst>
          </a:prstGeom>
          <a:solidFill>
            <a:srgbClr val="EEF3F7"/>
          </a:solidFill>
          <a:ln w="12700">
            <a:solidFill>
              <a:srgbClr val="EEF3F7"/>
            </a:solidFill>
            <a:prstDash val="solid"/>
          </a:ln>
        </p:spPr>
      </p:sp>
      <p:sp>
        <p:nvSpPr>
          <p:cNvPr id="8" name="Text 4"/>
          <p:cNvSpPr txBox="1"/>
          <p:nvPr/>
        </p:nvSpPr>
        <p:spPr>
          <a:xfrm>
            <a:off x="452628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Calculated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Follows from the inputs</a:t>
            </a:r>
            <a:endParaRPr lang="en-US" sz="2000" dirty="0"/>
          </a:p>
        </p:txBody>
      </p:sp>
      <p:sp>
        <p:nvSpPr>
          <p:cNvPr id="9" name="Type key"/>
          <p:cNvSpPr/>
          <p:nvPr/>
        </p:nvSpPr>
        <p:spPr>
          <a:xfrm>
            <a:off x="8046720" y="4206240"/>
            <a:ext cx="3474720" cy="1417320"/>
          </a:xfrm>
          <a:prstGeom prst="roundRect">
            <a:avLst>
              <a:gd name="adj" fmla="val 7742"/>
            </a:avLst>
          </a:prstGeom>
          <a:solidFill>
            <a:srgbClr val="FBE7C6"/>
          </a:solidFill>
          <a:ln w="12700">
            <a:solidFill>
              <a:srgbClr val="FBE7C6"/>
            </a:solidFill>
            <a:prstDash val="solid"/>
          </a:ln>
        </p:spPr>
      </p:sp>
      <p:sp>
        <p:nvSpPr>
          <p:cNvPr id="10" name="Text 6"/>
          <p:cNvSpPr txBox="1"/>
          <p:nvPr/>
        </p:nvSpPr>
        <p:spPr>
          <a:xfrm>
            <a:off x="827532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Calibrated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Solved so the all-in cost equals its target</a:t>
            </a:r>
            <a:endParaRPr lang="en-US" sz="20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Colour key: cases, lots and regions</a:t>
            </a:r>
            <a:endParaRPr lang="en-US" sz="3400" dirty="0"/>
          </a:p>
        </p:txBody>
      </p:sp>
      <p:sp>
        <p:nvSpPr>
          <p:cNvPr id="4" name="Card"/>
          <p:cNvSpPr/>
          <p:nvPr/>
        </p:nvSpPr>
        <p:spPr>
          <a:xfrm>
            <a:off x="548640" y="1371600"/>
            <a:ext cx="5440680" cy="1234440"/>
          </a:xfrm>
          <a:prstGeom prst="roundRect">
            <a:avLst>
              <a:gd name="adj" fmla="val 8889"/>
            </a:avLst>
          </a:prstGeom>
          <a:solidFill>
            <a:srgbClr val="D3EEEC"/>
          </a:solidFill>
          <a:ln w="12700">
            <a:solidFill>
              <a:srgbClr val="D3EEEC"/>
            </a:solidFill>
            <a:prstDash val="solid"/>
          </a:ln>
        </p:spPr>
      </p:sp>
      <p:sp>
        <p:nvSpPr>
          <p:cNvPr id="5" name="Case chip"/>
          <p:cNvSpPr/>
          <p:nvPr/>
        </p:nvSpPr>
        <p:spPr>
          <a:xfrm>
            <a:off x="822960" y="1572768"/>
            <a:ext cx="822960" cy="822960"/>
          </a:xfrm>
          <a:prstGeom prst="ellipse">
            <a:avLst/>
          </a:prstGeom>
          <a:solidFill>
            <a:srgbClr val="1F8A8A"/>
          </a:solidFill>
          <a:ln w="12700">
            <a:solidFill>
              <a:srgbClr val="1F8A8A"/>
            </a:solidFill>
            <a:prstDash val="solid"/>
          </a:ln>
        </p:spPr>
      </p:sp>
      <p:sp>
        <p:nvSpPr>
          <p:cNvPr id="6" name="Text 3"/>
          <p:cNvSpPr txBox="1"/>
          <p:nvPr/>
        </p:nvSpPr>
        <p:spPr>
          <a:xfrm>
            <a:off x="822960" y="1572768"/>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A</a:t>
            </a:r>
            <a:endParaRPr lang="en-US" sz="3000" dirty="0"/>
          </a:p>
        </p:txBody>
      </p:sp>
      <p:sp>
        <p:nvSpPr>
          <p:cNvPr id="7" name="Text 4"/>
          <p:cNvSpPr txBox="1"/>
          <p:nvPr/>
        </p:nvSpPr>
        <p:spPr>
          <a:xfrm>
            <a:off x="1874520" y="1463040"/>
            <a:ext cx="3931920" cy="1051560"/>
          </a:xfrm>
          <a:prstGeom prst="rect">
            <a:avLst/>
          </a:prstGeom>
          <a:noFill/>
          <a:ln/>
        </p:spPr>
        <p:txBody>
          <a:bodyPr wrap="square" lIns="0" tIns="0" rIns="0" bIns="0" rtlCol="0" anchor="ctr"/>
          <a:lstStyle/>
          <a:p>
            <a:pPr indent="0" marL="0">
              <a:buNone/>
            </a:pPr>
            <a:r>
              <a:rPr lang="en-US" sz="2000" b="1" dirty="0">
                <a:solidFill>
                  <a:srgbClr val="1F8A8A"/>
                </a:solidFill>
                <a:latin typeface="Calibri" pitchFamily="34" charset="0"/>
                <a:ea typeface="Calibri" pitchFamily="34" charset="-122"/>
                <a:cs typeface="Calibri" pitchFamily="34" charset="-120"/>
              </a:rPr>
              <a:t>Case A – TOR capacity factor</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42% for every case</a:t>
            </a:r>
            <a:endParaRPr lang="en-US" sz="2000" dirty="0"/>
          </a:p>
        </p:txBody>
      </p:sp>
      <p:sp>
        <p:nvSpPr>
          <p:cNvPr id="8" name="Card"/>
          <p:cNvSpPr/>
          <p:nvPr/>
        </p:nvSpPr>
        <p:spPr>
          <a:xfrm>
            <a:off x="6172200" y="1371600"/>
            <a:ext cx="5440680" cy="1234440"/>
          </a:xfrm>
          <a:prstGeom prst="roundRect">
            <a:avLst>
              <a:gd name="adj" fmla="val 8889"/>
            </a:avLst>
          </a:prstGeom>
          <a:solidFill>
            <a:srgbClr val="E9E1F4"/>
          </a:solidFill>
          <a:ln w="12700">
            <a:solidFill>
              <a:srgbClr val="E9E1F4"/>
            </a:solidFill>
            <a:prstDash val="solid"/>
          </a:ln>
        </p:spPr>
      </p:sp>
      <p:sp>
        <p:nvSpPr>
          <p:cNvPr id="9" name="Case chip"/>
          <p:cNvSpPr/>
          <p:nvPr/>
        </p:nvSpPr>
        <p:spPr>
          <a:xfrm>
            <a:off x="6446520" y="1572768"/>
            <a:ext cx="822960" cy="822960"/>
          </a:xfrm>
          <a:prstGeom prst="ellipse">
            <a:avLst/>
          </a:prstGeom>
          <a:solidFill>
            <a:srgbClr val="6C3FA0"/>
          </a:solidFill>
          <a:ln w="12700">
            <a:solidFill>
              <a:srgbClr val="6C3FA0"/>
            </a:solidFill>
            <a:prstDash val="solid"/>
          </a:ln>
        </p:spPr>
      </p:sp>
      <p:sp>
        <p:nvSpPr>
          <p:cNvPr id="10" name="Text 7"/>
          <p:cNvSpPr txBox="1"/>
          <p:nvPr/>
        </p:nvSpPr>
        <p:spPr>
          <a:xfrm>
            <a:off x="6446520" y="1572768"/>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B</a:t>
            </a:r>
            <a:endParaRPr lang="en-US" sz="3000" dirty="0"/>
          </a:p>
        </p:txBody>
      </p:sp>
      <p:sp>
        <p:nvSpPr>
          <p:cNvPr id="11" name="Text 8"/>
          <p:cNvSpPr txBox="1"/>
          <p:nvPr/>
        </p:nvSpPr>
        <p:spPr>
          <a:xfrm>
            <a:off x="7498080" y="1463040"/>
            <a:ext cx="3931920" cy="1051560"/>
          </a:xfrm>
          <a:prstGeom prst="rect">
            <a:avLst/>
          </a:prstGeom>
          <a:noFill/>
          <a:ln/>
        </p:spPr>
        <p:txBody>
          <a:bodyPr wrap="square" lIns="0" tIns="0" rIns="0" bIns="0" rtlCol="0" anchor="ctr"/>
          <a:lstStyle/>
          <a:p>
            <a:pPr indent="0" marL="0">
              <a:buNone/>
            </a:pPr>
            <a:r>
              <a:rPr lang="en-US" sz="2000" b="1" dirty="0">
                <a:solidFill>
                  <a:srgbClr val="6C3FA0"/>
                </a:solidFill>
                <a:latin typeface="Calibri" pitchFamily="34" charset="0"/>
                <a:ea typeface="Calibri" pitchFamily="34" charset="-122"/>
                <a:cs typeface="Calibri" pitchFamily="34" charset="-120"/>
              </a:rPr>
              <a:t>Case B – historical capacity factor</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66.8% Lots 1–2; 63.1% new-build</a:t>
            </a:r>
            <a:endParaRPr lang="en-US" sz="2000" dirty="0"/>
          </a:p>
        </p:txBody>
      </p:sp>
      <p:sp>
        <p:nvSpPr>
          <p:cNvPr id="12" name="Card"/>
          <p:cNvSpPr/>
          <p:nvPr/>
        </p:nvSpPr>
        <p:spPr>
          <a:xfrm>
            <a:off x="548640" y="2926080"/>
            <a:ext cx="3520440" cy="1234440"/>
          </a:xfrm>
          <a:prstGeom prst="roundRect">
            <a:avLst>
              <a:gd name="adj" fmla="val 8889"/>
            </a:avLst>
          </a:prstGeom>
          <a:solidFill>
            <a:srgbClr val="DCE5EF"/>
          </a:solidFill>
          <a:ln w="12700">
            <a:solidFill>
              <a:srgbClr val="DCE5EF"/>
            </a:solidFill>
            <a:prstDash val="solid"/>
          </a:ln>
        </p:spPr>
      </p:sp>
      <p:sp>
        <p:nvSpPr>
          <p:cNvPr id="13" name="Lot chip"/>
          <p:cNvSpPr/>
          <p:nvPr/>
        </p:nvSpPr>
        <p:spPr>
          <a:xfrm>
            <a:off x="777240" y="3200400"/>
            <a:ext cx="685800" cy="685800"/>
          </a:xfrm>
          <a:prstGeom prst="roundRect">
            <a:avLst>
              <a:gd name="adj" fmla="val 13333"/>
            </a:avLst>
          </a:prstGeom>
          <a:solidFill>
            <a:srgbClr val="14324F"/>
          </a:solidFill>
          <a:ln w="12700">
            <a:solidFill>
              <a:srgbClr val="14324F"/>
            </a:solidFill>
            <a:prstDash val="solid"/>
          </a:ln>
        </p:spPr>
      </p:sp>
      <p:sp>
        <p:nvSpPr>
          <p:cNvPr id="14" name="Text 11"/>
          <p:cNvSpPr txBox="1"/>
          <p:nvPr/>
        </p:nvSpPr>
        <p:spPr>
          <a:xfrm>
            <a:off x="1645920" y="3017520"/>
            <a:ext cx="2286000" cy="1051560"/>
          </a:xfrm>
          <a:prstGeom prst="rect">
            <a:avLst/>
          </a:prstGeom>
          <a:noFill/>
          <a:ln/>
        </p:spPr>
        <p:txBody>
          <a:bodyPr wrap="square" lIns="0" tIns="0" rIns="0" bIns="0" rtlCol="0" anchor="ctr"/>
          <a:lstStyle/>
          <a:p>
            <a:pPr indent="0" marL="0">
              <a:buNone/>
            </a:pPr>
            <a:r>
              <a:rPr lang="en-US" sz="1700" b="1" dirty="0">
                <a:solidFill>
                  <a:srgbClr val="14324F"/>
                </a:solidFill>
              </a:rPr>
              <a:t>Lot 1 – existing, Luzon</a:t>
            </a:r>
            <a:endParaRPr lang="en-US" sz="1700" dirty="0"/>
          </a:p>
        </p:txBody>
      </p:sp>
      <p:sp>
        <p:nvSpPr>
          <p:cNvPr id="15" name="Card"/>
          <p:cNvSpPr/>
          <p:nvPr/>
        </p:nvSpPr>
        <p:spPr>
          <a:xfrm>
            <a:off x="4297680" y="2926080"/>
            <a:ext cx="3520440" cy="1234440"/>
          </a:xfrm>
          <a:prstGeom prst="roundRect">
            <a:avLst>
              <a:gd name="adj" fmla="val 8889"/>
            </a:avLst>
          </a:prstGeom>
          <a:solidFill>
            <a:srgbClr val="DBEBF8"/>
          </a:solidFill>
          <a:ln w="12700">
            <a:solidFill>
              <a:srgbClr val="DBEBF8"/>
            </a:solidFill>
            <a:prstDash val="solid"/>
          </a:ln>
        </p:spPr>
      </p:sp>
      <p:sp>
        <p:nvSpPr>
          <p:cNvPr id="16" name="Lot chip"/>
          <p:cNvSpPr/>
          <p:nvPr/>
        </p:nvSpPr>
        <p:spPr>
          <a:xfrm>
            <a:off x="4526280" y="3200400"/>
            <a:ext cx="685800" cy="685800"/>
          </a:xfrm>
          <a:prstGeom prst="roundRect">
            <a:avLst>
              <a:gd name="adj" fmla="val 13333"/>
            </a:avLst>
          </a:prstGeom>
          <a:solidFill>
            <a:srgbClr val="2E86C1"/>
          </a:solidFill>
          <a:ln w="12700">
            <a:solidFill>
              <a:srgbClr val="2E86C1"/>
            </a:solidFill>
            <a:prstDash val="solid"/>
          </a:ln>
        </p:spPr>
      </p:sp>
      <p:sp>
        <p:nvSpPr>
          <p:cNvPr id="17" name="Text 14"/>
          <p:cNvSpPr txBox="1"/>
          <p:nvPr/>
        </p:nvSpPr>
        <p:spPr>
          <a:xfrm>
            <a:off x="5394960" y="3017520"/>
            <a:ext cx="2286000" cy="1051560"/>
          </a:xfrm>
          <a:prstGeom prst="rect">
            <a:avLst/>
          </a:prstGeom>
          <a:noFill/>
          <a:ln/>
        </p:spPr>
        <p:txBody>
          <a:bodyPr wrap="square" lIns="0" tIns="0" rIns="0" bIns="0" rtlCol="0" anchor="ctr"/>
          <a:lstStyle/>
          <a:p>
            <a:pPr indent="0" marL="0">
              <a:buNone/>
            </a:pPr>
            <a:r>
              <a:rPr lang="en-US" sz="1700" b="1" dirty="0">
                <a:solidFill>
                  <a:srgbClr val="2E86C1"/>
                </a:solidFill>
              </a:rPr>
              <a:t>Lot 2 – existing, Luzon</a:t>
            </a:r>
            <a:endParaRPr lang="en-US" sz="1700" dirty="0"/>
          </a:p>
        </p:txBody>
      </p:sp>
      <p:sp>
        <p:nvSpPr>
          <p:cNvPr id="18" name="Card"/>
          <p:cNvSpPr/>
          <p:nvPr/>
        </p:nvSpPr>
        <p:spPr>
          <a:xfrm>
            <a:off x="8046720" y="2926080"/>
            <a:ext cx="3520440" cy="1234440"/>
          </a:xfrm>
          <a:prstGeom prst="roundRect">
            <a:avLst>
              <a:gd name="adj" fmla="val 8889"/>
            </a:avLst>
          </a:prstGeom>
          <a:solidFill>
            <a:srgbClr val="DDEFDD"/>
          </a:solidFill>
          <a:ln w="12700">
            <a:solidFill>
              <a:srgbClr val="DDEFDD"/>
            </a:solidFill>
            <a:prstDash val="solid"/>
          </a:ln>
        </p:spPr>
      </p:sp>
      <p:sp>
        <p:nvSpPr>
          <p:cNvPr id="19" name="Lot chip"/>
          <p:cNvSpPr/>
          <p:nvPr/>
        </p:nvSpPr>
        <p:spPr>
          <a:xfrm>
            <a:off x="8275320" y="3200400"/>
            <a:ext cx="685800" cy="685800"/>
          </a:xfrm>
          <a:prstGeom prst="roundRect">
            <a:avLst>
              <a:gd name="adj" fmla="val 13333"/>
            </a:avLst>
          </a:prstGeom>
          <a:solidFill>
            <a:srgbClr val="2E7D32"/>
          </a:solidFill>
          <a:ln w="12700">
            <a:solidFill>
              <a:srgbClr val="2E7D32"/>
            </a:solidFill>
            <a:prstDash val="solid"/>
          </a:ln>
        </p:spPr>
      </p:sp>
      <p:sp>
        <p:nvSpPr>
          <p:cNvPr id="20" name="Text 17"/>
          <p:cNvSpPr txBox="1"/>
          <p:nvPr/>
        </p:nvSpPr>
        <p:spPr>
          <a:xfrm>
            <a:off x="9144000" y="3017520"/>
            <a:ext cx="2286000" cy="1051560"/>
          </a:xfrm>
          <a:prstGeom prst="rect">
            <a:avLst/>
          </a:prstGeom>
          <a:noFill/>
          <a:ln/>
        </p:spPr>
        <p:txBody>
          <a:bodyPr wrap="square" lIns="0" tIns="0" rIns="0" bIns="0" rtlCol="0" anchor="ctr"/>
          <a:lstStyle/>
          <a:p>
            <a:pPr indent="0" marL="0">
              <a:buNone/>
            </a:pPr>
            <a:r>
              <a:rPr lang="en-US" sz="1700" b="1" dirty="0">
                <a:solidFill>
                  <a:srgbClr val="2E7D32"/>
                </a:solidFill>
              </a:rPr>
              <a:t>New-build – Luzon</a:t>
            </a:r>
            <a:endParaRPr lang="en-US" sz="1700" dirty="0"/>
          </a:p>
        </p:txBody>
      </p:sp>
      <p:sp>
        <p:nvSpPr>
          <p:cNvPr id="21" name="Card"/>
          <p:cNvSpPr/>
          <p:nvPr/>
        </p:nvSpPr>
        <p:spPr>
          <a:xfrm>
            <a:off x="548640" y="4343400"/>
            <a:ext cx="3520440" cy="1234440"/>
          </a:xfrm>
          <a:prstGeom prst="roundRect">
            <a:avLst>
              <a:gd name="adj" fmla="val 8889"/>
            </a:avLst>
          </a:prstGeom>
          <a:solidFill>
            <a:srgbClr val="FBE3D2"/>
          </a:solidFill>
          <a:ln w="12700">
            <a:solidFill>
              <a:srgbClr val="FBE3D2"/>
            </a:solidFill>
            <a:prstDash val="solid"/>
          </a:ln>
        </p:spPr>
      </p:sp>
      <p:sp>
        <p:nvSpPr>
          <p:cNvPr id="22" name="Lot chip"/>
          <p:cNvSpPr/>
          <p:nvPr/>
        </p:nvSpPr>
        <p:spPr>
          <a:xfrm>
            <a:off x="777240" y="4617720"/>
            <a:ext cx="685800" cy="685800"/>
          </a:xfrm>
          <a:prstGeom prst="roundRect">
            <a:avLst>
              <a:gd name="adj" fmla="val 13333"/>
            </a:avLst>
          </a:prstGeom>
          <a:solidFill>
            <a:srgbClr val="D35400"/>
          </a:solidFill>
          <a:ln w="12700">
            <a:solidFill>
              <a:srgbClr val="D35400"/>
            </a:solidFill>
            <a:prstDash val="solid"/>
          </a:ln>
        </p:spPr>
      </p:sp>
      <p:sp>
        <p:nvSpPr>
          <p:cNvPr id="23" name="Text 20"/>
          <p:cNvSpPr txBox="1"/>
          <p:nvPr/>
        </p:nvSpPr>
        <p:spPr>
          <a:xfrm>
            <a:off x="1645920" y="4434840"/>
            <a:ext cx="2286000" cy="1051560"/>
          </a:xfrm>
          <a:prstGeom prst="rect">
            <a:avLst/>
          </a:prstGeom>
          <a:noFill/>
          <a:ln/>
        </p:spPr>
        <p:txBody>
          <a:bodyPr wrap="square" lIns="0" tIns="0" rIns="0" bIns="0" rtlCol="0" anchor="ctr"/>
          <a:lstStyle/>
          <a:p>
            <a:pPr indent="0" marL="0">
              <a:buNone/>
            </a:pPr>
            <a:r>
              <a:rPr lang="en-US" sz="1700" b="1" dirty="0">
                <a:solidFill>
                  <a:srgbClr val="D35400"/>
                </a:solidFill>
              </a:rPr>
              <a:t>New-build – Visayas 440 MW</a:t>
            </a:r>
            <a:endParaRPr lang="en-US" sz="1700" dirty="0"/>
          </a:p>
        </p:txBody>
      </p:sp>
      <p:sp>
        <p:nvSpPr>
          <p:cNvPr id="24" name="Card"/>
          <p:cNvSpPr/>
          <p:nvPr/>
        </p:nvSpPr>
        <p:spPr>
          <a:xfrm>
            <a:off x="4297680" y="4343400"/>
            <a:ext cx="3520440" cy="1234440"/>
          </a:xfrm>
          <a:prstGeom prst="roundRect">
            <a:avLst>
              <a:gd name="adj" fmla="val 8889"/>
            </a:avLst>
          </a:prstGeom>
          <a:solidFill>
            <a:srgbClr val="F5D9E2"/>
          </a:solidFill>
          <a:ln w="12700">
            <a:solidFill>
              <a:srgbClr val="F5D9E2"/>
            </a:solidFill>
            <a:prstDash val="solid"/>
          </a:ln>
        </p:spPr>
      </p:sp>
      <p:sp>
        <p:nvSpPr>
          <p:cNvPr id="25" name="Lot chip"/>
          <p:cNvSpPr/>
          <p:nvPr/>
        </p:nvSpPr>
        <p:spPr>
          <a:xfrm>
            <a:off x="4526280" y="4617720"/>
            <a:ext cx="685800" cy="685800"/>
          </a:xfrm>
          <a:prstGeom prst="roundRect">
            <a:avLst>
              <a:gd name="adj" fmla="val 13333"/>
            </a:avLst>
          </a:prstGeom>
          <a:solidFill>
            <a:srgbClr val="A61E4D"/>
          </a:solidFill>
          <a:ln w="12700">
            <a:solidFill>
              <a:srgbClr val="A61E4D"/>
            </a:solidFill>
            <a:prstDash val="solid"/>
          </a:ln>
        </p:spPr>
      </p:sp>
      <p:sp>
        <p:nvSpPr>
          <p:cNvPr id="26" name="Text 23"/>
          <p:cNvSpPr txBox="1"/>
          <p:nvPr/>
        </p:nvSpPr>
        <p:spPr>
          <a:xfrm>
            <a:off x="5394960" y="4434840"/>
            <a:ext cx="2286000" cy="1051560"/>
          </a:xfrm>
          <a:prstGeom prst="rect">
            <a:avLst/>
          </a:prstGeom>
          <a:noFill/>
          <a:ln/>
        </p:spPr>
        <p:txBody>
          <a:bodyPr wrap="square" lIns="0" tIns="0" rIns="0" bIns="0" rtlCol="0" anchor="ctr"/>
          <a:lstStyle/>
          <a:p>
            <a:pPr indent="0" marL="0">
              <a:buNone/>
            </a:pPr>
            <a:r>
              <a:rPr lang="en-US" sz="1700" b="1" dirty="0">
                <a:solidFill>
                  <a:srgbClr val="A61E4D"/>
                </a:solidFill>
              </a:rPr>
              <a:t>New-build – Visayas 500 MW</a:t>
            </a:r>
            <a:endParaRPr lang="en-US" sz="1700" dirty="0"/>
          </a:p>
        </p:txBody>
      </p:sp>
      <p:sp>
        <p:nvSpPr>
          <p:cNvPr id="27" name="Card"/>
          <p:cNvSpPr/>
          <p:nvPr/>
        </p:nvSpPr>
        <p:spPr>
          <a:xfrm>
            <a:off x="8046720" y="4343400"/>
            <a:ext cx="3520440" cy="1234440"/>
          </a:xfrm>
          <a:prstGeom prst="roundRect">
            <a:avLst>
              <a:gd name="adj" fmla="val 8889"/>
            </a:avLst>
          </a:prstGeom>
          <a:solidFill>
            <a:srgbClr val="ECEDEF"/>
          </a:solidFill>
          <a:ln w="12700">
            <a:solidFill>
              <a:srgbClr val="ECEDEF"/>
            </a:solidFill>
            <a:prstDash val="solid"/>
          </a:ln>
        </p:spPr>
      </p:sp>
      <p:sp>
        <p:nvSpPr>
          <p:cNvPr id="28" name="Lot chip"/>
          <p:cNvSpPr/>
          <p:nvPr/>
        </p:nvSpPr>
        <p:spPr>
          <a:xfrm>
            <a:off x="8275320" y="4617720"/>
            <a:ext cx="685800" cy="685800"/>
          </a:xfrm>
          <a:prstGeom prst="roundRect">
            <a:avLst>
              <a:gd name="adj" fmla="val 13333"/>
            </a:avLst>
          </a:prstGeom>
          <a:solidFill>
            <a:srgbClr val="6B7280"/>
          </a:solidFill>
          <a:ln w="12700">
            <a:solidFill>
              <a:srgbClr val="6B7280"/>
            </a:solidFill>
            <a:prstDash val="solid"/>
          </a:ln>
        </p:spPr>
      </p:sp>
      <p:sp>
        <p:nvSpPr>
          <p:cNvPr id="29" name="Text 26"/>
          <p:cNvSpPr txBox="1"/>
          <p:nvPr/>
        </p:nvSpPr>
        <p:spPr>
          <a:xfrm>
            <a:off x="9144000" y="4434840"/>
            <a:ext cx="2286000" cy="1051560"/>
          </a:xfrm>
          <a:prstGeom prst="rect">
            <a:avLst/>
          </a:prstGeom>
          <a:noFill/>
          <a:ln/>
        </p:spPr>
        <p:txBody>
          <a:bodyPr wrap="square" lIns="0" tIns="0" rIns="0" bIns="0" rtlCol="0" anchor="ctr"/>
          <a:lstStyle/>
          <a:p>
            <a:pPr indent="0" marL="0">
              <a:buNone/>
            </a:pPr>
            <a:r>
              <a:rPr lang="en-US" sz="1700" b="1" dirty="0">
                <a:solidFill>
                  <a:srgbClr val="6B7280"/>
                </a:solidFill>
              </a:rPr>
              <a:t>Mindanao – no lot in the DOE TOR</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(1 of 2)</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Unit Capacity of Plant (MW/unit)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lot sizes split into standard units (CCGT 500 MW, OCGT 220 MW, gas engine 20 MW); result is per 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No. of Units (unit)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auction capacity (Sec. 1.1) ÷ unit size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Installed Capacity, gross (MW) (Annex A.1)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Sec. 1.1 auction capacity requirement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input (availability x dispatch)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gridSpan="5">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hMerge="1">
                  <a:tcPr/>
                </a:tc>
                <a:tc hMerge="1">
                  <a:tcPr/>
                </a:tc>
                <a:tc hMerge="1">
                  <a:tcPr/>
                </a:tc>
                <a:tc hMerge="1">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Case A: 42%, top of the TOR band. Case B: 66.8% Lots 1–2, 63.1% new-build (MERALCO data, Jan 2024–Sep 2026)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Guaranteed Efficiency Factor,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already net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(2 of 2)</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Allowance for losses &amp; own use,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net of own use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after own use (calculated)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gridSpan="5">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hMerge="1">
                  <a:tcPr/>
                </a:tc>
                <a:tc hMerge="1">
                  <a:tcPr/>
                </a:tc>
                <a:tc hMerge="1">
                  <a:tcPr/>
                </a:tc>
                <a:tc hMerge="1">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Hours per Year (hours)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8,760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Electrical Output (GWh, first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5,150.9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Installed MW × capacity factor × 8,760 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8,192.4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2,925.9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Degradation Rate, % p.a.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Heat rate (logistics only; fuel excluded) (Btu/kWh)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9,800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Technology reference values; used only for logistics, which is now in the Fuel Cost: no effect on the GAT Price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 Timing</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Period (mos) (Annex A.7)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Typical EPC schedule by technology (Annex A.7); existing plants have none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Operating Period (yrs from COD)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plant economic life for cost recovery, although the TOR contract is shorter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&amp; Forex (2028) for FIT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CAPEX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OPEX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&amp; Forex for FiT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CAPEX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OPEX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Commercial Operating Date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Base year plus construction period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(1 of 3)</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all-in project cost (US$/kW)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New-build at current market levels (Oct 2026); existing plants at a brownfield value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All-In Project Cost (Annex A.3)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Cost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310.8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Cost (Excluding VAT, Financing, Working Capital)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557.7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889.3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79.67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Equipment Cost ex BOP, Transport ($000/MW)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Calibrated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7C6"/>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579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Set by model calibration so the all-in cost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(2 of 3)</a:t>
            </a:r>
            <a:endParaRPr lang="en-US" sz="3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Insurance, Ocean Freight, Local Transport,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Balance of Plant (BOP),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Distance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T/L Cost per km, 69 kV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Switchyard &amp; Transformers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Access Roads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Distance of Access Road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Dev't &amp; Other Costs (land, permits, etc) (% of EPC)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(3 of 3)</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(70% recoverable)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 70% recoverable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 of EPC)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Contingency (% of Total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Value, %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10% of cost, received in the final year (draft GAIR Sec. 8.8.7)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Major Maintenance/Refurbishment (% of EPC)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Refurbishment (yr from COD)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(1 of 2)</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(Equipment, Balance of Plant, Transport)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Interconnection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Sub-Station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0.79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Development &amp; Other Costs (Civil Works, Customs Duty)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Contingency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(2 of 2)</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Value Added Tax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37.9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Financing Costs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Uses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Sources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(1 of 2)</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Fixed O&amp;M Costs ($000/unit/year) (Annex A.4)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Fixed O&amp;M (US$/kW-yr) × unit MW: CCGT 13.71, OCGT 8.50, gas engine 16.50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Variable Non-Fuel O&amp;M, excl. logistics ($000/MW/yr) (Annex A.5)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11.56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Variable O&amp;M × 8,760 × energy CF ÷ 1,000; US$2.00/MWh CCGT, 4.50 OCGT, 3.80 gas engine; logistics excluded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G&amp;A Costs ($000/year)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2,123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1,264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1,503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6% of fixed + variable O&amp;M (corporate overhead standard,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1,486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2,003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2,251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(2 of 2)</a:t>
            </a:r>
            <a:endParaRPr lang="en-US" sz="3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O&amp;M + Spares as % of EPC, T/L, S/S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8.12%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6.77%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4.19%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3.26%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fixed O&amp;M (US$/kW-yr) (Annex A.4)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variable O&amp;M (US$/MWh) (Annex A.5)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1.223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1.223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3.262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1.903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0.769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0.769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1.266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1.989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G&amp;A (US$000/yr) (Annex A.6)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53.86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(1 of 2)</a:t>
            </a:r>
            <a:endParaRPr lang="en-US" sz="3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70:30, commercial project-finance standard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local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8% pre-tax (Annex A.10); local about 7.5%, US$ about 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foreign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Same as local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Grace Period from COD (mos)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and Foreign debt Service Reserve (mos)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(2 of 2)</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Upfront &amp; Financing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Commitment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Local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Foreign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321.4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114.4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612.7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Debt Amount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Investment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Required Equity Return, Re (nominal) (Annex A.12)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14% nominal; CAPM range 12%–14% (Annex A.12)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pre-tax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reference check (draft GAIR Sec. 8.8.8)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after-tax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(1 of 2)</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Type of incentives (1 = NO, 2 = BOI, 3 = PEZA)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 BOI or PEZA incentive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Holiday (yrs)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None assumed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Rate (after ITH)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Corporate income tax, CREATE Act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Real Property Tax (from COD)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RPT Assessment Level (% of NBV)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Business Tax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Government Share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Not applicable to gas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(2 of 2)</a:t>
            </a:r>
            <a:endParaRPr lang="en-US" sz="3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host-community benefit (USD/kWh) (Sec. 8.8.3) (US$/kWh)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0.00048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PhP 0.03/kWh converted at the model exchange rate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Withholding Tax on Interest (Foreign Currency) - WHT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foreign-currency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Receipts Tax on Interest (Local Currency) - GRT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local-currency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Documentary Stamps Tax (DST)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loan documents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PEZA Incentives (% of gross income) - 0% /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(70% recoverable)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Recovery,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VAT recovery (yrs after COD)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(1 of 2)</a:t>
            </a:r>
            <a:endParaRPr lang="en-US" sz="3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Foreign Exchange Rate (US$/US$)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Forward Fixed Exchange Rate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Local CPI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Local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the GAT Price is not indexed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US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(2 of 2)</a:t>
            </a:r>
            <a:endParaRPr lang="en-US" sz="3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Peso Depreciation Rate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Days Receivable, Payable and Inventory (days)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PhP per USD exchange rate (Annex A.16) (PhP/US$)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62.756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BSP reference rate, 25 Sep 2026 (Annex A.16)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benefit, PhP/kWh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DOE DC2025-10-0023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received in last year (1 = yes) (Sec. 8.8.7)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GAIR Sec. 8.8.7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9. Fuel and technical</a:t>
            </a:r>
            <a:endParaRPr lang="en-US" sz="3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switch (fuel is outside the GAT Price)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Fuel is outside the GAT Price (draft GAIR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Heating Value (Btu/lb)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22,129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Natural gas; for the efficiency calculation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Thermal Efficiency,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Heat Rate (Annex A.15 cap) (kJ/kWh)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Conversion constant (3,600 kJ = 1 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Rate (kWh/MT)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7,998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density (kg/L)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Specific lube oil consumption (g/kWh)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cost (US$/L)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(1 of 3)</a:t>
            </a:r>
            <a:endParaRPr lang="en-US" sz="3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Unit Capacity of Plant (MW/unit)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No. of Units (unit)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Installed Capacity, gross (MW) (Annex A.1)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Electrical Output (GWh, first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Cost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725.8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Cost (Excluding VAT, Financing, Working Capital)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889.4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557.7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889.3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Equipment Cost ex BOP, Transport ($000/MW)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Visayas uses the same per-kW inputs, financing, taxes and timing as new-build Luzon.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(2 of 3)</a:t>
            </a:r>
            <a:endParaRPr lang="en-US" sz="3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(Equipment, Balance of Plant, Transport)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319.2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378.5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Development &amp; Other Costs (Civil Works, Customs Duty)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Contingency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Value Added Tax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Financing Costs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Uses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145.2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Visayas uses the same per-kW inputs, financing, taxes and timing as new-build Luzon.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(3 of 3)</a:t>
            </a:r>
            <a:endParaRPr lang="en-US" sz="3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Sources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Fixed O&amp;M Costs ($000/unit/year) (Annex A.4)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G&amp;A Costs ($000/year)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805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752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914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881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990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Local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Foreign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Debt Amount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Investment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145.2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Visayas uses the same per-kW inputs, financing, taxes and timing as new-build Luzon.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Questions for discussion</a:t>
            </a:r>
            <a:endParaRPr lang="en-US" sz="3400" dirty="0"/>
          </a:p>
        </p:txBody>
      </p:sp>
      <p:sp>
        <p:nvSpPr>
          <p:cNvPr id="4" name="Card"/>
          <p:cNvSpPr/>
          <p:nvPr/>
        </p:nvSpPr>
        <p:spPr>
          <a:xfrm>
            <a:off x="548640" y="1417320"/>
            <a:ext cx="5440680" cy="2011680"/>
          </a:xfrm>
          <a:prstGeom prst="roundRect">
            <a:avLst>
              <a:gd name="adj" fmla="val 5455"/>
            </a:avLst>
          </a:prstGeom>
          <a:solidFill>
            <a:schemeClr val="bg2"/>
          </a:solidFill>
          <a:ln w="12700">
            <a:solidFill>
              <a:schemeClr val="bg2"/>
            </a:solidFill>
            <a:prstDash val="solid"/>
          </a:ln>
        </p:spPr>
      </p:sp>
      <p:sp>
        <p:nvSpPr>
          <p:cNvPr id="5" name="Icon circle"/>
          <p:cNvSpPr/>
          <p:nvPr/>
        </p:nvSpPr>
        <p:spPr>
          <a:xfrm>
            <a:off x="822960" y="1737360"/>
            <a:ext cx="777240" cy="77724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25042" y="1939442"/>
            <a:ext cx="373075" cy="373075"/>
          </a:xfrm>
          <a:prstGeom prst="rect">
            <a:avLst/>
          </a:prstGeom>
        </p:spPr>
      </p:pic>
      <p:sp>
        <p:nvSpPr>
          <p:cNvPr id="7" name="Text 3"/>
          <p:cNvSpPr txBox="1"/>
          <p:nvPr/>
        </p:nvSpPr>
        <p:spPr>
          <a:xfrm>
            <a:off x="182880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All-in project cost</a:t>
            </a:r>
            <a:endParaRPr lang="en-US" sz="2200" dirty="0"/>
          </a:p>
        </p:txBody>
      </p:sp>
      <p:sp>
        <p:nvSpPr>
          <p:cNvPr id="8" name="Text 4"/>
          <p:cNvSpPr txBox="1"/>
          <p:nvPr/>
        </p:nvSpPr>
        <p:spPr>
          <a:xfrm>
            <a:off x="182880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US$1,200 / 1,100 / 700 per kW match your recent EPC quotes?</a:t>
            </a:r>
            <a:endParaRPr lang="en-US" sz="1700" dirty="0"/>
          </a:p>
        </p:txBody>
      </p:sp>
      <p:sp>
        <p:nvSpPr>
          <p:cNvPr id="9" name="Card"/>
          <p:cNvSpPr/>
          <p:nvPr/>
        </p:nvSpPr>
        <p:spPr>
          <a:xfrm>
            <a:off x="6172200" y="1417320"/>
            <a:ext cx="5440680" cy="2011680"/>
          </a:xfrm>
          <a:prstGeom prst="roundRect">
            <a:avLst>
              <a:gd name="adj" fmla="val 5455"/>
            </a:avLst>
          </a:prstGeom>
          <a:solidFill>
            <a:schemeClr val="bg2"/>
          </a:solidFill>
          <a:ln w="12700">
            <a:solidFill>
              <a:schemeClr val="bg2"/>
            </a:solidFill>
            <a:prstDash val="solid"/>
          </a:ln>
        </p:spPr>
      </p:sp>
      <p:sp>
        <p:nvSpPr>
          <p:cNvPr id="10" name="Icon circle"/>
          <p:cNvSpPr/>
          <p:nvPr/>
        </p:nvSpPr>
        <p:spPr>
          <a:xfrm>
            <a:off x="6446520" y="1737360"/>
            <a:ext cx="777240" cy="77724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6648602" y="1939442"/>
            <a:ext cx="373075" cy="373075"/>
          </a:xfrm>
          <a:prstGeom prst="rect">
            <a:avLst/>
          </a:prstGeom>
        </p:spPr>
      </p:pic>
      <p:sp>
        <p:nvSpPr>
          <p:cNvPr id="12" name="Text 7"/>
          <p:cNvSpPr txBox="1"/>
          <p:nvPr/>
        </p:nvSpPr>
        <p:spPr>
          <a:xfrm>
            <a:off x="745236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Capacity factor</a:t>
            </a:r>
            <a:endParaRPr lang="en-US" sz="2200" dirty="0"/>
          </a:p>
        </p:txBody>
      </p:sp>
      <p:sp>
        <p:nvSpPr>
          <p:cNvPr id="13" name="Text 8"/>
          <p:cNvSpPr txBox="1"/>
          <p:nvPr/>
        </p:nvSpPr>
        <p:spPr>
          <a:xfrm>
            <a:off x="745236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Is 42% (TOR) or the historical 63%–67% the better reference?</a:t>
            </a:r>
            <a:endParaRPr lang="en-US" sz="1700" dirty="0"/>
          </a:p>
        </p:txBody>
      </p:sp>
      <p:sp>
        <p:nvSpPr>
          <p:cNvPr id="14" name="Card"/>
          <p:cNvSpPr/>
          <p:nvPr/>
        </p:nvSpPr>
        <p:spPr>
          <a:xfrm>
            <a:off x="548640" y="3657600"/>
            <a:ext cx="5440680" cy="2011680"/>
          </a:xfrm>
          <a:prstGeom prst="roundRect">
            <a:avLst>
              <a:gd name="adj" fmla="val 5455"/>
            </a:avLst>
          </a:prstGeom>
          <a:solidFill>
            <a:schemeClr val="bg2"/>
          </a:solidFill>
          <a:ln w="12700">
            <a:solidFill>
              <a:schemeClr val="bg2"/>
            </a:solidFill>
            <a:prstDash val="solid"/>
          </a:ln>
        </p:spPr>
      </p:sp>
      <p:sp>
        <p:nvSpPr>
          <p:cNvPr id="15" name="Icon circle"/>
          <p:cNvSpPr/>
          <p:nvPr/>
        </p:nvSpPr>
        <p:spPr>
          <a:xfrm>
            <a:off x="822960" y="3977640"/>
            <a:ext cx="777240" cy="777240"/>
          </a:xfrm>
          <a:prstGeom prst="ellipse">
            <a:avLst/>
          </a:prstGeom>
          <a:solidFill>
            <a:schemeClr val="accent2"/>
          </a:solidFill>
          <a:ln w="12700">
            <a:solidFill>
              <a:schemeClr val="accent2"/>
            </a:solidFill>
            <a:prstDash val="solid"/>
          </a:ln>
        </p:spPr>
      </p:sp>
      <p:pic>
        <p:nvPicPr>
          <p:cNvPr id="16" name="Icon" descr="preencoded.png">    </p:cNvPr>
          <p:cNvPicPr>
            <a:picLocks noChangeAspect="1"/>
          </p:cNvPicPr>
          <p:nvPr/>
        </p:nvPicPr>
        <p:blipFill>
          <a:blip r:embed="rId3"/>
          <a:stretch>
            <a:fillRect/>
          </a:stretch>
        </p:blipFill>
        <p:spPr>
          <a:xfrm>
            <a:off x="1025042" y="4179722"/>
            <a:ext cx="373075" cy="373075"/>
          </a:xfrm>
          <a:prstGeom prst="rect">
            <a:avLst/>
          </a:prstGeom>
        </p:spPr>
      </p:pic>
      <p:sp>
        <p:nvSpPr>
          <p:cNvPr id="17" name="Text 11"/>
          <p:cNvSpPr txBox="1"/>
          <p:nvPr/>
        </p:nvSpPr>
        <p:spPr>
          <a:xfrm>
            <a:off x="182880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O&amp;M</a:t>
            </a:r>
            <a:endParaRPr lang="en-US" sz="2200" dirty="0"/>
          </a:p>
        </p:txBody>
      </p:sp>
      <p:sp>
        <p:nvSpPr>
          <p:cNvPr id="18" name="Text 12"/>
          <p:cNvSpPr txBox="1"/>
          <p:nvPr/>
        </p:nvSpPr>
        <p:spPr>
          <a:xfrm>
            <a:off x="182880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the fixed and variable O&amp;M values match current service agreements?</a:t>
            </a:r>
            <a:endParaRPr lang="en-US" sz="1700" dirty="0"/>
          </a:p>
        </p:txBody>
      </p:sp>
      <p:sp>
        <p:nvSpPr>
          <p:cNvPr id="19" name="Card"/>
          <p:cNvSpPr/>
          <p:nvPr/>
        </p:nvSpPr>
        <p:spPr>
          <a:xfrm>
            <a:off x="6172200" y="3657600"/>
            <a:ext cx="5440680" cy="2011680"/>
          </a:xfrm>
          <a:prstGeom prst="roundRect">
            <a:avLst>
              <a:gd name="adj" fmla="val 5455"/>
            </a:avLst>
          </a:prstGeom>
          <a:solidFill>
            <a:schemeClr val="bg2"/>
          </a:solidFill>
          <a:ln w="12700">
            <a:solidFill>
              <a:schemeClr val="bg2"/>
            </a:solidFill>
            <a:prstDash val="solid"/>
          </a:ln>
        </p:spPr>
      </p:sp>
      <p:sp>
        <p:nvSpPr>
          <p:cNvPr id="20" name="Icon circle"/>
          <p:cNvSpPr/>
          <p:nvPr/>
        </p:nvSpPr>
        <p:spPr>
          <a:xfrm>
            <a:off x="6446520" y="3977640"/>
            <a:ext cx="777240" cy="777240"/>
          </a:xfrm>
          <a:prstGeom prst="ellipse">
            <a:avLst/>
          </a:prstGeom>
          <a:solidFill>
            <a:schemeClr val="accent2"/>
          </a:solidFill>
          <a:ln w="12700">
            <a:solidFill>
              <a:schemeClr val="accent2"/>
            </a:solidFill>
            <a:prstDash val="solid"/>
          </a:ln>
        </p:spPr>
      </p:sp>
      <p:pic>
        <p:nvPicPr>
          <p:cNvPr id="21" name="Icon" descr="preencoded.png">    </p:cNvPr>
          <p:cNvPicPr>
            <a:picLocks noChangeAspect="1"/>
          </p:cNvPicPr>
          <p:nvPr/>
        </p:nvPicPr>
        <p:blipFill>
          <a:blip r:embed="rId4"/>
          <a:stretch>
            <a:fillRect/>
          </a:stretch>
        </p:blipFill>
        <p:spPr>
          <a:xfrm>
            <a:off x="6648602" y="4179722"/>
            <a:ext cx="373075" cy="373075"/>
          </a:xfrm>
          <a:prstGeom prst="rect">
            <a:avLst/>
          </a:prstGeom>
        </p:spPr>
      </p:pic>
      <p:sp>
        <p:nvSpPr>
          <p:cNvPr id="22" name="Text 15"/>
          <p:cNvSpPr txBox="1"/>
          <p:nvPr/>
        </p:nvSpPr>
        <p:spPr>
          <a:xfrm>
            <a:off x="745236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Financing</a:t>
            </a:r>
            <a:endParaRPr lang="en-US" sz="2200" dirty="0"/>
          </a:p>
        </p:txBody>
      </p:sp>
      <p:sp>
        <p:nvSpPr>
          <p:cNvPr id="23" name="Text 16"/>
          <p:cNvSpPr txBox="1"/>
          <p:nvPr/>
        </p:nvSpPr>
        <p:spPr>
          <a:xfrm>
            <a:off x="745236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Are 8% debt, 15-year tenor and 14% equity return achievable today?</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Next steps</a:t>
            </a:r>
            <a:endParaRPr lang="en-US" sz="3400" dirty="0"/>
          </a:p>
        </p:txBody>
      </p:sp>
      <p:sp>
        <p:nvSpPr>
          <p:cNvPr id="4" name="Connector"/>
          <p:cNvSpPr/>
          <p:nvPr/>
        </p:nvSpPr>
        <p:spPr>
          <a:xfrm>
            <a:off x="1874520" y="2011680"/>
            <a:ext cx="1993392" cy="0"/>
          </a:xfrm>
          <a:prstGeom prst="line">
            <a:avLst/>
          </a:prstGeom>
          <a:noFill/>
          <a:ln w="38100">
            <a:solidFill>
              <a:srgbClr val="C6E3E1"/>
            </a:solidFill>
            <a:prstDash val="solid"/>
          </a:ln>
        </p:spPr>
      </p:sp>
      <p:sp>
        <p:nvSpPr>
          <p:cNvPr id="5" name="Icon circle"/>
          <p:cNvSpPr/>
          <p:nvPr/>
        </p:nvSpPr>
        <p:spPr>
          <a:xfrm>
            <a:off x="1463040" y="160020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677010" y="1814170"/>
            <a:ext cx="395021" cy="395021"/>
          </a:xfrm>
          <a:prstGeom prst="rect">
            <a:avLst/>
          </a:prstGeom>
        </p:spPr>
      </p:pic>
      <p:sp>
        <p:nvSpPr>
          <p:cNvPr id="7" name="Card"/>
          <p:cNvSpPr/>
          <p:nvPr/>
        </p:nvSpPr>
        <p:spPr>
          <a:xfrm>
            <a:off x="548640" y="2743200"/>
            <a:ext cx="2606040" cy="2286000"/>
          </a:xfrm>
          <a:prstGeom prst="roundRect">
            <a:avLst>
              <a:gd name="adj" fmla="val 4800"/>
            </a:avLst>
          </a:prstGeom>
          <a:solidFill>
            <a:schemeClr val="bg2"/>
          </a:solidFill>
          <a:ln w="12700">
            <a:solidFill>
              <a:schemeClr val="bg2"/>
            </a:solidFill>
            <a:prstDash val="solid"/>
          </a:ln>
        </p:spPr>
      </p:sp>
      <p:sp>
        <p:nvSpPr>
          <p:cNvPr id="8" name="Text 4"/>
          <p:cNvSpPr txBox="1"/>
          <p:nvPr/>
        </p:nvSpPr>
        <p:spPr>
          <a:xfrm>
            <a:off x="731520"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Today</a:t>
            </a:r>
            <a:endParaRPr lang="en-US" sz="2000" dirty="0"/>
          </a:p>
        </p:txBody>
      </p:sp>
      <p:sp>
        <p:nvSpPr>
          <p:cNvPr id="9" name="Text 5"/>
          <p:cNvSpPr txBox="1"/>
          <p:nvPr/>
        </p:nvSpPr>
        <p:spPr>
          <a:xfrm>
            <a:off x="731520"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Discussion of model assumptions</a:t>
            </a:r>
            <a:endParaRPr lang="en-US" sz="1600" dirty="0"/>
          </a:p>
        </p:txBody>
      </p:sp>
      <p:sp>
        <p:nvSpPr>
          <p:cNvPr id="10" name="Connector"/>
          <p:cNvSpPr/>
          <p:nvPr/>
        </p:nvSpPr>
        <p:spPr>
          <a:xfrm>
            <a:off x="4690872" y="2011680"/>
            <a:ext cx="1993392" cy="0"/>
          </a:xfrm>
          <a:prstGeom prst="line">
            <a:avLst/>
          </a:prstGeom>
          <a:noFill/>
          <a:ln w="38100">
            <a:solidFill>
              <a:srgbClr val="C6E3E1"/>
            </a:solidFill>
            <a:prstDash val="solid"/>
          </a:ln>
        </p:spPr>
      </p:sp>
      <p:sp>
        <p:nvSpPr>
          <p:cNvPr id="11" name="Icon circle"/>
          <p:cNvSpPr/>
          <p:nvPr/>
        </p:nvSpPr>
        <p:spPr>
          <a:xfrm>
            <a:off x="4279392" y="1600200"/>
            <a:ext cx="822960" cy="82296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4493362" y="1814170"/>
            <a:ext cx="395021" cy="395021"/>
          </a:xfrm>
          <a:prstGeom prst="rect">
            <a:avLst/>
          </a:prstGeom>
        </p:spPr>
      </p:pic>
      <p:sp>
        <p:nvSpPr>
          <p:cNvPr id="13" name="Card"/>
          <p:cNvSpPr/>
          <p:nvPr/>
        </p:nvSpPr>
        <p:spPr>
          <a:xfrm>
            <a:off x="3364992" y="2743200"/>
            <a:ext cx="2606040" cy="2286000"/>
          </a:xfrm>
          <a:prstGeom prst="roundRect">
            <a:avLst>
              <a:gd name="adj" fmla="val 4800"/>
            </a:avLst>
          </a:prstGeom>
          <a:solidFill>
            <a:schemeClr val="bg2"/>
          </a:solidFill>
          <a:ln w="12700">
            <a:solidFill>
              <a:schemeClr val="bg2"/>
            </a:solidFill>
            <a:prstDash val="solid"/>
          </a:ln>
        </p:spPr>
      </p:sp>
      <p:sp>
        <p:nvSpPr>
          <p:cNvPr id="14" name="Text 9"/>
          <p:cNvSpPr txBox="1"/>
          <p:nvPr/>
        </p:nvSpPr>
        <p:spPr>
          <a:xfrm>
            <a:off x="3547872"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Written comments</a:t>
            </a:r>
            <a:endParaRPr lang="en-US" sz="2000" dirty="0"/>
          </a:p>
        </p:txBody>
      </p:sp>
      <p:sp>
        <p:nvSpPr>
          <p:cNvPr id="15" name="Text 10"/>
          <p:cNvSpPr txBox="1"/>
          <p:nvPr/>
        </p:nvSpPr>
        <p:spPr>
          <a:xfrm>
            <a:off x="3547872"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With evidence, via the Case No. 2026-015 RM docket, by the date in the FGD notice</a:t>
            </a:r>
            <a:endParaRPr lang="en-US" sz="1600" dirty="0"/>
          </a:p>
        </p:txBody>
      </p:sp>
      <p:sp>
        <p:nvSpPr>
          <p:cNvPr id="16" name="Connector"/>
          <p:cNvSpPr/>
          <p:nvPr/>
        </p:nvSpPr>
        <p:spPr>
          <a:xfrm>
            <a:off x="7507224" y="2011680"/>
            <a:ext cx="1993392" cy="0"/>
          </a:xfrm>
          <a:prstGeom prst="line">
            <a:avLst/>
          </a:prstGeom>
          <a:noFill/>
          <a:ln w="38100">
            <a:solidFill>
              <a:srgbClr val="C6E3E1"/>
            </a:solidFill>
            <a:prstDash val="solid"/>
          </a:ln>
        </p:spPr>
      </p:sp>
      <p:sp>
        <p:nvSpPr>
          <p:cNvPr id="17" name="Icon circle"/>
          <p:cNvSpPr/>
          <p:nvPr/>
        </p:nvSpPr>
        <p:spPr>
          <a:xfrm>
            <a:off x="7095744" y="1600200"/>
            <a:ext cx="822960" cy="822960"/>
          </a:xfrm>
          <a:prstGeom prst="ellipse">
            <a:avLst/>
          </a:prstGeom>
          <a:solidFill>
            <a:schemeClr val="accent2"/>
          </a:solidFill>
          <a:ln w="12700">
            <a:solidFill>
              <a:schemeClr val="accent2"/>
            </a:solidFill>
            <a:prstDash val="solid"/>
          </a:ln>
        </p:spPr>
      </p:sp>
      <p:pic>
        <p:nvPicPr>
          <p:cNvPr id="18" name="Icon" descr="preencoded.png">    </p:cNvPr>
          <p:cNvPicPr>
            <a:picLocks noChangeAspect="1"/>
          </p:cNvPicPr>
          <p:nvPr/>
        </p:nvPicPr>
        <p:blipFill>
          <a:blip r:embed="rId3"/>
          <a:stretch>
            <a:fillRect/>
          </a:stretch>
        </p:blipFill>
        <p:spPr>
          <a:xfrm>
            <a:off x="7309714" y="1814170"/>
            <a:ext cx="395021" cy="395021"/>
          </a:xfrm>
          <a:prstGeom prst="rect">
            <a:avLst/>
          </a:prstGeom>
        </p:spPr>
      </p:pic>
      <p:sp>
        <p:nvSpPr>
          <p:cNvPr id="19" name="Card"/>
          <p:cNvSpPr/>
          <p:nvPr/>
        </p:nvSpPr>
        <p:spPr>
          <a:xfrm>
            <a:off x="6181344" y="2743200"/>
            <a:ext cx="2606040" cy="2286000"/>
          </a:xfrm>
          <a:prstGeom prst="roundRect">
            <a:avLst>
              <a:gd name="adj" fmla="val 4800"/>
            </a:avLst>
          </a:prstGeom>
          <a:solidFill>
            <a:schemeClr val="bg2"/>
          </a:solidFill>
          <a:ln w="12700">
            <a:solidFill>
              <a:schemeClr val="bg2"/>
            </a:solidFill>
            <a:prstDash val="solid"/>
          </a:ln>
        </p:spPr>
      </p:sp>
      <p:sp>
        <p:nvSpPr>
          <p:cNvPr id="20" name="Text 14"/>
          <p:cNvSpPr txBox="1"/>
          <p:nvPr/>
        </p:nvSpPr>
        <p:spPr>
          <a:xfrm>
            <a:off x="6364224"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ERC review</a:t>
            </a:r>
            <a:endParaRPr lang="en-US" sz="2000" dirty="0"/>
          </a:p>
        </p:txBody>
      </p:sp>
      <p:sp>
        <p:nvSpPr>
          <p:cNvPr id="21" name="Text 15"/>
          <p:cNvSpPr txBox="1"/>
          <p:nvPr/>
        </p:nvSpPr>
        <p:spPr>
          <a:xfrm>
            <a:off x="6364224"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Comments considered in the Reference Parameters</a:t>
            </a:r>
            <a:endParaRPr lang="en-US" sz="1600" dirty="0"/>
          </a:p>
        </p:txBody>
      </p:sp>
      <p:sp>
        <p:nvSpPr>
          <p:cNvPr id="22" name="Icon circle"/>
          <p:cNvSpPr/>
          <p:nvPr/>
        </p:nvSpPr>
        <p:spPr>
          <a:xfrm>
            <a:off x="9912096" y="1600200"/>
            <a:ext cx="822960" cy="822960"/>
          </a:xfrm>
          <a:prstGeom prst="ellipse">
            <a:avLst/>
          </a:prstGeom>
          <a:solidFill>
            <a:schemeClr val="accent3"/>
          </a:solidFill>
          <a:ln w="12700">
            <a:solidFill>
              <a:schemeClr val="accent3"/>
            </a:solidFill>
            <a:prstDash val="solid"/>
          </a:ln>
        </p:spPr>
      </p:sp>
      <p:pic>
        <p:nvPicPr>
          <p:cNvPr id="23" name="Icon" descr="preencoded.png">    </p:cNvPr>
          <p:cNvPicPr>
            <a:picLocks noChangeAspect="1"/>
          </p:cNvPicPr>
          <p:nvPr/>
        </p:nvPicPr>
        <p:blipFill>
          <a:blip r:embed="rId4"/>
          <a:stretch>
            <a:fillRect/>
          </a:stretch>
        </p:blipFill>
        <p:spPr>
          <a:xfrm>
            <a:off x="10126066" y="1814170"/>
            <a:ext cx="395021" cy="395021"/>
          </a:xfrm>
          <a:prstGeom prst="rect">
            <a:avLst/>
          </a:prstGeom>
        </p:spPr>
      </p:pic>
      <p:sp>
        <p:nvSpPr>
          <p:cNvPr id="24" name="Card"/>
          <p:cNvSpPr/>
          <p:nvPr/>
        </p:nvSpPr>
        <p:spPr>
          <a:xfrm>
            <a:off x="8997696" y="2743200"/>
            <a:ext cx="2606040" cy="2286000"/>
          </a:xfrm>
          <a:prstGeom prst="roundRect">
            <a:avLst>
              <a:gd name="adj" fmla="val 4800"/>
            </a:avLst>
          </a:prstGeom>
          <a:solidFill>
            <a:schemeClr val="bg2"/>
          </a:solidFill>
          <a:ln w="12700">
            <a:solidFill>
              <a:schemeClr val="bg2"/>
            </a:solidFill>
            <a:prstDash val="solid"/>
          </a:ln>
        </p:spPr>
      </p:sp>
      <p:sp>
        <p:nvSpPr>
          <p:cNvPr id="25" name="Text 18"/>
          <p:cNvSpPr txBox="1"/>
          <p:nvPr/>
        </p:nvSpPr>
        <p:spPr>
          <a:xfrm>
            <a:off x="9180576"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Resolution</a:t>
            </a:r>
            <a:endParaRPr lang="en-US" sz="2000" dirty="0"/>
          </a:p>
        </p:txBody>
      </p:sp>
      <p:sp>
        <p:nvSpPr>
          <p:cNvPr id="26" name="Text 19"/>
          <p:cNvSpPr txBox="1"/>
          <p:nvPr/>
        </p:nvSpPr>
        <p:spPr>
          <a:xfrm>
            <a:off x="9180576"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Commission issues the GAT Price by resolution</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ERC Mid-Merit Gas">
  <a:themeElements>
    <a:clrScheme name="ERC Mid-Merit Gas">
      <a:dk1>
        <a:srgbClr val="17202A"/>
      </a:dk1>
      <a:lt1>
        <a:srgbClr val="FFFFFF"/>
      </a:lt1>
      <a:dk2>
        <a:srgbClr val="14324F"/>
      </a:dk2>
      <a:lt2>
        <a:srgbClr val="EEF3F7"/>
      </a:lt2>
      <a:accent1>
        <a:srgbClr val="14324F"/>
      </a:accent1>
      <a:accent2>
        <a:srgbClr val="1F8A8A"/>
      </a:accent2>
      <a:accent3>
        <a:srgbClr val="E39B2D"/>
      </a:accent3>
      <a:accent4>
        <a:srgbClr val="5B7083"/>
      </a:accent4>
      <a:accent5>
        <a:srgbClr val="C6E3E1"/>
      </a:accent5>
      <a:accent6>
        <a:srgbClr val="FBE7C6"/>
      </a:accent6>
      <a:hlink>
        <a:srgbClr val="1F8A8A"/>
      </a:hlink>
      <a:folHlink>
        <a:srgbClr val="5B7083"/>
      </a:folHlink>
    </a:clrScheme>
    <a:fontScheme name="ERC Mid-Merit G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Energy Regulatory Commission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GAT Price Financial Model – Key Assumptions</dc:title>
  <dc:subject>PptxGenJS Presentation</dc:subject>
  <dc:creator>Energy Regulatory Commission</dc:creator>
  <cp:lastModifiedBy>Energy Regulatory Commission</cp:lastModifiedBy>
  <cp:revision>1</cp:revision>
  <dcterms:created xsi:type="dcterms:W3CDTF">2026-10-20T02:32:35Z</dcterms:created>
  <dcterms:modified xsi:type="dcterms:W3CDTF">2026-10-20T02:32:35Z</dcterms:modified>
</cp:coreProperties>
</file>