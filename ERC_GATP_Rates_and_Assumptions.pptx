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 A – TOR CF (42%)</c:v>
                </c:pt>
              </c:strCache>
            </c:strRef>
          </c:tx>
          <c:spPr>
            <a:solidFill>
              <a:srgbClr val="1F8A8A"/>
            </a:solidFill>
            <a:effectLst/>
          </c:spPr>
          <c:invertIfNegative val="0"/>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Sheet1!$B$2:$B$6</c:f>
              <c:numCache>
                <c:formatCode>General</c:formatCode>
                <c:ptCount val="5"/>
                <c:pt idx="0">
                  <c:v>2.12</c:v>
                </c:pt>
                <c:pt idx="1">
                  <c:v>2.05</c:v>
                </c:pt>
                <c:pt idx="2">
                  <c:v>4.7</c:v>
                </c:pt>
                <c:pt idx="3">
                  <c:v>2.92</c:v>
                </c:pt>
                <c:pt idx="4">
                  <c:v>4.45</c:v>
                </c:pt>
              </c:numCache>
            </c:numRef>
          </c:val>
        </c:ser>
        <c:ser>
          <c:idx val="1"/>
          <c:order val="1"/>
          <c:tx>
            <c:strRef>
              <c:f>Sheet1!$C$1</c:f>
              <c:strCache>
                <c:ptCount val="1"/>
                <c:pt idx="0">
                  <c:v>Case B – historical CF</c:v>
                </c:pt>
              </c:strCache>
            </c:strRef>
          </c:tx>
          <c:spPr>
            <a:solidFill>
              <a:srgbClr val="6C3FA0"/>
            </a:solidFill>
            <a:effectLst/>
          </c:spPr>
          <c:invertIfNegative val="0"/>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Sheet1!$C$2:$C$6</c:f>
              <c:numCache>
                <c:formatCode>General</c:formatCode>
                <c:ptCount val="5"/>
                <c:pt idx="0">
                  <c:v>1.35</c:v>
                </c:pt>
                <c:pt idx="1">
                  <c:v>1.35</c:v>
                </c:pt>
                <c:pt idx="2">
                  <c:v>3.18</c:v>
                </c:pt>
                <c:pt idx="3">
                  <c:v>2.06</c:v>
                </c:pt>
                <c:pt idx="4">
                  <c:v>3.05</c:v>
                </c:pt>
              </c:numCache>
            </c:numRef>
          </c:val>
        </c:ser>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CRF – capital recovery</c:v>
                </c:pt>
              </c:strCache>
            </c:strRef>
          </c:tx>
          <c:spPr>
            <a:solidFill>
              <a:srgbClr val="14324F"/>
            </a:solidFill>
            <a:effectLst/>
          </c:spPr>
          <c:invertIfNegative val="0"/>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Sheet1!$B$2:$B$6</c:f>
              <c:numCache>
                <c:formatCode>General</c:formatCode>
                <c:ptCount val="5"/>
                <c:pt idx="0">
                  <c:v>1.67</c:v>
                </c:pt>
                <c:pt idx="1">
                  <c:v>1.66</c:v>
                </c:pt>
                <c:pt idx="2">
                  <c:v>4.3</c:v>
                </c:pt>
                <c:pt idx="3">
                  <c:v>2.47</c:v>
                </c:pt>
                <c:pt idx="4">
                  <c:v>3.88</c:v>
                </c:pt>
              </c:numCache>
            </c:numRef>
          </c:val>
        </c:ser>
        <c:ser>
          <c:idx val="1"/>
          <c:order val="1"/>
          <c:tx>
            <c:strRef>
              <c:f>Sheet1!$C$1</c:f>
              <c:strCache>
                <c:ptCount val="1"/>
                <c:pt idx="0">
                  <c:v>OM – plant O&amp;M</c:v>
                </c:pt>
              </c:strCache>
            </c:strRef>
          </c:tx>
          <c:spPr>
            <a:solidFill>
              <a:srgbClr val="E39B2D"/>
            </a:solidFill>
            <a:effectLst/>
          </c:spPr>
          <c:invertIfNegative val="0"/>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Sheet1!$C$2:$C$6</c:f>
              <c:numCache>
                <c:formatCode>General</c:formatCode>
                <c:ptCount val="5"/>
                <c:pt idx="0">
                  <c:v>0.46</c:v>
                </c:pt>
                <c:pt idx="1">
                  <c:v>0.38</c:v>
                </c:pt>
                <c:pt idx="2">
                  <c:v>0.4</c:v>
                </c:pt>
                <c:pt idx="3">
                  <c:v>0.46</c:v>
                </c:pt>
                <c:pt idx="4">
                  <c:v>0.56</c:v>
                </c:pt>
              </c:numCache>
            </c:numRef>
          </c:val>
        </c:ser>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MERALCO Oct 2026 (all-in, incl. fuel)</c:v>
                </c:pt>
              </c:strCache>
            </c:strRef>
          </c:tx>
          <c:spPr>
            <a:solidFill>
              <a:srgbClr val="6B7280"/>
            </a:solidFill>
            <a:effectLst/>
          </c:spPr>
          <c:invertIfNegative val="0"/>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cat>
            <c:multiLvlStrRef>
              <c:f>Sheet1!$A$2:$A$5</c:f>
              <c:multiLvlStrCache>
                <c:ptCount val="4"/>
                <c:lvl>
                  <c:pt idx="0">
                    <c:v>Santa Rita
(FGPC)</c:v>
                  </c:pt>
                  <c:pt idx="1">
                    <c:v>San Lorenzo
(FGP)</c:v>
                  </c:pt>
                  <c:pt idx="2">
                    <c:v>Ilijan
(SPPC, 2024 PSA)</c:v>
                  </c:pt>
                  <c:pt idx="3">
                    <c:v>EERI Batangas
(2025 PSA)</c:v>
                  </c:pt>
                </c:lvl>
              </c:multiLvlStrCache>
            </c:multiLvlStrRef>
          </c:cat>
          <c:val>
            <c:numRef>
              <c:f>Sheet1!$B$2:$B$5</c:f>
              <c:numCache>
                <c:formatCode>General</c:formatCode>
                <c:ptCount val="4"/>
                <c:pt idx="0">
                  <c:v>11.41</c:v>
                </c:pt>
                <c:pt idx="1">
                  <c:v>11.14</c:v>
                </c:pt>
                <c:pt idx="2">
                  <c:v>12.68</c:v>
                </c:pt>
                <c:pt idx="3">
                  <c:v>15.58</c:v>
                </c:pt>
              </c:numCache>
            </c:numRef>
          </c:val>
        </c:ser>
        <c:ser>
          <c:idx val="1"/>
          <c:order val="1"/>
          <c:tx>
            <c:strRef>
              <c:f>Sheet1!$C$1</c:f>
              <c:strCache>
                <c:ptCount val="1"/>
                <c:pt idx="0">
                  <c:v>Draft GATP Case A (excl. fuel)</c:v>
                </c:pt>
              </c:strCache>
            </c:strRef>
          </c:tx>
          <c:spPr>
            <a:solidFill>
              <a:srgbClr val="1F8A8A"/>
            </a:solidFill>
            <a:effectLst/>
          </c:spPr>
          <c:invertIfNegative val="0"/>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cat>
            <c:multiLvlStrRef>
              <c:f>Sheet1!$A$2:$A$5</c:f>
              <c:multiLvlStrCache>
                <c:ptCount val="4"/>
                <c:lvl>
                  <c:pt idx="0">
                    <c:v>Santa Rita
(FGPC)</c:v>
                  </c:pt>
                  <c:pt idx="1">
                    <c:v>San Lorenzo
(FGP)</c:v>
                  </c:pt>
                  <c:pt idx="2">
                    <c:v>Ilijan
(SPPC, 2024 PSA)</c:v>
                  </c:pt>
                  <c:pt idx="3">
                    <c:v>EERI Batangas
(2025 PSA)</c:v>
                  </c:pt>
                </c:lvl>
              </c:multiLvlStrCache>
            </c:multiLvlStrRef>
          </c:cat>
          <c:val>
            <c:numRef>
              <c:f>Sheet1!$C$2:$C$5</c:f>
              <c:numCache>
                <c:formatCode>General</c:formatCode>
                <c:ptCount val="4"/>
                <c:pt idx="0">
                  <c:v>2.12</c:v>
                </c:pt>
                <c:pt idx="1">
                  <c:v>2.12</c:v>
                </c:pt>
                <c:pt idx="2">
                  <c:v>2.05</c:v>
                </c:pt>
                <c:pt idx="3">
                  <c:v>4.7</c:v>
                </c:pt>
              </c:numCache>
            </c:numRef>
          </c:val>
        </c:ser>
        <c:ser>
          <c:idx val="2"/>
          <c:order val="2"/>
          <c:tx>
            <c:strRef>
              <c:f>Sheet1!$D$1</c:f>
              <c:strCache>
                <c:ptCount val="1"/>
                <c:pt idx="0">
                  <c:v>Draft GATP Case B (excl. fuel)</c:v>
                </c:pt>
              </c:strCache>
            </c:strRef>
          </c:tx>
          <c:spPr>
            <a:solidFill>
              <a:srgbClr val="6C3FA0"/>
            </a:solidFill>
            <a:effectLst/>
          </c:spPr>
          <c:invertIfNegative val="0"/>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cat>
            <c:multiLvlStrRef>
              <c:f>Sheet1!$A$2:$A$5</c:f>
              <c:multiLvlStrCache>
                <c:ptCount val="4"/>
                <c:lvl>
                  <c:pt idx="0">
                    <c:v>Santa Rita
(FGPC)</c:v>
                  </c:pt>
                  <c:pt idx="1">
                    <c:v>San Lorenzo
(FGP)</c:v>
                  </c:pt>
                  <c:pt idx="2">
                    <c:v>Ilijan
(SPPC, 2024 PSA)</c:v>
                  </c:pt>
                  <c:pt idx="3">
                    <c:v>EERI Batangas
(2025 PSA)</c:v>
                  </c:pt>
                </c:lvl>
              </c:multiLvlStrCache>
            </c:multiLvlStrRef>
          </c:cat>
          <c:val>
            <c:numRef>
              <c:f>Sheet1!$D$2:$D$5</c:f>
              <c:numCache>
                <c:formatCode>General</c:formatCode>
                <c:ptCount val="4"/>
                <c:pt idx="0">
                  <c:v>1.35</c:v>
                </c:pt>
                <c:pt idx="1">
                  <c:v>1.35</c:v>
                </c:pt>
                <c:pt idx="2">
                  <c:v>1.35</c:v>
                </c:pt>
                <c:pt idx="3">
                  <c:v>3.18</c:v>
                </c:pt>
              </c:numCache>
            </c:numRef>
          </c:val>
        </c:ser>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MERALCO Oct 2026 (all-in)</c:v>
                </c:pt>
              </c:strCache>
            </c:strRef>
          </c:tx>
          <c:spPr>
            <a:solidFill>
              <a:srgbClr val="6B7280"/>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Sheet1!$B$2:$B$9</c:f>
              <c:numCache>
                <c:formatCode>General</c:formatCode>
                <c:ptCount val="8"/>
                <c:pt idx="0">
                  <c:v>11.41</c:v>
                </c:pt>
                <c:pt idx="1">
                  <c:v>0</c:v>
                </c:pt>
                <c:pt idx="2">
                  <c:v>11.14</c:v>
                </c:pt>
                <c:pt idx="3">
                  <c:v>0</c:v>
                </c:pt>
                <c:pt idx="4">
                  <c:v>12.68</c:v>
                </c:pt>
                <c:pt idx="5">
                  <c:v>0</c:v>
                </c:pt>
                <c:pt idx="6">
                  <c:v>15.58</c:v>
                </c:pt>
                <c:pt idx="7">
                  <c:v>0</c:v>
                </c:pt>
              </c:numCache>
            </c:numRef>
          </c:val>
        </c:ser>
        <c:ser>
          <c:idx val="1"/>
          <c:order val="1"/>
          <c:tx>
            <c:strRef>
              <c:f>Sheet1!$C$1</c:f>
              <c:strCache>
                <c:ptCount val="1"/>
                <c:pt idx="0">
                  <c:v>GATP = CRF + OM (Case A)</c:v>
                </c:pt>
              </c:strCache>
            </c:strRef>
          </c:tx>
          <c:spPr>
            <a:solidFill>
              <a:srgbClr val="1F8A8A"/>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Sheet1!$C$2:$C$9</c:f>
              <c:numCache>
                <c:formatCode>General</c:formatCode>
                <c:ptCount val="8"/>
                <c:pt idx="0">
                  <c:v>0</c:v>
                </c:pt>
                <c:pt idx="1">
                  <c:v>2.12</c:v>
                </c:pt>
                <c:pt idx="2">
                  <c:v>0</c:v>
                </c:pt>
                <c:pt idx="3">
                  <c:v>2.12</c:v>
                </c:pt>
                <c:pt idx="4">
                  <c:v>0</c:v>
                </c:pt>
                <c:pt idx="5">
                  <c:v>2.05</c:v>
                </c:pt>
                <c:pt idx="6">
                  <c:v>0</c:v>
                </c:pt>
                <c:pt idx="7">
                  <c:v>4.7</c:v>
                </c:pt>
              </c:numCache>
            </c:numRef>
          </c:val>
        </c:ser>
        <c:ser>
          <c:idx val="2"/>
          <c:order val="2"/>
          <c:tx>
            <c:strRef>
              <c:f>Sheet1!$D$1</c:f>
              <c:strCache>
                <c:ptCount val="1"/>
                <c:pt idx="0">
                  <c:v>Fuel commodity (FCC)</c:v>
                </c:pt>
              </c:strCache>
            </c:strRef>
          </c:tx>
          <c:spPr>
            <a:solidFill>
              <a:srgbClr val="E39B2D"/>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Sheet1!$D$2:$D$9</c:f>
              <c:numCache>
                <c:formatCode>General</c:formatCode>
                <c:ptCount val="8"/>
                <c:pt idx="0">
                  <c:v>0</c:v>
                </c:pt>
                <c:pt idx="1">
                  <c:v>4.53</c:v>
                </c:pt>
                <c:pt idx="2">
                  <c:v>0</c:v>
                </c:pt>
                <c:pt idx="3">
                  <c:v>4.53</c:v>
                </c:pt>
                <c:pt idx="4">
                  <c:v>0</c:v>
                </c:pt>
                <c:pt idx="5">
                  <c:v>5.96</c:v>
                </c:pt>
                <c:pt idx="6">
                  <c:v>0</c:v>
                </c:pt>
                <c:pt idx="7">
                  <c:v>5.72</c:v>
                </c:pt>
              </c:numCache>
            </c:numRef>
          </c:val>
        </c:ser>
        <c:ser>
          <c:idx val="3"/>
          <c:order val="3"/>
          <c:tx>
            <c:strRef>
              <c:f>Sheet1!$E$1</c:f>
              <c:strCache>
                <c:ptCount val="1"/>
                <c:pt idx="0">
                  <c:v>CLLC at caps</c:v>
                </c:pt>
              </c:strCache>
            </c:strRef>
          </c:tx>
          <c:spPr>
            <a:solidFill>
              <a:srgbClr val="B4463A"/>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Sheet1!$E$2:$E$9</c:f>
              <c:numCache>
                <c:formatCode>General</c:formatCode>
                <c:ptCount val="8"/>
                <c:pt idx="0">
                  <c:v>0</c:v>
                </c:pt>
                <c:pt idx="1">
                  <c:v>0.49</c:v>
                </c:pt>
                <c:pt idx="2">
                  <c:v>0</c:v>
                </c:pt>
                <c:pt idx="3">
                  <c:v>0.49</c:v>
                </c:pt>
                <c:pt idx="4">
                  <c:v>0</c:v>
                </c:pt>
                <c:pt idx="5">
                  <c:v>0.98</c:v>
                </c:pt>
                <c:pt idx="6">
                  <c:v>0</c:v>
                </c:pt>
                <c:pt idx="7">
                  <c:v>0.94</c:v>
                </c:pt>
              </c:numCache>
            </c:numRef>
          </c:val>
        </c:ser>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for internal deliberation. It shows the draft GAT Prices from the Commission's model for every DOE lot and technology, then every assumption behind them. The rates are drafts: they change with the inputs, and they bind only once the Commission issues them by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One: the GAT Price is CRF plus OM; fuel and the capped logistics cost are paid separately through the Fuel Cost. Two: at the TOR capacity factor, Case A, the draft rates run from 2.05 to 4.70 pesos per kWh. Three: at the historical capacity factor, Case B, they are lower, 1.35 to 3.18, because the same capital is spread over more energy. Four: capital cost is set at market plus 25 percent, which lifts new-build CCGT the most. The table on the right gives each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Teal bars are Case A at the TOR capacity factor, purple bars are Case B at the historical capacity factor. New-build CCGT and gas engines carry the highest rates because their capital cost per kW is highest. The existing CCGT lots are lowest. Case B is about a third lower everywhere, because the same fixed cost is spread over roughly 60 percent more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splits into CRF, the capital recovery including financing, taxes and G&amp;A, in navy, and OM, fixed and variable plant O&amp;M, in amber. CRF is 79 to 92 percent of every rate, so capital cost and financing drive the result. OM is a modest 0.38 to 0.56 pesos per kWh.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set. Each row is a lot and technology, coloured by lot and region. Case A columns are teal, Case B purple. Each rate is CRF plus OM. Visayas equals Luzon new-build because the model works per kW and uses the same per-kW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moved the rates. First, the capped logistics cost left the GAT Price for the Fuel Cost, which lowered every rate, while new-build capex rose to market levels. Second, today capex rose another 25 percent for all plants, existing and new. The net effect: up for new CCGT everywhere and for gas engines in Luzon; down for the existing lots, for OCGT, and for Visayas gas engines, where logistics costs were heaviest.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bars are what MERALCO actually paid each gas plant in its October 2026 generation charge, all-in: capacity, O&amp;M, fuel, logistics. Teal and purple are our draft GAT Prices for the comparable lot, which cover only capital and plant O&amp;M. Fuel and the capped logistics cost come on top through the Fuel Cost. So the gap between the bars is what fuel and logistics must cover. MERALCO's overall generation charge for October was 10.20 pesos per kWh.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puts the numbers side by side. The latest month and the three-month average from August to October, the comparable lot, and our draft rates. The gap column is MERALCO's all-in rate minus the Case A GAT Price: that is what fuel, logistics and anything else in the existing contracts must cover. The last column turns that gap into dollars per million BTU at the model's heat rate, so it can be read against delivered LNG prices. A high figure means the existing contracts carry more than fuel, or the plant runs less efficiently than the reference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puts both sides on the same footing. For each plant the right-hand bar stacks our draft GAT Price, which already contains plant O&amp;M, plus the Fuel Cost the Rules would allow: the fuel commodity at the gas benchmark, and the capped landed logistics cost at the proposed caps. The grey bar is what MERALCO paid in October. On these assumptions the auction structure would deliver an all-in rate about 32 percent below MERALCO's October rates. The gap reflects the caps, the benchmark gas price and the reference heat rate against actual contract terms, which we cannot see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comparison in numbers, for both cases. Each draft all-in rate is GATP plus fuel commodity plus capped logistics. Case B is lower only in the GATP part, because fuel and logistics are per kWh and do not change with dispatch. The range column shows the Case A all-in at JKM between 12.5 and 14.2 dollars. Even at the top of that range the auction structure sits below MERALCO's October and three-month rates for every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rates, the deck walks through every assumption behind them, the evidence we want from stakeholders, and the next steps. The rates remain drafts until the Commission issues them by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600 US dollars per kW. For new builds we use 1,500 for a CCGT, 1,375 for gas engines and 875 for an OCGT. These are current market levels plus 25 percent, reflecting turbine shortages and EPC cost inflation.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complete list: every parameter in the model's Inputs and Assumptions, 115 lines in nine groups, with its value and basis. We will move quickly; the slides are yours to keep and check line by line. Flag anything you want to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guide to the tables. Values are for the Luzon cases at the TOR capacity factor, Case A. Where the historical-dispatch case, Case B, gives a different value, it gets its own purple line under the teal Case A line. Visayas cases use the same per-kW inputs at 440 or 500 megawatts. Where all five cases share one value, it is shown once across the row. The Type column says whether a value is typed in, calculated, or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colours run through every slide. Teal is Case A, the TOR capacity factor; purple is Case B, the historical one. Each lot and region has its own colour: navy for Lot 1, blue for Lot 2, green for new-build Luzon, orange for Visayas 440 megawatts and magenta for Visayas 500 megawatts. Mindanao is grey: the DOE TOR has no Mindanao lot, so it is not modelled.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size and dispatch. Capacity comes from the TOR lot sizes, split into standard units. Capacity factor is 42 percent in Case A, teal; Case B, purple, sits on the line below. Everything is on a net basis, and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Construction runs zero to 36 months by technology, recovery is over 30 years, and all costs are in 2028 terms, so there is no escalation offset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 cost. The all-in cost targets drive everything here; the model calibrates equipment cost to hit them. The percentages for balance of plant, freight, development, contingency and working capital are model defaults we invite you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and sources of funds, in US dollar millions. These follow from the all-in cost and the 70-30 capital structure. Financing cost during construction is largest for the CCGT because it takes three years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O&amp;M and G&amp;A. Fixed O&amp;M per kW-year, variable non-fuel O&amp;M per MWh, and G&amp;A at 6 percent. Logistics are excluded. The three target lines are reference values only and do not enter the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70-30 debt to equity, 8 percent debt over 15 years with a six-month grace, 14 percent equity return. The local and foreign split and the debt amounts are calculated. WACC is a result,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Taxes and incentives. No BOI or PEZA incentive and no tax holiday. Income tax 25 percent; property tax, local business tax, ER 1-94, and taxes on financing are all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currency. Real terms: zero CPI and zero peso depreciation, because the GAT Price is fixed in pesos and not indexed. The exchange rate is the BSP rate of 25 September 2026. Working capital runs on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technical. Fuel is switched off in the model because it sits outside the GAT Price. These lines remain for the efficiency calculation only and do not affect the GAT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lines where the Visayas cases differ from new-build Luzon: plant size, and the amounts that scale with it. Orange is Visayas 440 megawatts from 2028, magenta is Visayas 500 megawatts from 2031. Per-kW inputs, financing, taxes and timing are the same as Luzon, so the basis column on the earlier slides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Draft GAT Prices – internal, not for distribution  |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3.xml"/><Relationship Id="rId6"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Draft Rates and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Rates by lot, Case A and Case B, and the model inputs behind them</a:t>
            </a:r>
            <a:endParaRPr lang="en-US" sz="2200" dirty="0"/>
          </a:p>
          <a:p>
            <a:pPr indent="0" marL="0">
              <a:buNone/>
            </a:pPr>
            <a:r>
              <a:rPr lang="en-US" sz="1800" dirty="0">
                <a:solidFill>
                  <a:srgbClr val="FFFFFF"/>
                </a:solidFill>
              </a:rPr>
              <a:t>Mid-Merit Natural Gas Capacity Auction  |  ERC Case No. 2026-015 RM  |  Internal – not for distribution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Executive summary</a:t>
            </a:r>
            <a:endParaRPr lang="en-US" sz="3400" dirty="0"/>
          </a:p>
        </p:txBody>
      </p:sp>
      <p:sp>
        <p:nvSpPr>
          <p:cNvPr id="4" name="Card"/>
          <p:cNvSpPr/>
          <p:nvPr/>
        </p:nvSpPr>
        <p:spPr>
          <a:xfrm>
            <a:off x="548640" y="1325880"/>
            <a:ext cx="5120640" cy="1051560"/>
          </a:xfrm>
          <a:prstGeom prst="roundRect">
            <a:avLst>
              <a:gd name="adj" fmla="val 10435"/>
            </a:avLst>
          </a:prstGeom>
          <a:solidFill>
            <a:schemeClr val="bg2"/>
          </a:solidFill>
          <a:ln w="12700">
            <a:solidFill>
              <a:schemeClr val="bg2"/>
            </a:solidFill>
            <a:prstDash val="solid"/>
          </a:ln>
        </p:spPr>
      </p:sp>
      <p:sp>
        <p:nvSpPr>
          <p:cNvPr id="5" name="Icon circle"/>
          <p:cNvSpPr/>
          <p:nvPr/>
        </p:nvSpPr>
        <p:spPr>
          <a:xfrm>
            <a:off x="731520" y="1508760"/>
            <a:ext cx="685800" cy="685800"/>
          </a:xfrm>
          <a:prstGeom prst="ellipse">
            <a:avLst/>
          </a:prstGeom>
          <a:solidFill>
            <a:schemeClr val="tx2"/>
          </a:solidFill>
          <a:ln w="12700">
            <a:solidFill>
              <a:schemeClr val="tx2"/>
            </a:solidFill>
            <a:prstDash val="solid"/>
          </a:ln>
        </p:spPr>
      </p:sp>
      <p:pic>
        <p:nvPicPr>
          <p:cNvPr id="6" name="Icon" descr="preencoded.png">    </p:cNvPr>
          <p:cNvPicPr>
            <a:picLocks noChangeAspect="1"/>
          </p:cNvPicPr>
          <p:nvPr/>
        </p:nvPicPr>
        <p:blipFill>
          <a:blip r:embed="rId1"/>
          <a:stretch>
            <a:fillRect/>
          </a:stretch>
        </p:blipFill>
        <p:spPr>
          <a:xfrm>
            <a:off x="909828" y="1687068"/>
            <a:ext cx="329184" cy="329184"/>
          </a:xfrm>
          <a:prstGeom prst="rect">
            <a:avLst/>
          </a:prstGeom>
        </p:spPr>
      </p:pic>
      <p:sp>
        <p:nvSpPr>
          <p:cNvPr id="7" name="Text 3"/>
          <p:cNvSpPr txBox="1"/>
          <p:nvPr/>
        </p:nvSpPr>
        <p:spPr>
          <a:xfrm>
            <a:off x="1600200" y="1371600"/>
            <a:ext cx="3977640" cy="96012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GATP = CRF + OM</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Capital recovery plus plant O&amp;M. Fuel and the CLLC are paid through the Fuel Cost.</a:t>
            </a:r>
            <a:endParaRPr lang="en-US" sz="1900" dirty="0"/>
          </a:p>
        </p:txBody>
      </p:sp>
      <p:sp>
        <p:nvSpPr>
          <p:cNvPr id="8" name="Card"/>
          <p:cNvSpPr/>
          <p:nvPr/>
        </p:nvSpPr>
        <p:spPr>
          <a:xfrm>
            <a:off x="548640" y="2496312"/>
            <a:ext cx="5120640" cy="1051560"/>
          </a:xfrm>
          <a:prstGeom prst="roundRect">
            <a:avLst>
              <a:gd name="adj" fmla="val 10435"/>
            </a:avLst>
          </a:prstGeom>
          <a:solidFill>
            <a:schemeClr val="bg2"/>
          </a:solidFill>
          <a:ln w="12700">
            <a:solidFill>
              <a:schemeClr val="bg2"/>
            </a:solidFill>
            <a:prstDash val="solid"/>
          </a:ln>
        </p:spPr>
      </p:sp>
      <p:sp>
        <p:nvSpPr>
          <p:cNvPr id="9" name="Icon circle"/>
          <p:cNvSpPr/>
          <p:nvPr/>
        </p:nvSpPr>
        <p:spPr>
          <a:xfrm>
            <a:off x="731520" y="2679192"/>
            <a:ext cx="685800" cy="685800"/>
          </a:xfrm>
          <a:prstGeom prst="ellipse">
            <a:avLst/>
          </a:prstGeom>
          <a:solidFill>
            <a:srgbClr val="1F8A8A"/>
          </a:solidFill>
          <a:ln w="12700">
            <a:solidFill>
              <a:srgbClr val="1F8A8A"/>
            </a:solidFill>
            <a:prstDash val="solid"/>
          </a:ln>
        </p:spPr>
      </p:sp>
      <p:pic>
        <p:nvPicPr>
          <p:cNvPr id="10" name="Icon" descr="preencoded.png">    </p:cNvPr>
          <p:cNvPicPr>
            <a:picLocks noChangeAspect="1"/>
          </p:cNvPicPr>
          <p:nvPr/>
        </p:nvPicPr>
        <p:blipFill>
          <a:blip r:embed="rId2"/>
          <a:stretch>
            <a:fillRect/>
          </a:stretch>
        </p:blipFill>
        <p:spPr>
          <a:xfrm>
            <a:off x="909828" y="2857500"/>
            <a:ext cx="329184" cy="329184"/>
          </a:xfrm>
          <a:prstGeom prst="rect">
            <a:avLst/>
          </a:prstGeom>
        </p:spPr>
      </p:pic>
      <p:sp>
        <p:nvSpPr>
          <p:cNvPr id="11" name="Text 6"/>
          <p:cNvSpPr txBox="1"/>
          <p:nvPr/>
        </p:nvSpPr>
        <p:spPr>
          <a:xfrm>
            <a:off x="1600200" y="2542032"/>
            <a:ext cx="3977640" cy="960120"/>
          </a:xfrm>
          <a:prstGeom prst="rect">
            <a:avLst/>
          </a:prstGeom>
          <a:noFill/>
          <a:ln/>
        </p:spPr>
        <p:txBody>
          <a:bodyPr wrap="square" lIns="0" tIns="0" rIns="0" bIns="0" rtlCol="0" anchor="ctr"/>
          <a:lstStyle/>
          <a:p>
            <a:pPr indent="0" marL="0">
              <a:buNone/>
            </a:pPr>
            <a:r>
              <a:rPr lang="en-US" sz="1900" b="1" dirty="0">
                <a:solidFill>
                  <a:srgbClr val="1F8A8A"/>
                </a:solidFill>
                <a:latin typeface="Cambria" pitchFamily="34" charset="0"/>
                <a:ea typeface="Cambria" pitchFamily="34" charset="-122"/>
                <a:cs typeface="Cambria" pitchFamily="34" charset="-120"/>
              </a:rPr>
              <a:t>Case A: PhP 2.05–4.70/kWh</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TOR capacity factor (42%).</a:t>
            </a:r>
            <a:endParaRPr lang="en-US" sz="1900" dirty="0"/>
          </a:p>
        </p:txBody>
      </p:sp>
      <p:sp>
        <p:nvSpPr>
          <p:cNvPr id="12" name="Card"/>
          <p:cNvSpPr/>
          <p:nvPr/>
        </p:nvSpPr>
        <p:spPr>
          <a:xfrm>
            <a:off x="548640" y="3666744"/>
            <a:ext cx="5120640" cy="1051560"/>
          </a:xfrm>
          <a:prstGeom prst="roundRect">
            <a:avLst>
              <a:gd name="adj" fmla="val 10435"/>
            </a:avLst>
          </a:prstGeom>
          <a:solidFill>
            <a:schemeClr val="bg2"/>
          </a:solidFill>
          <a:ln w="12700">
            <a:solidFill>
              <a:schemeClr val="bg2"/>
            </a:solidFill>
            <a:prstDash val="solid"/>
          </a:ln>
        </p:spPr>
      </p:sp>
      <p:sp>
        <p:nvSpPr>
          <p:cNvPr id="13" name="Icon circle"/>
          <p:cNvSpPr/>
          <p:nvPr/>
        </p:nvSpPr>
        <p:spPr>
          <a:xfrm>
            <a:off x="731520" y="3849624"/>
            <a:ext cx="685800" cy="685800"/>
          </a:xfrm>
          <a:prstGeom prst="ellipse">
            <a:avLst/>
          </a:prstGeom>
          <a:solidFill>
            <a:srgbClr val="6C3FA0"/>
          </a:solidFill>
          <a:ln w="12700">
            <a:solidFill>
              <a:srgbClr val="6C3FA0"/>
            </a:solidFill>
            <a:prstDash val="solid"/>
          </a:ln>
        </p:spPr>
      </p:sp>
      <p:pic>
        <p:nvPicPr>
          <p:cNvPr id="14" name="Icon" descr="preencoded.png">    </p:cNvPr>
          <p:cNvPicPr>
            <a:picLocks noChangeAspect="1"/>
          </p:cNvPicPr>
          <p:nvPr/>
        </p:nvPicPr>
        <p:blipFill>
          <a:blip r:embed="rId3"/>
          <a:stretch>
            <a:fillRect/>
          </a:stretch>
        </p:blipFill>
        <p:spPr>
          <a:xfrm>
            <a:off x="909828" y="4027932"/>
            <a:ext cx="329184" cy="329184"/>
          </a:xfrm>
          <a:prstGeom prst="rect">
            <a:avLst/>
          </a:prstGeom>
        </p:spPr>
      </p:pic>
      <p:sp>
        <p:nvSpPr>
          <p:cNvPr id="15" name="Text 9"/>
          <p:cNvSpPr txBox="1"/>
          <p:nvPr/>
        </p:nvSpPr>
        <p:spPr>
          <a:xfrm>
            <a:off x="1600200" y="3712464"/>
            <a:ext cx="3977640" cy="960120"/>
          </a:xfrm>
          <a:prstGeom prst="rect">
            <a:avLst/>
          </a:prstGeom>
          <a:noFill/>
          <a:ln/>
        </p:spPr>
        <p:txBody>
          <a:bodyPr wrap="square" lIns="0" tIns="0" rIns="0" bIns="0" rtlCol="0" anchor="ctr"/>
          <a:lstStyle/>
          <a:p>
            <a:pPr indent="0" marL="0">
              <a:buNone/>
            </a:pPr>
            <a:r>
              <a:rPr lang="en-US" sz="1900" b="1" dirty="0">
                <a:solidFill>
                  <a:srgbClr val="6C3FA0"/>
                </a:solidFill>
                <a:latin typeface="Cambria" pitchFamily="34" charset="0"/>
                <a:ea typeface="Cambria" pitchFamily="34" charset="-122"/>
                <a:cs typeface="Cambria" pitchFamily="34" charset="-120"/>
              </a:rPr>
              <a:t>Case B: PhP 1.35–3.18/kWh</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Historical capacity factor (63%–67%): more kWh, lower rate.</a:t>
            </a:r>
            <a:endParaRPr lang="en-US" sz="1900" dirty="0"/>
          </a:p>
        </p:txBody>
      </p:sp>
      <p:sp>
        <p:nvSpPr>
          <p:cNvPr id="16" name="Card"/>
          <p:cNvSpPr/>
          <p:nvPr/>
        </p:nvSpPr>
        <p:spPr>
          <a:xfrm>
            <a:off x="548640" y="4837176"/>
            <a:ext cx="5120640" cy="1051560"/>
          </a:xfrm>
          <a:prstGeom prst="roundRect">
            <a:avLst>
              <a:gd name="adj" fmla="val 10435"/>
            </a:avLst>
          </a:prstGeom>
          <a:solidFill>
            <a:schemeClr val="bg2"/>
          </a:solidFill>
          <a:ln w="12700">
            <a:solidFill>
              <a:schemeClr val="bg2"/>
            </a:solidFill>
            <a:prstDash val="solid"/>
          </a:ln>
        </p:spPr>
      </p:sp>
      <p:sp>
        <p:nvSpPr>
          <p:cNvPr id="17" name="Icon circle"/>
          <p:cNvSpPr/>
          <p:nvPr/>
        </p:nvSpPr>
        <p:spPr>
          <a:xfrm>
            <a:off x="731520" y="5020056"/>
            <a:ext cx="685800" cy="685800"/>
          </a:xfrm>
          <a:prstGeom prst="ellipse">
            <a:avLst/>
          </a:prstGeom>
          <a:solidFill>
            <a:schemeClr val="accent3"/>
          </a:solidFill>
          <a:ln w="12700">
            <a:solidFill>
              <a:schemeClr val="accent3"/>
            </a:solidFill>
            <a:prstDash val="solid"/>
          </a:ln>
        </p:spPr>
      </p:sp>
      <p:pic>
        <p:nvPicPr>
          <p:cNvPr id="18" name="Icon" descr="preencoded.png">    </p:cNvPr>
          <p:cNvPicPr>
            <a:picLocks noChangeAspect="1"/>
          </p:cNvPicPr>
          <p:nvPr/>
        </p:nvPicPr>
        <p:blipFill>
          <a:blip r:embed="rId4"/>
          <a:stretch>
            <a:fillRect/>
          </a:stretch>
        </p:blipFill>
        <p:spPr>
          <a:xfrm>
            <a:off x="909828" y="5198364"/>
            <a:ext cx="329184" cy="329184"/>
          </a:xfrm>
          <a:prstGeom prst="rect">
            <a:avLst/>
          </a:prstGeom>
        </p:spPr>
      </p:pic>
      <p:sp>
        <p:nvSpPr>
          <p:cNvPr id="19" name="Text 12"/>
          <p:cNvSpPr txBox="1"/>
          <p:nvPr/>
        </p:nvSpPr>
        <p:spPr>
          <a:xfrm>
            <a:off x="1600200" y="4882896"/>
            <a:ext cx="3977640" cy="960120"/>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Capex at market +25%</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Existing CCGT US$600/kW; new CCGT 1,500, gas engine 1,375, OCGT 875.</a:t>
            </a:r>
            <a:endParaRPr lang="en-US" sz="1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89320" y="1325880"/>
          <a:ext cx="5623560" cy="914400"/>
        </p:xfrm>
        <a:graphic>
          <a:graphicData uri="http://schemas.openxmlformats.org/drawingml/2006/table">
            <a:tbl>
              <a:tblPr/>
              <a:tblGrid>
                <a:gridCol w="2880360"/>
                <a:gridCol w="1371600"/>
                <a:gridCol w="1371600"/>
              </a:tblGrid>
              <a:tr h="56692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Lot / technology</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Case A</a:t>
                      </a:r>
                      <a:endParaRPr lang="en-US" sz="1500" dirty="0">
                        <a:latin typeface="Calibri" charset="0"/>
                        <a:ea typeface="Calibri" charset="0"/>
                        <a:cs typeface="Calibri" charset="0"/>
                      </a:endParaRPr>
                    </a:p>
                    <a:p>
                      <a:pPr algn="ctr" indent="0" marL="0">
                        <a:buNone/>
                      </a:pPr>
                      <a:r>
                        <a:rPr lang="en-US" sz="1500" b="1" dirty="0">
                          <a:solidFill>
                            <a:srgbClr val="FFFFFF"/>
                          </a:solidFill>
                          <a:latin typeface="Calibri" pitchFamily="34" charset="0"/>
                          <a:ea typeface="Calibri" pitchFamily="34" charset="-122"/>
                          <a:cs typeface="Calibri" pitchFamily="34" charset="-120"/>
                        </a:rPr>
                        <a:t>PhP/kWh</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Case B</a:t>
                      </a:r>
                      <a:endParaRPr lang="en-US" sz="1500" dirty="0">
                        <a:latin typeface="Calibri" charset="0"/>
                        <a:ea typeface="Calibri" charset="0"/>
                        <a:cs typeface="Calibri" charset="0"/>
                      </a:endParaRPr>
                    </a:p>
                    <a:p>
                      <a:pPr algn="ctr" indent="0" marL="0">
                        <a:buNone/>
                      </a:pPr>
                      <a:r>
                        <a:rPr lang="en-US" sz="1500" b="1" dirty="0">
                          <a:solidFill>
                            <a:srgbClr val="FFFFFF"/>
                          </a:solidFill>
                          <a:latin typeface="Calibri" pitchFamily="34" charset="0"/>
                          <a:ea typeface="Calibri" pitchFamily="34" charset="-122"/>
                          <a:cs typeface="Calibri" pitchFamily="34" charset="-120"/>
                        </a:rPr>
                        <a:t>PhP/kWh</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2.12</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1.35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2.05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1.35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4.70</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3.18</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2.92</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2.06</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4.45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3.05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Visayas 440 / 500 MW new-build</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gridSpan="2">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Same as Luzon new-build, by technology</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hMerge="1">
                  <a:tcPr/>
                </a:tc>
              </a:tr>
            </a:tbl>
          </a:graphicData>
        </a:graphic>
      </p:graphicFrame>
      <p:sp>
        <p:nvSpPr>
          <p:cNvPr id="21"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Draft GAT Prices, PhP/kWh, excluding fuel and CLLC; 30-year recovery; equity NPV = 0 at 14%. Not final: issued only by Commission resolution.</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Draft GAT Price by lot: Case A vs Case B</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4572000"/>
          </a:xfrm>
          <a:prstGeom prst="roundRect">
            <a:avLst>
              <a:gd name="adj" fmla="val 3750"/>
            </a:avLst>
          </a:prstGeom>
          <a:solidFill>
            <a:schemeClr val="bg2"/>
          </a:solidFill>
          <a:ln w="12700">
            <a:solidFill>
              <a:schemeClr val="bg2"/>
            </a:solidFill>
            <a:prstDash val="solid"/>
          </a:ln>
        </p:spPr>
      </p:sp>
      <p:sp>
        <p:nvSpPr>
          <p:cNvPr id="6" name="Text 2"/>
          <p:cNvSpPr txBox="1"/>
          <p:nvPr/>
        </p:nvSpPr>
        <p:spPr>
          <a:xfrm>
            <a:off x="8869680" y="1417320"/>
            <a:ext cx="2606040" cy="4297680"/>
          </a:xfrm>
          <a:prstGeom prst="rect">
            <a:avLst/>
          </a:prstGeom>
          <a:noFill/>
          <a:ln/>
        </p:spPr>
        <p:txBody>
          <a:bodyPr wrap="square" lIns="0" tIns="0" rIns="0" bIns="0" rtlCol="0" anchor="t"/>
          <a:lstStyle/>
          <a:p>
            <a:pPr indent="0" marL="0">
              <a:buNone/>
            </a:pPr>
            <a:r>
              <a:rPr lang="en-US" sz="1900" b="1" dirty="0">
                <a:solidFill>
                  <a:srgbClr val="14324F"/>
                </a:solidFill>
                <a:latin typeface="Cambria" pitchFamily="34" charset="0"/>
                <a:ea typeface="Cambria" pitchFamily="34" charset="-122"/>
                <a:cs typeface="Cambria" pitchFamily="34" charset="-120"/>
              </a:rPr>
              <a:t>Reading the chart</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Highest: new CCGT, then gas engine (capex per kW).</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Lowest: existing CCGT lots (US$600/kW).</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Case B is 33% lower on average: more energy, same fixed cost.</a:t>
            </a:r>
            <a:endParaRPr lang="en-US" sz="1900" dirty="0"/>
          </a:p>
          <a:p>
            <a:pPr marL="342900" indent="-342900">
              <a:buSzPct val="100000"/>
              <a:buChar char="•"/>
            </a:pPr>
            <a:r>
              <a:rPr lang="en-US" sz="1500" dirty="0">
                <a:solidFill>
                  <a:srgbClr val="17202A"/>
                </a:solidFill>
                <a:latin typeface="Calibri" pitchFamily="34" charset="0"/>
                <a:ea typeface="Calibri" pitchFamily="34" charset="-122"/>
                <a:cs typeface="Calibri" pitchFamily="34" charset="-120"/>
              </a:rPr>
              <a:t>Visayas rates equal Luzon new-build by technology (per-kW model).</a:t>
            </a:r>
            <a:endParaRPr lang="en-US" sz="19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each rate: CRF + OM (Case A)</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2377440"/>
          </a:xfrm>
          <a:prstGeom prst="roundRect">
            <a:avLst>
              <a:gd name="adj" fmla="val 4615"/>
            </a:avLst>
          </a:prstGeom>
          <a:solidFill>
            <a:schemeClr val="bg2"/>
          </a:solidFill>
          <a:ln w="12700">
            <a:solidFill>
              <a:schemeClr val="bg2"/>
            </a:solidFill>
            <a:prstDash val="solid"/>
          </a:ln>
        </p:spPr>
      </p:sp>
      <p:sp>
        <p:nvSpPr>
          <p:cNvPr id="6" name="Text 2"/>
          <p:cNvSpPr txBox="1"/>
          <p:nvPr/>
        </p:nvSpPr>
        <p:spPr>
          <a:xfrm>
            <a:off x="8869680" y="1508760"/>
            <a:ext cx="2560320" cy="914400"/>
          </a:xfrm>
          <a:prstGeom prst="rect">
            <a:avLst/>
          </a:prstGeom>
          <a:noFill/>
          <a:ln/>
        </p:spPr>
        <p:txBody>
          <a:bodyPr wrap="square" lIns="0" tIns="0" rIns="0" bIns="0" rtlCol="0" anchor="ctr"/>
          <a:lstStyle/>
          <a:p>
            <a:pPr indent="0" marL="0">
              <a:buNone/>
            </a:pPr>
            <a:r>
              <a:rPr lang="en-US" sz="3400" b="1" dirty="0">
                <a:solidFill>
                  <a:srgbClr val="14324F"/>
                </a:solidFill>
                <a:latin typeface="Cambria" pitchFamily="34" charset="0"/>
                <a:ea typeface="Cambria" pitchFamily="34" charset="-122"/>
                <a:cs typeface="Cambria" pitchFamily="34" charset="-120"/>
              </a:rPr>
              <a:t>79–92%</a:t>
            </a:r>
            <a:endParaRPr lang="en-US" sz="3400" dirty="0"/>
          </a:p>
        </p:txBody>
      </p:sp>
      <p:sp>
        <p:nvSpPr>
          <p:cNvPr id="7" name="Text 3"/>
          <p:cNvSpPr txBox="1"/>
          <p:nvPr/>
        </p:nvSpPr>
        <p:spPr>
          <a:xfrm>
            <a:off x="8869680" y="2468880"/>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CRF share of the rate</a:t>
            </a:r>
            <a:endParaRPr lang="en-US" sz="1800" dirty="0"/>
          </a:p>
        </p:txBody>
      </p:sp>
      <p:sp>
        <p:nvSpPr>
          <p:cNvPr id="8" name="Text 4"/>
          <p:cNvSpPr txBox="1"/>
          <p:nvPr/>
        </p:nvSpPr>
        <p:spPr>
          <a:xfrm>
            <a:off x="8869680" y="2926080"/>
            <a:ext cx="2560320" cy="594360"/>
          </a:xfrm>
          <a:prstGeom prst="rect">
            <a:avLst/>
          </a:prstGeom>
          <a:noFill/>
          <a:ln/>
        </p:spPr>
        <p:txBody>
          <a:bodyPr wrap="square" lIns="0" tIns="0" rIns="0" bIns="0" rtlCol="0" anchor="t"/>
          <a:lstStyle/>
          <a:p>
            <a:pPr indent="0" marL="0">
              <a:buNone/>
            </a:pPr>
            <a:r>
              <a:rPr lang="en-US" sz="1400" dirty="0">
                <a:solidFill>
                  <a:schemeClr val="accent4"/>
                </a:solidFill>
              </a:rPr>
              <a:t>Capital cost and financing dominate</a:t>
            </a:r>
            <a:endParaRPr lang="en-US" sz="1400" dirty="0"/>
          </a:p>
        </p:txBody>
      </p:sp>
      <p:sp>
        <p:nvSpPr>
          <p:cNvPr id="9" name="Card"/>
          <p:cNvSpPr/>
          <p:nvPr/>
        </p:nvSpPr>
        <p:spPr>
          <a:xfrm>
            <a:off x="8686800" y="3840480"/>
            <a:ext cx="2926080" cy="2377440"/>
          </a:xfrm>
          <a:prstGeom prst="roundRect">
            <a:avLst>
              <a:gd name="adj" fmla="val 4615"/>
            </a:avLst>
          </a:prstGeom>
          <a:solidFill>
            <a:srgbClr val="FDF1DC"/>
          </a:solidFill>
          <a:ln w="12700">
            <a:solidFill>
              <a:srgbClr val="FDF1DC"/>
            </a:solidFill>
            <a:prstDash val="solid"/>
          </a:ln>
        </p:spPr>
      </p:sp>
      <p:sp>
        <p:nvSpPr>
          <p:cNvPr id="10" name="Text 6"/>
          <p:cNvSpPr txBox="1"/>
          <p:nvPr/>
        </p:nvSpPr>
        <p:spPr>
          <a:xfrm>
            <a:off x="8869680" y="4069080"/>
            <a:ext cx="2560320" cy="914400"/>
          </a:xfrm>
          <a:prstGeom prst="rect">
            <a:avLst/>
          </a:prstGeom>
          <a:noFill/>
          <a:ln/>
        </p:spPr>
        <p:txBody>
          <a:bodyPr wrap="square" lIns="0" tIns="0" rIns="0" bIns="0" rtlCol="0" anchor="ctr"/>
          <a:lstStyle/>
          <a:p>
            <a:pPr indent="0" marL="0">
              <a:buNone/>
            </a:pPr>
            <a:r>
              <a:rPr lang="en-US" sz="3400" b="1" dirty="0">
                <a:solidFill>
                  <a:srgbClr val="B45309"/>
                </a:solidFill>
                <a:latin typeface="Cambria" pitchFamily="34" charset="0"/>
                <a:ea typeface="Cambria" pitchFamily="34" charset="-122"/>
                <a:cs typeface="Cambria" pitchFamily="34" charset="-120"/>
              </a:rPr>
              <a:t>0.38–0.56</a:t>
            </a:r>
            <a:endParaRPr lang="en-US" sz="3400" dirty="0"/>
          </a:p>
        </p:txBody>
      </p:sp>
      <p:sp>
        <p:nvSpPr>
          <p:cNvPr id="11" name="Text 7"/>
          <p:cNvSpPr txBox="1"/>
          <p:nvPr/>
        </p:nvSpPr>
        <p:spPr>
          <a:xfrm>
            <a:off x="8869680" y="5029200"/>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OM, PhP/kWh</a:t>
            </a:r>
            <a:endParaRPr lang="en-US" sz="1800" dirty="0"/>
          </a:p>
        </p:txBody>
      </p:sp>
      <p:sp>
        <p:nvSpPr>
          <p:cNvPr id="12" name="Text 8"/>
          <p:cNvSpPr txBox="1"/>
          <p:nvPr/>
        </p:nvSpPr>
        <p:spPr>
          <a:xfrm>
            <a:off x="8869680" y="5486400"/>
            <a:ext cx="2560320" cy="594360"/>
          </a:xfrm>
          <a:prstGeom prst="rect">
            <a:avLst/>
          </a:prstGeom>
          <a:noFill/>
          <a:ln/>
        </p:spPr>
        <p:txBody>
          <a:bodyPr wrap="square" lIns="0" tIns="0" rIns="0" bIns="0" rtlCol="0" anchor="t"/>
          <a:lstStyle/>
          <a:p>
            <a:pPr indent="0" marL="0">
              <a:buNone/>
            </a:pPr>
            <a:r>
              <a:rPr lang="en-US" sz="1400" dirty="0">
                <a:solidFill>
                  <a:schemeClr val="accent4"/>
                </a:solidFill>
              </a:rPr>
              <a:t>Fixed + variable non-fuel O&amp;M</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 eleven cases: rates and build-up</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383280"/>
                <a:gridCol w="1280160"/>
                <a:gridCol w="1280160"/>
                <a:gridCol w="1280160"/>
                <a:gridCol w="1280160"/>
                <a:gridCol w="1280160"/>
                <a:gridCol w="1280160"/>
              </a:tblGrid>
              <a:tr h="0">
                <a:tc rowSpan="2">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 technology</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A – TOR capacity factor (42%)</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B – historical capacity factor</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hMerge="1">
                  <a:tcPr/>
                </a:tc>
                <a:tc hMerge="1">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CRF</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OM</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CRF</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OM</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2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PhP/kWh, first-year build-up, excluding fuel and CLLC.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draft rates moved (Case A)</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566160"/>
                <a:gridCol w="1828800"/>
                <a:gridCol w="2011680"/>
                <a:gridCol w="1828800"/>
                <a:gridCol w="182880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Lot / technology</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Previous draft</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(incl. CLLC)</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CLLC out; capex at market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5B708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Now: capex +25%</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Change vs previous</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2.93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1.72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−0.81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2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−0.37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3.73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B4463A"/>
                          </a:solidFill>
                          <a:latin typeface="Calibri" pitchFamily="34" charset="0"/>
                          <a:ea typeface="Calibri" pitchFamily="34" charset="-122"/>
                          <a:cs typeface="Calibri" pitchFamily="34" charset="-120"/>
                        </a:rPr>
                        <a:t>+0.97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3.13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−0.21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3.95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3.68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B4463A"/>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4.22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B4463A"/>
                          </a:solidFill>
                          <a:latin typeface="Calibri" pitchFamily="34" charset="0"/>
                          <a:ea typeface="Calibri" pitchFamily="34" charset="-122"/>
                          <a:cs typeface="Calibri" pitchFamily="34" charset="-120"/>
                        </a:rPr>
                        <a:t>+0.48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−0.99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4.59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3.68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−0.15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A, PhP/kWh. Visayas 500 MW equals Visayas 440 MW. Previous draft: GATP = CRF + OM + CLLC, new-build capex US$900 / 850 / 520 per kW, existing US$450.</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MERALCO's latest gas-plant rates vs draft GAT Prices</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4572000"/>
          </a:xfrm>
          <a:prstGeom prst="roundRect">
            <a:avLst>
              <a:gd name="adj" fmla="val 3750"/>
            </a:avLst>
          </a:prstGeom>
          <a:solidFill>
            <a:schemeClr val="bg2"/>
          </a:solidFill>
          <a:ln w="12700">
            <a:solidFill>
              <a:schemeClr val="bg2"/>
            </a:solidFill>
            <a:prstDash val="solid"/>
          </a:ln>
        </p:spPr>
      </p:sp>
      <p:sp>
        <p:nvSpPr>
          <p:cNvPr id="6" name="Text 2"/>
          <p:cNvSpPr txBox="1"/>
          <p:nvPr/>
        </p:nvSpPr>
        <p:spPr>
          <a:xfrm>
            <a:off x="8869680" y="1417320"/>
            <a:ext cx="2606040" cy="4297680"/>
          </a:xfrm>
          <a:prstGeom prst="rect">
            <a:avLst/>
          </a:prstGeom>
          <a:noFill/>
          <a:ln/>
        </p:spPr>
        <p:txBody>
          <a:bodyPr wrap="square" lIns="0" tIns="0" rIns="0" bIns="0" rtlCol="0" anchor="t"/>
          <a:lstStyle/>
          <a:p>
            <a:pPr indent="0" marL="0">
              <a:buNone/>
            </a:pPr>
            <a:r>
              <a:rPr lang="en-US" sz="1900" b="1" dirty="0">
                <a:solidFill>
                  <a:srgbClr val="14324F"/>
                </a:solidFill>
                <a:latin typeface="Cambria" pitchFamily="34" charset="0"/>
                <a:ea typeface="Cambria" pitchFamily="34" charset="-122"/>
                <a:cs typeface="Cambria" pitchFamily="34" charset="-120"/>
              </a:rPr>
              <a:t>Not like-for-like</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MERALCO rates include fuel and logistics; the GATP does not.</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Monthly rates swing with dispatch and fuel: Santa Rita ran 6.95 in Sep and 11.41 in Oct.</a:t>
            </a:r>
            <a:endParaRPr lang="en-US" sz="1900" dirty="0"/>
          </a:p>
          <a:p>
            <a:pPr marL="342900" indent="-342900">
              <a:buSzPct val="100000"/>
              <a:buChar char="•"/>
            </a:pPr>
            <a:r>
              <a:rPr lang="en-US" sz="1500" dirty="0">
                <a:solidFill>
                  <a:srgbClr val="17202A"/>
                </a:solidFill>
                <a:latin typeface="Calibri" pitchFamily="34" charset="0"/>
                <a:ea typeface="Calibri" pitchFamily="34" charset="-122"/>
                <a:cs typeface="Calibri" pitchFamily="34" charset="-120"/>
              </a:rPr>
              <a:t>The gap = room for fuel + logistics under the auction.</a:t>
            </a:r>
            <a:endParaRPr lang="en-US" sz="1900" dirty="0"/>
          </a:p>
        </p:txBody>
      </p:sp>
      <p:sp>
        <p:nvSpPr>
          <p:cNvPr id="7" name="Text 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MERALCO, Breakdown of Generation Charge, October 2026 billing (average generation cost per supplier). Draft GATP: comparable lot, PhP/kWh.</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MERALCO comparison: the numbers</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31720"/>
                <a:gridCol w="1097280"/>
                <a:gridCol w="1325880"/>
                <a:gridCol w="1920240"/>
                <a:gridCol w="1097280"/>
                <a:gridCol w="1097280"/>
                <a:gridCol w="1097280"/>
                <a:gridCol w="1097280"/>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MERALCO supplier</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Oct 2026</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all-in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Aug–Oct 2026</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all-in avg</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Comparable lot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Draft GATP</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Draft GATP</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B</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Gap: Oct minus</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Gap as gas price</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US$/MMBtu</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Santa Rita (FGPC)</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11.41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9.78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9.29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23.3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San Lorenzo (FGP)</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11.14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10.54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9.02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22.6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Ilijan (SPPC, 2024 PSA)</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12.68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13.60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2 – existing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10.63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EERI Batangas (2025 PSA)</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15.58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14.71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10.88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bl>
          </a:graphicData>
        </a:graphic>
      </p:graphicFrame>
      <p:sp>
        <p:nvSpPr>
          <p:cNvPr id="5" name="Card"/>
          <p:cNvSpPr/>
          <p:nvPr/>
        </p:nvSpPr>
        <p:spPr>
          <a:xfrm>
            <a:off x="548640" y="4343400"/>
            <a:ext cx="11064240" cy="1417320"/>
          </a:xfrm>
          <a:prstGeom prst="roundRect">
            <a:avLst>
              <a:gd name="adj" fmla="val 7742"/>
            </a:avLst>
          </a:prstGeom>
          <a:solidFill>
            <a:schemeClr val="bg2"/>
          </a:solidFill>
          <a:ln w="12700">
            <a:solidFill>
              <a:schemeClr val="bg2"/>
            </a:solidFill>
            <a:prstDash val="solid"/>
          </a:ln>
        </p:spPr>
      </p:sp>
      <p:sp>
        <p:nvSpPr>
          <p:cNvPr id="6" name="Icon circle"/>
          <p:cNvSpPr/>
          <p:nvPr/>
        </p:nvSpPr>
        <p:spPr>
          <a:xfrm>
            <a:off x="777240" y="4617720"/>
            <a:ext cx="777240" cy="777240"/>
          </a:xfrm>
          <a:prstGeom prst="ellipse">
            <a:avLst/>
          </a:prstGeom>
          <a:solidFill>
            <a:srgbClr val="6B7280"/>
          </a:solidFill>
          <a:ln w="12700">
            <a:solidFill>
              <a:srgbClr val="6B7280"/>
            </a:solidFill>
            <a:prstDash val="solid"/>
          </a:ln>
        </p:spPr>
      </p:sp>
      <p:pic>
        <p:nvPicPr>
          <p:cNvPr id="7" name="Icon" descr="preencoded.png">    </p:cNvPr>
          <p:cNvPicPr>
            <a:picLocks noChangeAspect="1"/>
          </p:cNvPicPr>
          <p:nvPr/>
        </p:nvPicPr>
        <p:blipFill>
          <a:blip r:embed="rId1"/>
          <a:stretch>
            <a:fillRect/>
          </a:stretch>
        </p:blipFill>
        <p:spPr>
          <a:xfrm>
            <a:off x="979322" y="4819802"/>
            <a:ext cx="373075" cy="373075"/>
          </a:xfrm>
          <a:prstGeom prst="rect">
            <a:avLst/>
          </a:prstGeom>
        </p:spPr>
      </p:pic>
      <p:sp>
        <p:nvSpPr>
          <p:cNvPr id="8" name="Text 3"/>
          <p:cNvSpPr txBox="1"/>
          <p:nvPr/>
        </p:nvSpPr>
        <p:spPr>
          <a:xfrm>
            <a:off x="1828800" y="4389120"/>
            <a:ext cx="9601200" cy="1325880"/>
          </a:xfrm>
          <a:prstGeom prst="rect">
            <a:avLst/>
          </a:prstGeom>
          <a:noFill/>
          <a:ln/>
        </p:spPr>
        <p:txBody>
          <a:bodyPr wrap="square" lIns="0" tIns="0" rIns="0" bIns="0" rtlCol="0" anchor="ctr"/>
          <a:lstStyle/>
          <a:p>
            <a:pPr indent="0" marL="0">
              <a:buNone/>
            </a:pPr>
            <a:r>
              <a:rPr lang="en-US" sz="1500" b="1" dirty="0">
                <a:solidFill>
                  <a:srgbClr val="17202A"/>
                </a:solidFill>
              </a:rPr>
              <a:t>How to read it: </a:t>
            </a:r>
            <a:pPr indent="0" marL="0">
              <a:buNone/>
            </a:pPr>
            <a:r>
              <a:rPr lang="en-US" sz="1500" dirty="0">
                <a:solidFill>
                  <a:srgbClr val="17202A"/>
                </a:solidFill>
              </a:rPr>
              <a:t>MERALCO's October 2026 generation charge averaged PhP 10.20/kWh across all suppliers. The gas-price column divides the gap by the model heat rate (6,350 Btu/kWh existing CCGT; 6,100 new CCGT) and PhP 62.756/US$; it must cover LNG or Malampaya gas, logistics and taxes. Existing-plant rates reflect old PPAs and PSAs, not the auction.</a:t>
            </a:r>
            <a:endParaRPr lang="en-US" sz="1500" dirty="0"/>
          </a:p>
        </p:txBody>
      </p:sp>
      <p:sp>
        <p:nvSpPr>
          <p:cNvPr id="9" name="Text 4"/>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MERALCO Breakdown of Generation Charge, Aug–Oct 2026 billing (meralcomain.s3.ap-southeast-1.amazonaws.com/2026-10/10-2026_gc_table.pdf). Average = total cost ÷ total kWh.</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draft GATP + capped Fuel Cost vs MERALCO</a:t>
            </a:r>
            <a:endParaRPr lang="en-US" sz="3400" dirty="0"/>
          </a:p>
        </p:txBody>
      </p:sp>
      <p:graphicFrame>
        <p:nvGraphicFramePr>
          <p:cNvPr id="4" name="Chart 0" descr=""/>
          <p:cNvGraphicFramePr/>
          <p:nvPr/>
        </p:nvGraphicFramePr>
        <p:xfrm>
          <a:off x="548640" y="1234440"/>
          <a:ext cx="8138160" cy="461772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915400" y="1234440"/>
            <a:ext cx="2697480" cy="4617720"/>
          </a:xfrm>
          <a:prstGeom prst="roundRect">
            <a:avLst>
              <a:gd name="adj" fmla="val 4068"/>
            </a:avLst>
          </a:prstGeom>
          <a:solidFill>
            <a:schemeClr val="bg2"/>
          </a:solidFill>
          <a:ln w="12700">
            <a:solidFill>
              <a:schemeClr val="bg2"/>
            </a:solidFill>
            <a:prstDash val="solid"/>
          </a:ln>
        </p:spPr>
      </p:sp>
      <p:sp>
        <p:nvSpPr>
          <p:cNvPr id="6" name="Text 2"/>
          <p:cNvSpPr txBox="1"/>
          <p:nvPr/>
        </p:nvSpPr>
        <p:spPr>
          <a:xfrm>
            <a:off x="9052560" y="1325880"/>
            <a:ext cx="2468880" cy="4434840"/>
          </a:xfrm>
          <a:prstGeom prst="rect">
            <a:avLst/>
          </a:prstGeom>
          <a:noFill/>
          <a:ln/>
        </p:spPr>
        <p:txBody>
          <a:bodyPr wrap="square" lIns="0" tIns="0" rIns="0" bIns="0" rtlCol="0" anchor="t"/>
          <a:lstStyle/>
          <a:p>
            <a:pPr indent="0" marL="0">
              <a:buNone/>
            </a:pPr>
            <a:r>
              <a:rPr lang="en-US" sz="1800" b="1" dirty="0">
                <a:solidFill>
                  <a:srgbClr val="14324F"/>
                </a:solidFill>
                <a:latin typeface="Cambria" pitchFamily="34" charset="0"/>
                <a:ea typeface="Cambria" pitchFamily="34" charset="-122"/>
                <a:cs typeface="Cambria" pitchFamily="34" charset="-120"/>
              </a:rPr>
              <a:t>Assumptions</a:t>
            </a:r>
            <a:endParaRPr lang="en-US" sz="1800" dirty="0"/>
          </a:p>
          <a:p>
            <a:pPr marL="342900" indent="-342900">
              <a:spcAft>
                <a:spcPts val="600"/>
              </a:spcAft>
              <a:buSzPct val="100000"/>
              <a:buChar char="•"/>
            </a:pPr>
            <a:r>
              <a:rPr lang="en-US" sz="1400" dirty="0">
                <a:solidFill>
                  <a:srgbClr val="17202A"/>
                </a:solidFill>
                <a:latin typeface="Calibri" pitchFamily="34" charset="0"/>
                <a:ea typeface="Calibri" pitchFamily="34" charset="-122"/>
                <a:cs typeface="Calibri" pitchFamily="34" charset="-120"/>
              </a:rPr>
              <a:t>LNG at JKM US$13.35/MMBtu (Q3 2026 mid), +12% VAT</a:t>
            </a:r>
            <a:endParaRPr lang="en-US" sz="1800" dirty="0"/>
          </a:p>
          <a:p>
            <a:pPr marL="342900" indent="-342900">
              <a:spcAft>
                <a:spcPts val="600"/>
              </a:spcAft>
              <a:buSzPct val="100000"/>
              <a:buChar char="•"/>
            </a:pPr>
            <a:r>
              <a:rPr lang="en-US" sz="1400" dirty="0">
                <a:solidFill>
                  <a:srgbClr val="17202A"/>
                </a:solidFill>
                <a:latin typeface="Calibri" pitchFamily="34" charset="0"/>
                <a:ea typeface="Calibri" pitchFamily="34" charset="-122"/>
                <a:cs typeface="Calibri" pitchFamily="34" charset="-120"/>
              </a:rPr>
              <a:t>Malampaya PhP 3.5788/kWh; 60% of Santa Rita and San Lorenzo fuel</a:t>
            </a:r>
            <a:endParaRPr lang="en-US" sz="1800" dirty="0"/>
          </a:p>
          <a:p>
            <a:pPr marL="342900" indent="-342900">
              <a:spcAft>
                <a:spcPts val="600"/>
              </a:spcAft>
              <a:buSzPct val="100000"/>
              <a:buChar char="•"/>
            </a:pPr>
            <a:r>
              <a:rPr lang="en-US" sz="1400" dirty="0">
                <a:solidFill>
                  <a:srgbClr val="17202A"/>
                </a:solidFill>
                <a:latin typeface="Calibri" pitchFamily="34" charset="0"/>
                <a:ea typeface="Calibri" pitchFamily="34" charset="-122"/>
                <a:cs typeface="Calibri" pitchFamily="34" charset="-120"/>
              </a:rPr>
              <a:t>CLLC caps: regas 1.50 + pipeline 0.40 + storage 0.30 = US$2.20/MMBtu; BOG excluded</a:t>
            </a:r>
            <a:endParaRPr lang="en-US" sz="1800" dirty="0"/>
          </a:p>
          <a:p>
            <a:pPr marL="342900" indent="-342900">
              <a:buSzPct val="100000"/>
              <a:buChar char="•"/>
            </a:pPr>
            <a:r>
              <a:rPr lang="en-US" sz="1400" dirty="0">
                <a:solidFill>
                  <a:srgbClr val="17202A"/>
                </a:solidFill>
                <a:latin typeface="Calibri" pitchFamily="34" charset="0"/>
                <a:ea typeface="Calibri" pitchFamily="34" charset="-122"/>
                <a:cs typeface="Calibri" pitchFamily="34" charset="-120"/>
              </a:rPr>
              <a:t>Heat rate: 6,350 (existing) and 6,100 (new) Btu/kWh</a:t>
            </a:r>
            <a:endParaRPr lang="en-US" sz="1800" dirty="0"/>
          </a:p>
        </p:txBody>
      </p:sp>
      <p:sp>
        <p:nvSpPr>
          <p:cNvPr id="7" name="Text 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Fuel Cost = FCC + CLLC (draft GAIR Sec. 18); O&amp;M is inside the GATP. Caps are proposed working values (Sec. 17, Annex A.17), not yet set. MERALCO: Oct 2026 Breakdown of Generation Charge.</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comparison: the numbers</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822960"/>
                <a:gridCol w="822960"/>
                <a:gridCol w="822960"/>
                <a:gridCol w="914400"/>
                <a:gridCol w="914400"/>
                <a:gridCol w="1234440"/>
                <a:gridCol w="960120"/>
                <a:gridCol w="1005840"/>
                <a:gridCol w="1188720"/>
              </a:tblGrid>
              <a:tr h="6400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MERALCO supplier</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 FCC</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(fuel)</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45309"/>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 CLLC</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(caps)</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4463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All-in</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All-in</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B</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A range</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JKM 12.5–14.2</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MERALCO</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Oct 2026</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MERALCO</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Aug–Oct avg</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Saving vs Oct</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Santa Rita (FGPC)</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Lot 1 – existing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4.53</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7.14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6.37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6.99–7.29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11.41</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9.78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−4.27 (37%)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San Lorenzo (FGP)</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Lot 1 – existing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4.53</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7.14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6.37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6.99–7.29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11.14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10.54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−4.00 (36%)</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Ilijan (SPPC, 2024 PSA)</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Lot 2 – existing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5.96</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0.98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8.99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8.29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8.61–9.37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12.68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13.60</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−3.69 (29%)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EERI Batangas (2025 PSA)</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New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5.72</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0.94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11.36</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9.85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11.00–11.73</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15.58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14.71</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−4.21 (27%)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bl>
          </a:graphicData>
        </a:graphic>
      </p:graphicFrame>
      <p:sp>
        <p:nvSpPr>
          <p:cNvPr id="5"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6" name="Icon circle"/>
          <p:cNvSpPr/>
          <p:nvPr/>
        </p:nvSpPr>
        <p:spPr>
          <a:xfrm>
            <a:off x="777240" y="4773168"/>
            <a:ext cx="777240" cy="777240"/>
          </a:xfrm>
          <a:prstGeom prst="ellipse">
            <a:avLst/>
          </a:prstGeom>
          <a:solidFill>
            <a:srgbClr val="B45309"/>
          </a:solidFill>
          <a:ln w="12700">
            <a:solidFill>
              <a:srgbClr val="B45309"/>
            </a:solidFill>
            <a:prstDash val="solid"/>
          </a:ln>
        </p:spPr>
      </p:sp>
      <p:pic>
        <p:nvPicPr>
          <p:cNvPr id="7" name="Icon" descr="preencoded.png">    </p:cNvPr>
          <p:cNvPicPr>
            <a:picLocks noChangeAspect="1"/>
          </p:cNvPicPr>
          <p:nvPr/>
        </p:nvPicPr>
        <p:blipFill>
          <a:blip r:embed="rId1"/>
          <a:stretch>
            <a:fillRect/>
          </a:stretch>
        </p:blipFill>
        <p:spPr>
          <a:xfrm>
            <a:off x="979322" y="4975250"/>
            <a:ext cx="373075" cy="373075"/>
          </a:xfrm>
          <a:prstGeom prst="rect">
            <a:avLst/>
          </a:prstGeom>
        </p:spPr>
      </p:pic>
      <p:sp>
        <p:nvSpPr>
          <p:cNvPr id="8" name="Text 3"/>
          <p:cNvSpPr txBox="1"/>
          <p:nvPr/>
        </p:nvSpPr>
        <p:spPr>
          <a:xfrm>
            <a:off x="1828800" y="4617720"/>
            <a:ext cx="9601200" cy="1097280"/>
          </a:xfrm>
          <a:prstGeom prst="rect">
            <a:avLst/>
          </a:prstGeom>
          <a:noFill/>
          <a:ln/>
        </p:spPr>
        <p:txBody>
          <a:bodyPr wrap="square" lIns="0" tIns="0" rIns="0" bIns="0" rtlCol="0" anchor="ctr"/>
          <a:lstStyle/>
          <a:p>
            <a:pPr indent="0" marL="0">
              <a:buNone/>
            </a:pPr>
            <a:r>
              <a:rPr lang="en-US" sz="1500" b="1" dirty="0">
                <a:solidFill>
                  <a:srgbClr val="17202A"/>
                </a:solidFill>
              </a:rPr>
              <a:t>Read with care: </a:t>
            </a:r>
            <a:pPr indent="0" marL="0">
              <a:buNone/>
            </a:pPr>
            <a:r>
              <a:rPr lang="en-US" sz="1500" dirty="0">
                <a:solidFill>
                  <a:srgbClr val="17202A"/>
                </a:solidFill>
              </a:rPr>
              <a:t>the caps and gas benchmark are proposed working values, not yet set by the Commission. MERALCO rates are one month of actual billing under existing contracts (dispatch, take-or-pay, adjustments). The gap shows what the caps and benchmark would squeeze out, not a guaranteed saving.</a:t>
            </a:r>
            <a:endParaRPr lang="en-US" sz="1500" dirty="0"/>
          </a:p>
        </p:txBody>
      </p:sp>
      <p:sp>
        <p:nvSpPr>
          <p:cNvPr id="9" name="Text 4"/>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PhP/kWh. FCC = gas price × heat rate × PhP 62.756/US$ × (1 + 12% VAT on LNG). CLLC = cap × heat rate × FX (× 1.12 on LNG). Malampaya VAT-exempt (RA 12120).</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the rest of this deck covers</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Test the inputs</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should values change? Stakeholder evidence from the FGD feeds in here.</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Rates are drafts</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bind only once issued by Commission resolution.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B728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Mindanao</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No Mindanao lot in the DOE TOR; not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r>
            </a:tbl>
          </a:graphicData>
        </a:graphic>
      </p:graphicFrame>
      <p:sp>
        <p:nvSpPr>
          <p:cNvPr id="5" name="Card"/>
          <p:cNvSpPr/>
          <p:nvPr/>
        </p:nvSpPr>
        <p:spPr>
          <a:xfrm>
            <a:off x="548640" y="4709160"/>
            <a:ext cx="5394960" cy="1051560"/>
          </a:xfrm>
          <a:prstGeom prst="roundRect">
            <a:avLst>
              <a:gd name="adj" fmla="val 10435"/>
            </a:avLst>
          </a:prstGeom>
          <a:solidFill>
            <a:srgbClr val="D3EEEC"/>
          </a:solidFill>
          <a:ln w="12700">
            <a:solidFill>
              <a:srgbClr val="D3EEEC"/>
            </a:solidFill>
            <a:prstDash val="solid"/>
          </a:ln>
        </p:spPr>
      </p:sp>
      <p:sp>
        <p:nvSpPr>
          <p:cNvPr id="6" name="Text 2"/>
          <p:cNvSpPr txBox="1"/>
          <p:nvPr/>
        </p:nvSpPr>
        <p:spPr>
          <a:xfrm>
            <a:off x="777240" y="4754880"/>
            <a:ext cx="5029200" cy="960120"/>
          </a:xfrm>
          <a:prstGeom prst="rect">
            <a:avLst/>
          </a:prstGeom>
          <a:noFill/>
          <a:ln/>
        </p:spPr>
        <p:txBody>
          <a:bodyPr wrap="square" lIns="0" tIns="0" rIns="0" bIns="0" rtlCol="0" anchor="ctr"/>
          <a:lstStyle/>
          <a:p>
            <a:pPr indent="0" marL="0">
              <a:buNone/>
            </a:pPr>
            <a:r>
              <a:rPr lang="en-US" sz="1700" b="1" dirty="0">
                <a:solidFill>
                  <a:srgbClr val="1F8A8A"/>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709160"/>
            <a:ext cx="5394960" cy="1051560"/>
          </a:xfrm>
          <a:prstGeom prst="roundRect">
            <a:avLst>
              <a:gd name="adj" fmla="val 10435"/>
            </a:avLst>
          </a:prstGeom>
          <a:solidFill>
            <a:srgbClr val="E9E1F4"/>
          </a:solidFill>
          <a:ln w="12700">
            <a:solidFill>
              <a:srgbClr val="E9E1F4"/>
            </a:solidFill>
            <a:prstDash val="solid"/>
          </a:ln>
        </p:spPr>
      </p:sp>
      <p:sp>
        <p:nvSpPr>
          <p:cNvPr id="8" name="Text 4"/>
          <p:cNvSpPr txBox="1"/>
          <p:nvPr/>
        </p:nvSpPr>
        <p:spPr>
          <a:xfrm>
            <a:off x="6446520" y="4754880"/>
            <a:ext cx="5029200" cy="960120"/>
          </a:xfrm>
          <a:prstGeom prst="rect">
            <a:avLst/>
          </a:prstGeom>
          <a:noFill/>
          <a:ln/>
        </p:spPr>
        <p:txBody>
          <a:bodyPr wrap="square" lIns="0" tIns="0" rIns="0" bIns="0" rtlCol="0" anchor="ctr"/>
          <a:lstStyle/>
          <a:p>
            <a:pPr indent="0" marL="0">
              <a:buNone/>
            </a:pPr>
            <a:r>
              <a:rPr lang="en-US" sz="1700" b="1" dirty="0">
                <a:solidFill>
                  <a:srgbClr val="6C3FA0"/>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rgbClr val="D3EEEC"/>
          </a:solidFill>
          <a:ln w="12700">
            <a:solidFill>
              <a:srgbClr val="D3EEEC"/>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rgbClr val="1F8A8A"/>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 Lot 1 38%–42%)</a:t>
            </a:r>
            <a:endParaRPr lang="en-US" sz="1400" dirty="0"/>
          </a:p>
        </p:txBody>
      </p:sp>
      <p:sp>
        <p:nvSpPr>
          <p:cNvPr id="8" name="Card"/>
          <p:cNvSpPr/>
          <p:nvPr/>
        </p:nvSpPr>
        <p:spPr>
          <a:xfrm>
            <a:off x="4343400" y="1417320"/>
            <a:ext cx="3520440" cy="2377440"/>
          </a:xfrm>
          <a:prstGeom prst="roundRect">
            <a:avLst>
              <a:gd name="adj" fmla="val 4615"/>
            </a:avLst>
          </a:prstGeom>
          <a:solidFill>
            <a:srgbClr val="E9E1F4"/>
          </a:solidFill>
          <a:ln w="12700">
            <a:solidFill>
              <a:srgbClr val="E9E1F4"/>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rgbClr val="6C3FA0"/>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Lot split into equal units: CCGT 440–500 MW; OCGT 200–250 MW; gas engines 22–50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Per-kW result is the same whatever the unit size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rgbClr val="DCE5EF"/>
          </a:solidFill>
          <a:ln w="12700">
            <a:solidFill>
              <a:srgbClr val="DCE5EF"/>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rgbClr val="14324F"/>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 (Lots 1, 2)</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rgbClr val="DDEFDD"/>
          </a:solidFill>
          <a:ln w="12700">
            <a:solidFill>
              <a:srgbClr val="DDEFDD"/>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rgbClr val="DDEFDD"/>
          </a:solidFill>
          <a:ln w="12700">
            <a:solidFill>
              <a:srgbClr val="DDEFDD"/>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rgbClr val="DDEFDD"/>
          </a:solidFill>
          <a:ln w="12700">
            <a:solidFill>
              <a:srgbClr val="DDEFDD"/>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(real terms)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COD in the model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 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Calendar year does not change a real-terms result; TOR delivery years apply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rgbClr val="DCE5EF"/>
          </a:solidFill>
          <a:ln w="12700">
            <a:solidFill>
              <a:srgbClr val="DCE5EF"/>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rgbClr val="14324F"/>
                </a:solidFill>
                <a:latin typeface="Cambria" pitchFamily="34" charset="0"/>
                <a:ea typeface="Cambria" pitchFamily="34" charset="-122"/>
                <a:cs typeface="Cambria" pitchFamily="34" charset="-120"/>
              </a:rPr>
              <a:t>US$600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rgbClr val="DDEFDD"/>
          </a:solidFill>
          <a:ln w="12700">
            <a:solidFill>
              <a:srgbClr val="DDEFDD"/>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US$1,500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rgbClr val="DDEFDD"/>
          </a:solidFill>
          <a:ln w="12700">
            <a:solidFill>
              <a:srgbClr val="DDEFDD"/>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US$1,375</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rgbClr val="DDEFDD"/>
          </a:solidFill>
          <a:ln w="12700">
            <a:solidFill>
              <a:srgbClr val="DDEFDD"/>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US$875</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current market levels plus 25% for turbine and EPC cost inflation (October 2026). Existing plants (navy, Lots 1 and 2) at an operational/retooled-plant value; new-build (green) the same for Luzon and Visayas.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Dedicated 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Associated Transmission Projects excluded (Sec. 9.3)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8.3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not recovered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no BOI incentive, so VAT is a cost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Complete parameter list</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All 115 model parameters in nine groups: value, type and basis for each</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to read the parameter tables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8321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Column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it shows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line item, with its unit and the draft Annex A item where one applies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How the value is set (colour key below)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 (teal) = TOR capacity factor; B (purple) = historical; “A = B” when both give the same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Value for each Luzon case; headers coloured by lot (Visayas on its own slides)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Where the value comes from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Type key"/>
          <p:cNvSpPr/>
          <p:nvPr/>
        </p:nvSpPr>
        <p:spPr>
          <a:xfrm>
            <a:off x="548640" y="4206240"/>
            <a:ext cx="3474720" cy="1417320"/>
          </a:xfrm>
          <a:prstGeom prst="roundRect">
            <a:avLst>
              <a:gd name="adj" fmla="val 7742"/>
            </a:avLst>
          </a:prstGeom>
          <a:solidFill>
            <a:srgbClr val="C6E3E1"/>
          </a:solidFill>
          <a:ln w="12700">
            <a:solidFill>
              <a:srgbClr val="C6E3E1"/>
            </a:solidFill>
            <a:prstDash val="solid"/>
          </a:ln>
        </p:spPr>
      </p:sp>
      <p:sp>
        <p:nvSpPr>
          <p:cNvPr id="6" name="Text 2"/>
          <p:cNvSpPr txBox="1"/>
          <p:nvPr/>
        </p:nvSpPr>
        <p:spPr>
          <a:xfrm>
            <a:off x="77724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Input</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Typed into the model; open for comment</a:t>
            </a:r>
            <a:endParaRPr lang="en-US" sz="2000" dirty="0"/>
          </a:p>
        </p:txBody>
      </p:sp>
      <p:sp>
        <p:nvSpPr>
          <p:cNvPr id="7" name="Type key"/>
          <p:cNvSpPr/>
          <p:nvPr/>
        </p:nvSpPr>
        <p:spPr>
          <a:xfrm>
            <a:off x="4297680" y="4206240"/>
            <a:ext cx="3474720" cy="1417320"/>
          </a:xfrm>
          <a:prstGeom prst="roundRect">
            <a:avLst>
              <a:gd name="adj" fmla="val 7742"/>
            </a:avLst>
          </a:prstGeom>
          <a:solidFill>
            <a:srgbClr val="EEF3F7"/>
          </a:solidFill>
          <a:ln w="12700">
            <a:solidFill>
              <a:srgbClr val="EEF3F7"/>
            </a:solidFill>
            <a:prstDash val="solid"/>
          </a:ln>
        </p:spPr>
      </p:sp>
      <p:sp>
        <p:nvSpPr>
          <p:cNvPr id="8" name="Text 4"/>
          <p:cNvSpPr txBox="1"/>
          <p:nvPr/>
        </p:nvSpPr>
        <p:spPr>
          <a:xfrm>
            <a:off x="452628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Calculated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Follows from the inputs</a:t>
            </a:r>
            <a:endParaRPr lang="en-US" sz="2000" dirty="0"/>
          </a:p>
        </p:txBody>
      </p:sp>
      <p:sp>
        <p:nvSpPr>
          <p:cNvPr id="9" name="Type key"/>
          <p:cNvSpPr/>
          <p:nvPr/>
        </p:nvSpPr>
        <p:spPr>
          <a:xfrm>
            <a:off x="8046720" y="4206240"/>
            <a:ext cx="3474720" cy="1417320"/>
          </a:xfrm>
          <a:prstGeom prst="roundRect">
            <a:avLst>
              <a:gd name="adj" fmla="val 7742"/>
            </a:avLst>
          </a:prstGeom>
          <a:solidFill>
            <a:srgbClr val="FBE7C6"/>
          </a:solidFill>
          <a:ln w="12700">
            <a:solidFill>
              <a:srgbClr val="FBE7C6"/>
            </a:solidFill>
            <a:prstDash val="solid"/>
          </a:ln>
        </p:spPr>
      </p:sp>
      <p:sp>
        <p:nvSpPr>
          <p:cNvPr id="10" name="Text 6"/>
          <p:cNvSpPr txBox="1"/>
          <p:nvPr/>
        </p:nvSpPr>
        <p:spPr>
          <a:xfrm>
            <a:off x="827532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Calibrated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Solved so the all-in cost equals its target</a:t>
            </a:r>
            <a:endParaRPr lang="en-US" sz="2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Colour key: cases, lots and regions</a:t>
            </a:r>
            <a:endParaRPr lang="en-US" sz="3400" dirty="0"/>
          </a:p>
        </p:txBody>
      </p:sp>
      <p:sp>
        <p:nvSpPr>
          <p:cNvPr id="4" name="Card"/>
          <p:cNvSpPr/>
          <p:nvPr/>
        </p:nvSpPr>
        <p:spPr>
          <a:xfrm>
            <a:off x="548640" y="1371600"/>
            <a:ext cx="5440680" cy="1234440"/>
          </a:xfrm>
          <a:prstGeom prst="roundRect">
            <a:avLst>
              <a:gd name="adj" fmla="val 8889"/>
            </a:avLst>
          </a:prstGeom>
          <a:solidFill>
            <a:srgbClr val="D3EEEC"/>
          </a:solidFill>
          <a:ln w="12700">
            <a:solidFill>
              <a:srgbClr val="D3EEEC"/>
            </a:solidFill>
            <a:prstDash val="solid"/>
          </a:ln>
        </p:spPr>
      </p:sp>
      <p:sp>
        <p:nvSpPr>
          <p:cNvPr id="5" name="Case chip"/>
          <p:cNvSpPr/>
          <p:nvPr/>
        </p:nvSpPr>
        <p:spPr>
          <a:xfrm>
            <a:off x="822960" y="1572768"/>
            <a:ext cx="822960" cy="822960"/>
          </a:xfrm>
          <a:prstGeom prst="ellipse">
            <a:avLst/>
          </a:prstGeom>
          <a:solidFill>
            <a:srgbClr val="1F8A8A"/>
          </a:solidFill>
          <a:ln w="12700">
            <a:solidFill>
              <a:srgbClr val="1F8A8A"/>
            </a:solidFill>
            <a:prstDash val="solid"/>
          </a:ln>
        </p:spPr>
      </p:sp>
      <p:sp>
        <p:nvSpPr>
          <p:cNvPr id="6" name="Text 3"/>
          <p:cNvSpPr txBox="1"/>
          <p:nvPr/>
        </p:nvSpPr>
        <p:spPr>
          <a:xfrm>
            <a:off x="82296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7" name="Text 4"/>
          <p:cNvSpPr txBox="1"/>
          <p:nvPr/>
        </p:nvSpPr>
        <p:spPr>
          <a:xfrm>
            <a:off x="1874520" y="1463040"/>
            <a:ext cx="3931920" cy="1051560"/>
          </a:xfrm>
          <a:prstGeom prst="rect">
            <a:avLst/>
          </a:prstGeom>
          <a:noFill/>
          <a:ln/>
        </p:spPr>
        <p:txBody>
          <a:bodyPr wrap="square" lIns="0" tIns="0" rIns="0" bIns="0" rtlCol="0" anchor="ctr"/>
          <a:lstStyle/>
          <a:p>
            <a:pPr indent="0" marL="0">
              <a:buNone/>
            </a:pPr>
            <a:r>
              <a:rPr lang="en-US" sz="2000" b="1" dirty="0">
                <a:solidFill>
                  <a:srgbClr val="1F8A8A"/>
                </a:solidFill>
                <a:latin typeface="Calibri" pitchFamily="34" charset="0"/>
                <a:ea typeface="Calibri" pitchFamily="34" charset="-122"/>
                <a:cs typeface="Calibri" pitchFamily="34" charset="-120"/>
              </a:rPr>
              <a:t>Case A – TOR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42% for every case</a:t>
            </a:r>
            <a:endParaRPr lang="en-US" sz="2000" dirty="0"/>
          </a:p>
        </p:txBody>
      </p:sp>
      <p:sp>
        <p:nvSpPr>
          <p:cNvPr id="8" name="Card"/>
          <p:cNvSpPr/>
          <p:nvPr/>
        </p:nvSpPr>
        <p:spPr>
          <a:xfrm>
            <a:off x="6172200" y="1371600"/>
            <a:ext cx="5440680" cy="1234440"/>
          </a:xfrm>
          <a:prstGeom prst="roundRect">
            <a:avLst>
              <a:gd name="adj" fmla="val 8889"/>
            </a:avLst>
          </a:prstGeom>
          <a:solidFill>
            <a:srgbClr val="E9E1F4"/>
          </a:solidFill>
          <a:ln w="12700">
            <a:solidFill>
              <a:srgbClr val="E9E1F4"/>
            </a:solidFill>
            <a:prstDash val="solid"/>
          </a:ln>
        </p:spPr>
      </p:sp>
      <p:sp>
        <p:nvSpPr>
          <p:cNvPr id="9" name="Case chip"/>
          <p:cNvSpPr/>
          <p:nvPr/>
        </p:nvSpPr>
        <p:spPr>
          <a:xfrm>
            <a:off x="6446520" y="1572768"/>
            <a:ext cx="822960" cy="822960"/>
          </a:xfrm>
          <a:prstGeom prst="ellipse">
            <a:avLst/>
          </a:prstGeom>
          <a:solidFill>
            <a:srgbClr val="6C3FA0"/>
          </a:solidFill>
          <a:ln w="12700">
            <a:solidFill>
              <a:srgbClr val="6C3FA0"/>
            </a:solidFill>
            <a:prstDash val="solid"/>
          </a:ln>
        </p:spPr>
      </p:sp>
      <p:sp>
        <p:nvSpPr>
          <p:cNvPr id="10" name="Text 7"/>
          <p:cNvSpPr txBox="1"/>
          <p:nvPr/>
        </p:nvSpPr>
        <p:spPr>
          <a:xfrm>
            <a:off x="644652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7498080" y="1463040"/>
            <a:ext cx="3931920" cy="1051560"/>
          </a:xfrm>
          <a:prstGeom prst="rect">
            <a:avLst/>
          </a:prstGeom>
          <a:noFill/>
          <a:ln/>
        </p:spPr>
        <p:txBody>
          <a:bodyPr wrap="square" lIns="0" tIns="0" rIns="0" bIns="0" rtlCol="0" anchor="ctr"/>
          <a:lstStyle/>
          <a:p>
            <a:pPr indent="0" marL="0">
              <a:buNone/>
            </a:pPr>
            <a:r>
              <a:rPr lang="en-US" sz="2000" b="1" dirty="0">
                <a:solidFill>
                  <a:srgbClr val="6C3FA0"/>
                </a:solidFill>
                <a:latin typeface="Calibri" pitchFamily="34" charset="0"/>
                <a:ea typeface="Calibri" pitchFamily="34" charset="-122"/>
                <a:cs typeface="Calibri" pitchFamily="34" charset="-120"/>
              </a:rPr>
              <a:t>Case B – historical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66.8% Lots 1–2; 63.1% new-build</a:t>
            </a:r>
            <a:endParaRPr lang="en-US" sz="2000" dirty="0"/>
          </a:p>
        </p:txBody>
      </p:sp>
      <p:sp>
        <p:nvSpPr>
          <p:cNvPr id="12" name="Card"/>
          <p:cNvSpPr/>
          <p:nvPr/>
        </p:nvSpPr>
        <p:spPr>
          <a:xfrm>
            <a:off x="548640" y="2926080"/>
            <a:ext cx="3520440" cy="1234440"/>
          </a:xfrm>
          <a:prstGeom prst="roundRect">
            <a:avLst>
              <a:gd name="adj" fmla="val 8889"/>
            </a:avLst>
          </a:prstGeom>
          <a:solidFill>
            <a:srgbClr val="DCE5EF"/>
          </a:solidFill>
          <a:ln w="12700">
            <a:solidFill>
              <a:srgbClr val="DCE5EF"/>
            </a:solidFill>
            <a:prstDash val="solid"/>
          </a:ln>
        </p:spPr>
      </p:sp>
      <p:sp>
        <p:nvSpPr>
          <p:cNvPr id="13" name="Lot chip"/>
          <p:cNvSpPr/>
          <p:nvPr/>
        </p:nvSpPr>
        <p:spPr>
          <a:xfrm>
            <a:off x="777240" y="3200400"/>
            <a:ext cx="685800" cy="685800"/>
          </a:xfrm>
          <a:prstGeom prst="roundRect">
            <a:avLst>
              <a:gd name="adj" fmla="val 13333"/>
            </a:avLst>
          </a:prstGeom>
          <a:solidFill>
            <a:srgbClr val="14324F"/>
          </a:solidFill>
          <a:ln w="12700">
            <a:solidFill>
              <a:srgbClr val="14324F"/>
            </a:solidFill>
            <a:prstDash val="solid"/>
          </a:ln>
        </p:spPr>
      </p:sp>
      <p:sp>
        <p:nvSpPr>
          <p:cNvPr id="14" name="Text 11"/>
          <p:cNvSpPr txBox="1"/>
          <p:nvPr/>
        </p:nvSpPr>
        <p:spPr>
          <a:xfrm>
            <a:off x="1645920" y="3017520"/>
            <a:ext cx="2286000" cy="1051560"/>
          </a:xfrm>
          <a:prstGeom prst="rect">
            <a:avLst/>
          </a:prstGeom>
          <a:noFill/>
          <a:ln/>
        </p:spPr>
        <p:txBody>
          <a:bodyPr wrap="square" lIns="0" tIns="0" rIns="0" bIns="0" rtlCol="0" anchor="ctr"/>
          <a:lstStyle/>
          <a:p>
            <a:pPr indent="0" marL="0">
              <a:buNone/>
            </a:pPr>
            <a:r>
              <a:rPr lang="en-US" sz="1700" b="1" dirty="0">
                <a:solidFill>
                  <a:srgbClr val="14324F"/>
                </a:solidFill>
              </a:rPr>
              <a:t>Lot 1 – existing, Luzon</a:t>
            </a:r>
            <a:endParaRPr lang="en-US" sz="1700" dirty="0"/>
          </a:p>
        </p:txBody>
      </p:sp>
      <p:sp>
        <p:nvSpPr>
          <p:cNvPr id="15" name="Card"/>
          <p:cNvSpPr/>
          <p:nvPr/>
        </p:nvSpPr>
        <p:spPr>
          <a:xfrm>
            <a:off x="4297680" y="2926080"/>
            <a:ext cx="3520440" cy="1234440"/>
          </a:xfrm>
          <a:prstGeom prst="roundRect">
            <a:avLst>
              <a:gd name="adj" fmla="val 8889"/>
            </a:avLst>
          </a:prstGeom>
          <a:solidFill>
            <a:srgbClr val="DBEBF8"/>
          </a:solidFill>
          <a:ln w="12700">
            <a:solidFill>
              <a:srgbClr val="DBEBF8"/>
            </a:solidFill>
            <a:prstDash val="solid"/>
          </a:ln>
        </p:spPr>
      </p:sp>
      <p:sp>
        <p:nvSpPr>
          <p:cNvPr id="16" name="Lot chip"/>
          <p:cNvSpPr/>
          <p:nvPr/>
        </p:nvSpPr>
        <p:spPr>
          <a:xfrm>
            <a:off x="4526280" y="3200400"/>
            <a:ext cx="685800" cy="685800"/>
          </a:xfrm>
          <a:prstGeom prst="roundRect">
            <a:avLst>
              <a:gd name="adj" fmla="val 13333"/>
            </a:avLst>
          </a:prstGeom>
          <a:solidFill>
            <a:srgbClr val="2E86C1"/>
          </a:solidFill>
          <a:ln w="12700">
            <a:solidFill>
              <a:srgbClr val="2E86C1"/>
            </a:solidFill>
            <a:prstDash val="solid"/>
          </a:ln>
        </p:spPr>
      </p:sp>
      <p:sp>
        <p:nvSpPr>
          <p:cNvPr id="17" name="Text 14"/>
          <p:cNvSpPr txBox="1"/>
          <p:nvPr/>
        </p:nvSpPr>
        <p:spPr>
          <a:xfrm>
            <a:off x="5394960" y="3017520"/>
            <a:ext cx="2286000" cy="1051560"/>
          </a:xfrm>
          <a:prstGeom prst="rect">
            <a:avLst/>
          </a:prstGeom>
          <a:noFill/>
          <a:ln/>
        </p:spPr>
        <p:txBody>
          <a:bodyPr wrap="square" lIns="0" tIns="0" rIns="0" bIns="0" rtlCol="0" anchor="ctr"/>
          <a:lstStyle/>
          <a:p>
            <a:pPr indent="0" marL="0">
              <a:buNone/>
            </a:pPr>
            <a:r>
              <a:rPr lang="en-US" sz="1700" b="1" dirty="0">
                <a:solidFill>
                  <a:srgbClr val="2E86C1"/>
                </a:solidFill>
              </a:rPr>
              <a:t>Lot 2 – existing, Luzon</a:t>
            </a:r>
            <a:endParaRPr lang="en-US" sz="1700" dirty="0"/>
          </a:p>
        </p:txBody>
      </p:sp>
      <p:sp>
        <p:nvSpPr>
          <p:cNvPr id="18" name="Card"/>
          <p:cNvSpPr/>
          <p:nvPr/>
        </p:nvSpPr>
        <p:spPr>
          <a:xfrm>
            <a:off x="8046720" y="2926080"/>
            <a:ext cx="3520440" cy="1234440"/>
          </a:xfrm>
          <a:prstGeom prst="roundRect">
            <a:avLst>
              <a:gd name="adj" fmla="val 8889"/>
            </a:avLst>
          </a:prstGeom>
          <a:solidFill>
            <a:srgbClr val="DDEFDD"/>
          </a:solidFill>
          <a:ln w="12700">
            <a:solidFill>
              <a:srgbClr val="DDEFDD"/>
            </a:solidFill>
            <a:prstDash val="solid"/>
          </a:ln>
        </p:spPr>
      </p:sp>
      <p:sp>
        <p:nvSpPr>
          <p:cNvPr id="19" name="Lot chip"/>
          <p:cNvSpPr/>
          <p:nvPr/>
        </p:nvSpPr>
        <p:spPr>
          <a:xfrm>
            <a:off x="8275320" y="3200400"/>
            <a:ext cx="685800" cy="685800"/>
          </a:xfrm>
          <a:prstGeom prst="roundRect">
            <a:avLst>
              <a:gd name="adj" fmla="val 13333"/>
            </a:avLst>
          </a:prstGeom>
          <a:solidFill>
            <a:srgbClr val="2E7D32"/>
          </a:solidFill>
          <a:ln w="12700">
            <a:solidFill>
              <a:srgbClr val="2E7D32"/>
            </a:solidFill>
            <a:prstDash val="solid"/>
          </a:ln>
        </p:spPr>
      </p:sp>
      <p:sp>
        <p:nvSpPr>
          <p:cNvPr id="20" name="Text 17"/>
          <p:cNvSpPr txBox="1"/>
          <p:nvPr/>
        </p:nvSpPr>
        <p:spPr>
          <a:xfrm>
            <a:off x="9144000" y="3017520"/>
            <a:ext cx="2286000" cy="1051560"/>
          </a:xfrm>
          <a:prstGeom prst="rect">
            <a:avLst/>
          </a:prstGeom>
          <a:noFill/>
          <a:ln/>
        </p:spPr>
        <p:txBody>
          <a:bodyPr wrap="square" lIns="0" tIns="0" rIns="0" bIns="0" rtlCol="0" anchor="ctr"/>
          <a:lstStyle/>
          <a:p>
            <a:pPr indent="0" marL="0">
              <a:buNone/>
            </a:pPr>
            <a:r>
              <a:rPr lang="en-US" sz="1700" b="1" dirty="0">
                <a:solidFill>
                  <a:srgbClr val="2E7D32"/>
                </a:solidFill>
              </a:rPr>
              <a:t>New-build – Luzon</a:t>
            </a:r>
            <a:endParaRPr lang="en-US" sz="1700" dirty="0"/>
          </a:p>
        </p:txBody>
      </p:sp>
      <p:sp>
        <p:nvSpPr>
          <p:cNvPr id="21" name="Card"/>
          <p:cNvSpPr/>
          <p:nvPr/>
        </p:nvSpPr>
        <p:spPr>
          <a:xfrm>
            <a:off x="548640" y="4343400"/>
            <a:ext cx="3520440" cy="1234440"/>
          </a:xfrm>
          <a:prstGeom prst="roundRect">
            <a:avLst>
              <a:gd name="adj" fmla="val 8889"/>
            </a:avLst>
          </a:prstGeom>
          <a:solidFill>
            <a:srgbClr val="FBE3D2"/>
          </a:solidFill>
          <a:ln w="12700">
            <a:solidFill>
              <a:srgbClr val="FBE3D2"/>
            </a:solidFill>
            <a:prstDash val="solid"/>
          </a:ln>
        </p:spPr>
      </p:sp>
      <p:sp>
        <p:nvSpPr>
          <p:cNvPr id="22" name="Lot chip"/>
          <p:cNvSpPr/>
          <p:nvPr/>
        </p:nvSpPr>
        <p:spPr>
          <a:xfrm>
            <a:off x="777240" y="4617720"/>
            <a:ext cx="685800" cy="685800"/>
          </a:xfrm>
          <a:prstGeom prst="roundRect">
            <a:avLst>
              <a:gd name="adj" fmla="val 13333"/>
            </a:avLst>
          </a:prstGeom>
          <a:solidFill>
            <a:srgbClr val="D35400"/>
          </a:solidFill>
          <a:ln w="12700">
            <a:solidFill>
              <a:srgbClr val="D35400"/>
            </a:solidFill>
            <a:prstDash val="solid"/>
          </a:ln>
        </p:spPr>
      </p:sp>
      <p:sp>
        <p:nvSpPr>
          <p:cNvPr id="23" name="Text 20"/>
          <p:cNvSpPr txBox="1"/>
          <p:nvPr/>
        </p:nvSpPr>
        <p:spPr>
          <a:xfrm>
            <a:off x="1645920" y="4434840"/>
            <a:ext cx="2286000" cy="1051560"/>
          </a:xfrm>
          <a:prstGeom prst="rect">
            <a:avLst/>
          </a:prstGeom>
          <a:noFill/>
          <a:ln/>
        </p:spPr>
        <p:txBody>
          <a:bodyPr wrap="square" lIns="0" tIns="0" rIns="0" bIns="0" rtlCol="0" anchor="ctr"/>
          <a:lstStyle/>
          <a:p>
            <a:pPr indent="0" marL="0">
              <a:buNone/>
            </a:pPr>
            <a:r>
              <a:rPr lang="en-US" sz="1700" b="1" dirty="0">
                <a:solidFill>
                  <a:srgbClr val="D35400"/>
                </a:solidFill>
              </a:rPr>
              <a:t>New-build – Visayas 440 MW</a:t>
            </a:r>
            <a:endParaRPr lang="en-US" sz="1700" dirty="0"/>
          </a:p>
        </p:txBody>
      </p:sp>
      <p:sp>
        <p:nvSpPr>
          <p:cNvPr id="24" name="Card"/>
          <p:cNvSpPr/>
          <p:nvPr/>
        </p:nvSpPr>
        <p:spPr>
          <a:xfrm>
            <a:off x="4297680" y="4343400"/>
            <a:ext cx="3520440" cy="1234440"/>
          </a:xfrm>
          <a:prstGeom prst="roundRect">
            <a:avLst>
              <a:gd name="adj" fmla="val 8889"/>
            </a:avLst>
          </a:prstGeom>
          <a:solidFill>
            <a:srgbClr val="F5D9E2"/>
          </a:solidFill>
          <a:ln w="12700">
            <a:solidFill>
              <a:srgbClr val="F5D9E2"/>
            </a:solidFill>
            <a:prstDash val="solid"/>
          </a:ln>
        </p:spPr>
      </p:sp>
      <p:sp>
        <p:nvSpPr>
          <p:cNvPr id="25" name="Lot chip"/>
          <p:cNvSpPr/>
          <p:nvPr/>
        </p:nvSpPr>
        <p:spPr>
          <a:xfrm>
            <a:off x="4526280" y="4617720"/>
            <a:ext cx="685800" cy="685800"/>
          </a:xfrm>
          <a:prstGeom prst="roundRect">
            <a:avLst>
              <a:gd name="adj" fmla="val 13333"/>
            </a:avLst>
          </a:prstGeom>
          <a:solidFill>
            <a:srgbClr val="A61E4D"/>
          </a:solidFill>
          <a:ln w="12700">
            <a:solidFill>
              <a:srgbClr val="A61E4D"/>
            </a:solidFill>
            <a:prstDash val="solid"/>
          </a:ln>
        </p:spPr>
      </p:sp>
      <p:sp>
        <p:nvSpPr>
          <p:cNvPr id="26" name="Text 23"/>
          <p:cNvSpPr txBox="1"/>
          <p:nvPr/>
        </p:nvSpPr>
        <p:spPr>
          <a:xfrm>
            <a:off x="5394960" y="4434840"/>
            <a:ext cx="2286000" cy="1051560"/>
          </a:xfrm>
          <a:prstGeom prst="rect">
            <a:avLst/>
          </a:prstGeom>
          <a:noFill/>
          <a:ln/>
        </p:spPr>
        <p:txBody>
          <a:bodyPr wrap="square" lIns="0" tIns="0" rIns="0" bIns="0" rtlCol="0" anchor="ctr"/>
          <a:lstStyle/>
          <a:p>
            <a:pPr indent="0" marL="0">
              <a:buNone/>
            </a:pPr>
            <a:r>
              <a:rPr lang="en-US" sz="1700" b="1" dirty="0">
                <a:solidFill>
                  <a:srgbClr val="A61E4D"/>
                </a:solidFill>
              </a:rPr>
              <a:t>New-build – Visayas 500 MW</a:t>
            </a:r>
            <a:endParaRPr lang="en-US" sz="1700" dirty="0"/>
          </a:p>
        </p:txBody>
      </p:sp>
      <p:sp>
        <p:nvSpPr>
          <p:cNvPr id="27" name="Card"/>
          <p:cNvSpPr/>
          <p:nvPr/>
        </p:nvSpPr>
        <p:spPr>
          <a:xfrm>
            <a:off x="8046720" y="4343400"/>
            <a:ext cx="3520440" cy="1234440"/>
          </a:xfrm>
          <a:prstGeom prst="roundRect">
            <a:avLst>
              <a:gd name="adj" fmla="val 8889"/>
            </a:avLst>
          </a:prstGeom>
          <a:solidFill>
            <a:srgbClr val="ECEDEF"/>
          </a:solidFill>
          <a:ln w="12700">
            <a:solidFill>
              <a:srgbClr val="ECEDEF"/>
            </a:solidFill>
            <a:prstDash val="solid"/>
          </a:ln>
        </p:spPr>
      </p:sp>
      <p:sp>
        <p:nvSpPr>
          <p:cNvPr id="28" name="Lot chip"/>
          <p:cNvSpPr/>
          <p:nvPr/>
        </p:nvSpPr>
        <p:spPr>
          <a:xfrm>
            <a:off x="8275320" y="4617720"/>
            <a:ext cx="685800" cy="685800"/>
          </a:xfrm>
          <a:prstGeom prst="roundRect">
            <a:avLst>
              <a:gd name="adj" fmla="val 13333"/>
            </a:avLst>
          </a:prstGeom>
          <a:solidFill>
            <a:srgbClr val="6B7280"/>
          </a:solidFill>
          <a:ln w="12700">
            <a:solidFill>
              <a:srgbClr val="6B7280"/>
            </a:solidFill>
            <a:prstDash val="solid"/>
          </a:ln>
        </p:spPr>
      </p:sp>
      <p:sp>
        <p:nvSpPr>
          <p:cNvPr id="29" name="Text 26"/>
          <p:cNvSpPr txBox="1"/>
          <p:nvPr/>
        </p:nvSpPr>
        <p:spPr>
          <a:xfrm>
            <a:off x="9144000" y="4434840"/>
            <a:ext cx="2286000" cy="1051560"/>
          </a:xfrm>
          <a:prstGeom prst="rect">
            <a:avLst/>
          </a:prstGeom>
          <a:noFill/>
          <a:ln/>
        </p:spPr>
        <p:txBody>
          <a:bodyPr wrap="square" lIns="0" tIns="0" rIns="0" bIns="0" rtlCol="0" anchor="ctr"/>
          <a:lstStyle/>
          <a:p>
            <a:pPr indent="0" marL="0">
              <a:buNone/>
            </a:pPr>
            <a:r>
              <a:rPr lang="en-US" sz="1700" b="1" dirty="0">
                <a:solidFill>
                  <a:srgbClr val="6B7280"/>
                </a:solidFill>
              </a:rPr>
              <a:t>Mindanao – no lot in the DOE TOR</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(1 of 2)</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lot size split into equal units (at most 20 per case); the result is per kW, so unit size does not change 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auction capacity (Sec. 1.1) ÷ unit size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Sec. 1.1 auction capacity requirement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input (availability x dispatch)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Case A: 42%, top of the TOR band. Case B: MERALCO-supplier gas fleet, Jan 2024–Sep 2026 (also applied to Visayas)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Guaranteed Efficiency Factor,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already net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(2 of 2)</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Allowance for losses &amp; own use,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net of own use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after own use (calculated)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Hours per Year (hours)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8,760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5,150.9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Installed MW × capacity factor × 8,760 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2,925.9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Degradation Rate, % p.a.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Heat rate (logistics only; fuel excluded) (Btu/kWh)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Technology reference values; used only for logistics, which is now in the Fuel Cost: no effect on the GAT Price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(1 of 2)</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Period (mos) (Annex A.7)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Typical EPC schedule by technology (Annex A.7); existing plants have none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Operating Period (yrs from COD)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plant economic life for cost recovery, although the TOR contract is shorter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&amp; Forex (2028) for FIT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CAPEX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(2 of 2)</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OPEX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&amp; Forex for FiT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CAPEX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OPEX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Commercial Operating Date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base year 2028 plus construction; real terms, so the calendar year does not change the result. TOR delivery years apply in the auction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(1 of 3)</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all-in project cost (US$/kW)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Current market levels +25% for turbine and EPC inflation (Oct 2026); existing plants at an operational/retooled-plant value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All-In Project Cost (Annex A.3)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79.67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Calibrated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7C6"/>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Set by model calibration so the all-in cost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(2 of 3)</a:t>
            </a:r>
            <a:endParaRPr lang="en-US" sz="3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Insurance, Ocean Freight, Local Transport,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Balance of Plant (BOP),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Distance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Dedicated connection only; Associated Transmission Projects excluded (draft GAIR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T/L Cost per km, 69 kV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Switchyard &amp; Transformers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Access Roads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Distance of Access Road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Dev't &amp; Other Costs (land, permits, etc) (% of EPC)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(3 of 3)</a:t>
            </a:r>
            <a:endParaRPr lang="en-US" sz="3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not recovered without a BOI incentive, so it is a project cost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 of EPC)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Contingency (% of Total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Value, %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10% of cost, received in the final year (draft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Major Maintenance/Refurbishment (% of EPC)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Refurbishment (yr from COD)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(1 of 2)</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Interconnection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Sub-Station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(2 of 2)</a:t>
            </a:r>
            <a:endParaRPr lang="en-US" sz="3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(1 of 2)</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Fixed O&amp;M (US$/kW-yr) × unit MW: CCGT 13.71, OCGT 8.50, gas engine 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Variable Non-Fuel O&amp;M, excl. logistics ($000/MW/yr) (Annex A.5)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Variable O&amp;M × 8,760 × energy CF ÷ 1,000; US$2.00/MWh CCGT, 4.50 OCGT, 3.80 gas engine; logistics excluded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2,123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1,503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6% of fixed + variable O&amp;M (corporate overhead standard,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1,486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(2 of 2)</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fixed O&amp;M (US$/kW-yr) (Annex A.4)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variable O&amp;M (US$/MWh) (Annex A.5)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4.077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2.378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1.582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G&amp;A (US$000/yr) (Annex A.6)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53.86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(1 of 2)</a:t>
            </a:r>
            <a:endParaRPr lang="en-US" sz="3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70:30, commercial project-finance standard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local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8% pre-tax (Annex A.10); local about 7.5%, US$ about 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foreign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Same as local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Grace Period from COD (mos)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and Foreign debt Service Reserve (mos)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(2 of 2)</a:t>
            </a:r>
            <a:endParaRPr lang="en-US" sz="3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Upfront &amp; Financing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Commitment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446.6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Required Equity Return, Re (nominal) (Annex A.12)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14% nominal; CAPM range 12%–14% (Annex A.12)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pre-tax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reference check (draft GAIR Sec. 8.8.8)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after-tax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(1 of 2)</a:t>
            </a:r>
            <a:endParaRPr lang="en-US" sz="34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Type of incentives (1 = NO, 2 = BOI, 3 = PEZA)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 BOI or PEZA incentive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Holiday (yrs)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None assumed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Rate (after ITH)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Corporate income tax, CREATE Act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Real Property Tax (from COD)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RPT Assessment Level (% of NBV)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Business Tax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Government Share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to gas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host-community benefit (USD/kWh) (Sec. 8.8.3) (US$/kWh)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0.00048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PhP 0.03/kWh converted at the model exchange rate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(2 of 2)</a:t>
            </a:r>
            <a:endParaRPr lang="en-US" sz="3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Withholding Tax on Interest (Foreign Currency) - WHT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foreign-currency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Receipts Tax on Interest (Local Currency) - GRT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local-currency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Documentary Stamps Tax (DST)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loan documents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PEZA Incentives (% of gross income) - 0% /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see VAT recovery below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Recovery,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0%: the 70% recovery applies only under a BOI incentive, which is not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VAT recovery (yrs after COD)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no VAT recovery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(1 of 2)</a:t>
            </a:r>
            <a:endParaRPr lang="en-US" sz="3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Foreign Exchange Rate (US$/US$)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Forward Fixed Exchange Rate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Local CPI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Local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the GAT Price is not indexed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US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(2 of 2)</a:t>
            </a:r>
            <a:endParaRPr lang="en-US" sz="3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Peso Depreciation Rate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Days Receivable, Payable and Inventory (days)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PhP per USD exchange rate (Annex A.16) (PhP/US$)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62.756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BSP reference rate, 25 Sep 2026 (Annex A.16)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benefit, PhP/kWh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DOE DC2025-10-0023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received in last year (1 = yes) (Sec. 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 Fuel and technical</a:t>
            </a:r>
            <a:endParaRPr lang="en-US" sz="34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switch (fuel is outside the GAT Price)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Fuel is outside the GAT Price (draft GAIR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Heating Value (Btu/lb)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22,129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Natural gas; for the efficiency calculation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Thermal Efficiency,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Energy conversion constant (model line “Plant Heat Rate”) (kJ/kWh)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3,600 kJ = 1 kWh. A unit constant, not the Annex A.15 Heat Rate Cap</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Rate (kWh/MT)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density (kg/L)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Specific lube oil consumption (g/kWh)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cost (US$/L)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(1 of 4)</a:t>
            </a:r>
            <a:endParaRPr lang="en-US" sz="3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(2 of 4)</a:t>
            </a:r>
            <a:endParaRPr lang="en-US" sz="3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(3 of 4)</a:t>
            </a:r>
            <a:endParaRPr lang="en-US" sz="3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881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(4 of 4)</a:t>
            </a:r>
            <a:endParaRPr lang="en-US" sz="3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US$1,500 / 1,375 / 875 per kW (new) and US$600 (existing)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2026-10-20T07:29:50Z</dcterms:created>
  <dcterms:modified xsi:type="dcterms:W3CDTF">2026-10-20T07:29:50Z</dcterms:modified>
</cp:coreProperties>
</file>