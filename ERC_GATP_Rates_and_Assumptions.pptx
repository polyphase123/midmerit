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Case A – TOR CF (42%)</c:v>
                </c:pt>
              </c:strCache>
            </c:strRef>
          </c:tx>
          <c:spPr>
            <a:solidFill>
              <a:srgbClr val="1F8A8A"/>
            </a:solidFill>
            <a:effectLst/>
          </c:spPr>
          <c:invertIfNegative val="0"/>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Sheet1!$B$2:$B$6</c:f>
              <c:numCache>
                <c:formatCode>General</c:formatCode>
                <c:ptCount val="5"/>
                <c:pt idx="0">
                  <c:v>2.12</c:v>
                </c:pt>
                <c:pt idx="1">
                  <c:v>2.05</c:v>
                </c:pt>
                <c:pt idx="2">
                  <c:v>4.7</c:v>
                </c:pt>
                <c:pt idx="3">
                  <c:v>2.92</c:v>
                </c:pt>
                <c:pt idx="4">
                  <c:v>4.45</c:v>
                </c:pt>
              </c:numCache>
            </c:numRef>
          </c:val>
        </c:ser>
        <c:ser>
          <c:idx val="1"/>
          <c:order val="1"/>
          <c:tx>
            <c:strRef>
              <c:f>Sheet1!$C$1</c:f>
              <c:strCache>
                <c:ptCount val="1"/>
                <c:pt idx="0">
                  <c:v>Case B – historical CF</c:v>
                </c:pt>
              </c:strCache>
            </c:strRef>
          </c:tx>
          <c:spPr>
            <a:solidFill>
              <a:srgbClr val="6C3FA0"/>
            </a:solidFill>
            <a:effectLst/>
          </c:spPr>
          <c:invertIfNegative val="0"/>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Sheet1!$C$2:$C$6</c:f>
              <c:numCache>
                <c:formatCode>General</c:formatCode>
                <c:ptCount val="5"/>
                <c:pt idx="0">
                  <c:v>1.35</c:v>
                </c:pt>
                <c:pt idx="1">
                  <c:v>1.35</c:v>
                </c:pt>
                <c:pt idx="2">
                  <c:v>3.18</c:v>
                </c:pt>
                <c:pt idx="3">
                  <c:v>2.06</c:v>
                </c:pt>
                <c:pt idx="4">
                  <c:v>3.05</c:v>
                </c:pt>
              </c:numCache>
            </c:numRef>
          </c:val>
        </c:ser>
        <c:dLbls>
          <c:numFmt formatCode="0.00" sourceLinked="0"/>
          <c:txPr>
            <a:bodyPr/>
            <a:lstStyle/>
            <a:p>
              <a:pPr>
                <a:defRPr b="0" i="0" strike="noStrike" sz="1400" u="none">
                  <a:solidFill>
                    <a:srgbClr val="17202A"/>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CRF – capital recovery</c:v>
                </c:pt>
              </c:strCache>
            </c:strRef>
          </c:tx>
          <c:spPr>
            <a:solidFill>
              <a:srgbClr val="14324F"/>
            </a:solidFill>
            <a:effectLst/>
          </c:spPr>
          <c:invertIfNegative val="0"/>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Sheet1!$B$2:$B$6</c:f>
              <c:numCache>
                <c:formatCode>General</c:formatCode>
                <c:ptCount val="5"/>
                <c:pt idx="0">
                  <c:v>1.67</c:v>
                </c:pt>
                <c:pt idx="1">
                  <c:v>1.66</c:v>
                </c:pt>
                <c:pt idx="2">
                  <c:v>4.3</c:v>
                </c:pt>
                <c:pt idx="3">
                  <c:v>2.47</c:v>
                </c:pt>
                <c:pt idx="4">
                  <c:v>3.88</c:v>
                </c:pt>
              </c:numCache>
            </c:numRef>
          </c:val>
        </c:ser>
        <c:ser>
          <c:idx val="1"/>
          <c:order val="1"/>
          <c:tx>
            <c:strRef>
              <c:f>Sheet1!$C$1</c:f>
              <c:strCache>
                <c:ptCount val="1"/>
                <c:pt idx="0">
                  <c:v>OM – plant O&amp;M</c:v>
                </c:pt>
              </c:strCache>
            </c:strRef>
          </c:tx>
          <c:spPr>
            <a:solidFill>
              <a:srgbClr val="E39B2D"/>
            </a:solidFill>
            <a:effectLst/>
          </c:spPr>
          <c:invertIfNegative val="0"/>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cat>
            <c:multiLvlStrRef>
              <c:f>Sheet1!$A$2:$A$6</c:f>
              <c:multiLvlStrCache>
                <c:ptCount val="5"/>
                <c:lvl>
                  <c:pt idx="0">
                    <c:v>Lot 1 existing CCGT</c:v>
                  </c:pt>
                  <c:pt idx="1">
                    <c:v>Lot 2 existing CCGT</c:v>
                  </c:pt>
                  <c:pt idx="2">
                    <c:v>New CCGT</c:v>
                  </c:pt>
                  <c:pt idx="3">
                    <c:v>New OCGT</c:v>
                  </c:pt>
                  <c:pt idx="4">
                    <c:v>New gas engine</c:v>
                  </c:pt>
                </c:lvl>
              </c:multiLvlStrCache>
            </c:multiLvlStrRef>
          </c:cat>
          <c:val>
            <c:numRef>
              <c:f>Sheet1!$C$2:$C$6</c:f>
              <c:numCache>
                <c:formatCode>General</c:formatCode>
                <c:ptCount val="5"/>
                <c:pt idx="0">
                  <c:v>0.46</c:v>
                </c:pt>
                <c:pt idx="1">
                  <c:v>0.38</c:v>
                </c:pt>
                <c:pt idx="2">
                  <c:v>0.4</c:v>
                </c:pt>
                <c:pt idx="3">
                  <c:v>0.46</c:v>
                </c:pt>
                <c:pt idx="4">
                  <c:v>0.56</c:v>
                </c:pt>
              </c:numCache>
            </c:numRef>
          </c:val>
        </c:ser>
        <c:dLbls>
          <c:numFmt formatCode="0.00" sourceLinked="0"/>
          <c:txPr>
            <a:bodyPr/>
            <a:lstStyle/>
            <a:p>
              <a:pPr>
                <a:defRPr b="0" i="0" strike="noStrike" sz="1400" u="none">
                  <a:solidFill>
                    <a:srgbClr val="FFFFFF"/>
                  </a:solidFill>
                  <a:latin typeface="+mn-lt"/>
                </a:defRPr>
              </a:pPr>
            </a:p>
          </c:txPr>
          <c:dLblPos val="ctr"/>
          <c:showLegendKey val="0"/>
          <c:showVal val="1"/>
          <c:showCatName val="0"/>
          <c:showSerName val="0"/>
          <c:showPercent val="0"/>
          <c:showBubbleSize val="0"/>
          <c:showLeaderLines val="0"/>
        </c:dLbls>
        <c:gapWidth val="6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34495E"/>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E2E8EE"/>
              </a:solidFill>
              <a:prstDash val="solid"/>
              <a:round/>
            </a:ln>
          </c:spPr>
        </c:majorGridlines>
        <c:title>
          <c:tx>
            <c:rich>
              <a:bodyPr/>
              <a:lstStyle/>
              <a:p>
                <a:pPr>
                  <a:defRPr sz="1400" b="0" i="0" u="none" strike="noStrike">
                    <a:solidFill>
                      <a:srgbClr val="5B7083"/>
                    </a:solidFill>
                    <a:latin typeface="Arial"/>
                  </a:defRPr>
                </a:pPr>
                <a:r>
                  <a:rPr sz="1400" b="0" i="0" u="none" strike="noStrike">
                    <a:solidFill>
                      <a:srgbClr val="5B7083"/>
                    </a:solidFill>
                    <a:latin typeface="Arial"/>
                  </a:rPr>
                  <a:t>PhP/kWh</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5B708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4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deck is for internal deliberation. It shows the draft GAT Prices from the Commission's model for every DOE lot and technology, then every assumption behind them. The rates are drafts: they change with the inputs, and they bind only once the Commission issues them by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points. One: the GAT Price is CRF plus OM; fuel and the capped logistics cost are paid separately through the Fuel Cost. Two: at the TOR capacity factor, Case A, the draft rates run from 2.05 to 4.70 pesos per kWh. Three: at the historical capacity factor, Case B, they are lower, 1.35 to 3.18, because the same capital is spread over more energy. Four: capital cost is set at market plus 25 percent, which lifts new-build CCGT the most. The table on the right gives each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Teal bars are Case A at the TOR capacity factor, purple bars are Case B at the historical capacity factor. New-build CCGT and gas engines carry the highest rates because their capital cost per kW is highest. The existing CCGT lots are lowest. Case B is about a third lower everywhere, because the same fixed cost is spread over roughly 60 percent more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bar splits into CRF, the capital recovery including financing, taxes and G&amp;A, in navy, and OM, fixed and variable plant O&amp;M, in amber. CRF is 79 to 92 percent of every rate, so capital cost and financing drive the result. OM is a modest 0.38 to 0.56 pesos per kWh.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set. Each row is a lot and technology, coloured by lot and region. Case A columns are teal, Case B purple. Each rate is CRF plus OM. Visayas equals Luzon new-build because the model works per kW and uses the same per-kW inputs.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decisions moved the rates. First, the capped logistics cost left the GAT Price for the Fuel Cost, which lowered every rate, while new-build capex rose to market levels. Second, today capex rose another 25 percent for all plants, existing and new. The net effect: up for new CCGT everywhere and for gas engines in Luzon; down for the existing lots, for OCGT, and for Visayas gas engines, where logistics costs were heaviest.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the rates, the deck walks through every assumption behind them, the evidence we want from stakeholders, and the next steps. The rates remain drafts until the Commission issues them by resolution.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is a 30-year discounted cash-flow model of a reference plant. It finds the flat price per kWh at which equity earns exactly its required return. That price has two parts: CRF, the capital recovery for the plant, financing, taxes and overhead; and OM, the plant's fixed and variable operating cost. Fuel is outside. Gas commodity cost and the capped logistics cost, the CLLC, are paid through the Fuel Cost pass-through, against benchmarks and caps.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model one reference plant for each DOE lot and technology: the two existing-plant lots in Luzon, and new-build CCGT, OCGT and gas-engine plants for Luzon and both Visayas lots. Each case is run twice: at the TOR capacity factor of 42 percent, and at the historical capacity factor of the gas fleet. The model works per kW, so plant size does not change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factor drives energy, so it matters most. Case A uses 42 percent, the top of the TOR band. Case B uses what the gas fleet actually ran: 66.8 percent for existing plants and 63.1 percent for the whole fleet, from MERALCO's published generation-charge data. For Lot 1 we add 24 percent non-mid-merit energy, which the TOR pays at Fuel Cost only. Capacity factors are net, so no separate own-use deduction.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Existing plants have no construction period; their capital sits at year zero. New-build plants take 36 months for a CCGT, 24 for an OCGT and 18 for gas engines. Every plant recovers its costs over 30 years, the ERC economic-life basis, even where the TOR contract is shorter. The model base year is 2028.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input. For existing plants we use 600 US dollars per kW. For new builds we use 1,500 for a CCGT, 1,375 for gas engines and 875 for an OCGT. These are current market levels plus 25 percent, reflecting turbine shortages and EPC cost inflation. All-in means equipment, balance of plant, transport, development, contingency, financing during construction, VAT, duties and initial working capital. If your recent quotes or financings say otherwise, this is the number we most want evidence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percentages and fixed amounts the model uses to build up the all-in cost, plus two lifetime items: a major refurbishment of 5 percent of EPC in year 15, and a 10 percent salvage value at the end. Most are the ERC model defaults and are the same for every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OM in the GAT Price is fixed O&amp;M per kW per year plus variable non-fuel O&amp;M per MWh. Logistics costs are not here: they moved to the Fuel Cost as the CLLC. G&amp;A is 6 percent of O&amp;M. We would welcome your long-term service agreement benchmarks on these values.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follows a standard project-finance structure: 70 percent debt, 30 percent equity. Debt costs 8 percent a year over 15 years, with a six-month grace period after COD and a six-month debt service reserve. Equity requires 14 percent nominal, within a CAPM range of 12 to 14 percent. The resulting WACC is shown for reference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assume no BOI or PEZA incentives and no income tax holiday, so corporate income tax is 25 percent from the start. Local taxes, the ER 1-94 host-community benefit, and taxes on financing are included in CRF. If you hold or expect incentives, tell us; we deliberately did not assume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converts at 62.756 pesos per US dollar, the BSP reference rate on 25 September 2026. It runs in real terms with zero escalation, because the GAT Price is fixed in pesos and not indexed after award. Receivables, payables and inventory are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is the complete list: every parameter in the model's Inputs and Assumptions, 115 lines in nine groups, with its value and basis. We will move quickly; the slides are yours to keep and check line by line. Flag anything you want to discuss.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guide to the tables. Values are for the Luzon cases at the TOR capacity factor, Case A. Where the historical-dispatch case, Case B, gives a different value, it gets its own purple line under the teal Case A line. Visayas cases use the same per-kW inputs at 440 or 500 megawatts. Where all five cases share one value, it is shown once across the row. The Type column says whether a value is typed in, calculated, or calibrated.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colours run through every slide. Teal is Case A, the TOR capacity factor; purple is Case B, the historical one. Each lot and region has its own colour: navy for Lot 1, blue for Lot 2, green for new-build Luzon, orange for Visayas 440 megawatts and magenta for Visayas 500 megawatts. Mindanao is grey: the DOE TOR has no Mindanao lot, so it is not modelled.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 size and dispatch. Capacity comes from the TOR lot sizes, split into standard units. Capacity factor is 42 percent in Case A, teal; Case B, purple, sits on the line below. Everything is on a net basis, and output degrades 0.2 percent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Construction runs zero to 36 months by technology, recovery is over 30 years, and all costs are in 2028 terms, so there is no escalation offset to worry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Capital cost. The all-in cost targets drive everything here; the model calibrates equipment cost to hit them. The percentages for balance of plant, freight, development, contingency and working capital are model defaults we invite you to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Uses and sources of funds, in US dollar millions. These follow from the all-in cost and the 70-30 capital structure. Financing cost during construction is largest for the CCGT because it takes three years to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O&amp;M and G&amp;A. Fixed O&amp;M per kW-year, variable non-fuel O&amp;M per MWh, and G&amp;A at 6 percent. Logistics are excluded. The three target lines are reference values only and do not enter the calculation.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Financing. 70-30 debt to equity, 8 percent debt over 15 years with a six-month grace, 14 percent equity return. The local and foreign split and the debt amounts are calculated. WACC is a result, shown for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Taxes and incentives. No BOI or PEZA incentive and no tax holiday. Income tax 25 percent; property tax, local business tax, ER 1-94, and taxes on financing are all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Economic and currency. Real terms: zero CPI and zero peso depreciation, because the GAT Price is fixed in pesos and not indexed. The exchange rate is the BSP rate of 25 September 2026. Working capital runs on 30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this group. Same layout: the value for each case, then the basis. I will pause on any line you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Fuel and technical. Fuel is switched off in the model because it sits outside the GAT Price. These lines remain for the efficiency calculation only and do not affect the GAT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only lines where the Visayas cases differ from new-build Luzon: plant size, and the amounts that scale with it. Orange is Visayas 440 megawatts from 2028, magenta is Visayas 500 megawatts from 2031. Per-kW inputs, financing, taxes and timing are the same as Luzon, so the basis column on the earlier slides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Continuing the Visayas lines. Same colours: orange for 440 megawatts, magenta for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open the floor. These are the four areas where your evidence helps us most. Please raise your hand in the platform; state your company once and keep each point to about two minutes. We will note every point in the comments matrix.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please send written comments, with supporting documents, through the ERC docket for Case No. 2026-015 RM by the deadline in the FGD notice. We will consider them before the Commission issues the Reference Parameters and the GAT Price by resolution.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828800"/>
            <a:ext cx="10698480" cy="164592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657600"/>
            <a:ext cx="10698480" cy="1463040"/>
          </a:xfrm>
          <a:prstGeom prst="rect">
            <a:avLst/>
          </a:prstGeom>
          <a:noFill/>
          <a:ln/>
        </p:spPr>
        <p:txBody>
          <a:bodyPr wrap="square" rtlCol="0"/>
          <a:lstStyle>
            <a:lvl1pPr indent="0" marL="0">
              <a:buNone/>
              <a:defRPr lang="en-US" sz="2200" dirty="0">
                <a:solidFill>
                  <a:schemeClr val="accent5"/>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indent="0" marL="0">
              <a:buNone/>
              <a:defRPr lang="en-US" sz="3400" b="1" dirty="0">
                <a:solidFill>
                  <a:schemeClr val="tx2"/>
                </a:solidFill>
                <a:latin typeface="Cambria" pitchFamily="34" charset="0"/>
                <a:ea typeface="Cambria" pitchFamily="34" charset="-122"/>
                <a:cs typeface="Cambria" pitchFamily="34" charset="-120"/>
              </a:defRPr>
            </a:lvl1pPr>
          </a:lstStyle>
          <a:p>
            <a:pPr indent="0" marL="0">
              <a:buNone/>
            </a:pPr>
            <a:endParaRPr lang="en-US" sz="3400" dirty="0"/>
          </a:p>
        </p:txBody>
      </p:sp>
      <p:sp>
        <p:nvSpPr>
          <p:cNvPr id="3" name="Text 0"/>
          <p:cNvSpPr/>
          <p:nvPr/>
        </p:nvSpPr>
        <p:spPr>
          <a:xfrm>
            <a:off x="548640" y="6355080"/>
            <a:ext cx="8686800" cy="320040"/>
          </a:xfrm>
          <a:prstGeom prst="rect">
            <a:avLst/>
          </a:prstGeom>
          <a:noFill/>
          <a:ln/>
        </p:spPr>
        <p:txBody>
          <a:bodyPr wrap="square" rtlCol="0" anchor="ctr"/>
          <a:lstStyle/>
          <a:p>
            <a:pPr indent="0" marL="0">
              <a:buNone/>
            </a:pPr>
            <a:r>
              <a:rPr lang="en-US" sz="1200" dirty="0">
                <a:solidFill>
                  <a:schemeClr val="accent4"/>
                </a:solidFill>
              </a:rPr>
              <a:t>ERC  |  Draft GAT Prices – internal, not for distribution  |  October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slideLayout" Target="../slideLayouts/slideLayout3.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slideLayout" Target="../slideLayouts/slideLayout3.xml"/><Relationship Id="rId6"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GAT Price: Draft Rates and Key Assumptions</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Rates by lot, Case A and Case B, and the model inputs behind them</a:t>
            </a:r>
            <a:endParaRPr lang="en-US" sz="2200" dirty="0"/>
          </a:p>
          <a:p>
            <a:pPr indent="0" marL="0">
              <a:buNone/>
            </a:pPr>
            <a:r>
              <a:rPr lang="en-US" sz="1800" dirty="0">
                <a:solidFill>
                  <a:srgbClr val="FFFFFF"/>
                </a:solidFill>
              </a:rPr>
              <a:t>Mid-Merit Natural Gas Capacity Auction  |  ERC Case No. 2026-015 RM  |  Internal – not for distribution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Executive summary</a:t>
            </a:r>
            <a:endParaRPr lang="en-US" sz="3400" dirty="0"/>
          </a:p>
        </p:txBody>
      </p:sp>
      <p:sp>
        <p:nvSpPr>
          <p:cNvPr id="4" name="Card"/>
          <p:cNvSpPr/>
          <p:nvPr/>
        </p:nvSpPr>
        <p:spPr>
          <a:xfrm>
            <a:off x="548640" y="1325880"/>
            <a:ext cx="5120640" cy="1051560"/>
          </a:xfrm>
          <a:prstGeom prst="roundRect">
            <a:avLst>
              <a:gd name="adj" fmla="val 10435"/>
            </a:avLst>
          </a:prstGeom>
          <a:solidFill>
            <a:schemeClr val="bg2"/>
          </a:solidFill>
          <a:ln w="12700">
            <a:solidFill>
              <a:schemeClr val="bg2"/>
            </a:solidFill>
            <a:prstDash val="solid"/>
          </a:ln>
        </p:spPr>
      </p:sp>
      <p:sp>
        <p:nvSpPr>
          <p:cNvPr id="5" name="Icon circle"/>
          <p:cNvSpPr/>
          <p:nvPr/>
        </p:nvSpPr>
        <p:spPr>
          <a:xfrm>
            <a:off x="731520" y="1508760"/>
            <a:ext cx="685800" cy="685800"/>
          </a:xfrm>
          <a:prstGeom prst="ellipse">
            <a:avLst/>
          </a:prstGeom>
          <a:solidFill>
            <a:schemeClr val="tx2"/>
          </a:solidFill>
          <a:ln w="12700">
            <a:solidFill>
              <a:schemeClr val="tx2"/>
            </a:solidFill>
            <a:prstDash val="solid"/>
          </a:ln>
        </p:spPr>
      </p:sp>
      <p:pic>
        <p:nvPicPr>
          <p:cNvPr id="6" name="Icon" descr="preencoded.png">    </p:cNvPr>
          <p:cNvPicPr>
            <a:picLocks noChangeAspect="1"/>
          </p:cNvPicPr>
          <p:nvPr/>
        </p:nvPicPr>
        <p:blipFill>
          <a:blip r:embed="rId1"/>
          <a:stretch>
            <a:fillRect/>
          </a:stretch>
        </p:blipFill>
        <p:spPr>
          <a:xfrm>
            <a:off x="909828" y="1687068"/>
            <a:ext cx="329184" cy="329184"/>
          </a:xfrm>
          <a:prstGeom prst="rect">
            <a:avLst/>
          </a:prstGeom>
        </p:spPr>
      </p:pic>
      <p:sp>
        <p:nvSpPr>
          <p:cNvPr id="7" name="Text 3"/>
          <p:cNvSpPr txBox="1"/>
          <p:nvPr/>
        </p:nvSpPr>
        <p:spPr>
          <a:xfrm>
            <a:off x="1600200" y="1371600"/>
            <a:ext cx="3977640" cy="960120"/>
          </a:xfrm>
          <a:prstGeom prst="rect">
            <a:avLst/>
          </a:prstGeom>
          <a:noFill/>
          <a:ln/>
        </p:spPr>
        <p:txBody>
          <a:bodyPr wrap="square" lIns="0" tIns="0" rIns="0" bIns="0" rtlCol="0" anchor="ctr"/>
          <a:lstStyle/>
          <a:p>
            <a:pPr indent="0" marL="0">
              <a:buNone/>
            </a:pPr>
            <a:r>
              <a:rPr lang="en-US" sz="1900" b="1" dirty="0">
                <a:solidFill>
                  <a:schemeClr val="tx2"/>
                </a:solidFill>
                <a:latin typeface="Cambria" pitchFamily="34" charset="0"/>
                <a:ea typeface="Cambria" pitchFamily="34" charset="-122"/>
                <a:cs typeface="Cambria" pitchFamily="34" charset="-120"/>
              </a:rPr>
              <a:t>GATP = CRF + OM</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Capital recovery plus plant O&amp;M. Fuel and the CLLC are paid through the Fuel Cost.</a:t>
            </a:r>
            <a:endParaRPr lang="en-US" sz="1900" dirty="0"/>
          </a:p>
        </p:txBody>
      </p:sp>
      <p:sp>
        <p:nvSpPr>
          <p:cNvPr id="8" name="Card"/>
          <p:cNvSpPr/>
          <p:nvPr/>
        </p:nvSpPr>
        <p:spPr>
          <a:xfrm>
            <a:off x="548640" y="2496312"/>
            <a:ext cx="5120640" cy="1051560"/>
          </a:xfrm>
          <a:prstGeom prst="roundRect">
            <a:avLst>
              <a:gd name="adj" fmla="val 10435"/>
            </a:avLst>
          </a:prstGeom>
          <a:solidFill>
            <a:schemeClr val="bg2"/>
          </a:solidFill>
          <a:ln w="12700">
            <a:solidFill>
              <a:schemeClr val="bg2"/>
            </a:solidFill>
            <a:prstDash val="solid"/>
          </a:ln>
        </p:spPr>
      </p:sp>
      <p:sp>
        <p:nvSpPr>
          <p:cNvPr id="9" name="Icon circle"/>
          <p:cNvSpPr/>
          <p:nvPr/>
        </p:nvSpPr>
        <p:spPr>
          <a:xfrm>
            <a:off x="731520" y="2679192"/>
            <a:ext cx="685800" cy="685800"/>
          </a:xfrm>
          <a:prstGeom prst="ellipse">
            <a:avLst/>
          </a:prstGeom>
          <a:solidFill>
            <a:srgbClr val="1F8A8A"/>
          </a:solidFill>
          <a:ln w="12700">
            <a:solidFill>
              <a:srgbClr val="1F8A8A"/>
            </a:solidFill>
            <a:prstDash val="solid"/>
          </a:ln>
        </p:spPr>
      </p:sp>
      <p:pic>
        <p:nvPicPr>
          <p:cNvPr id="10" name="Icon" descr="preencoded.png">    </p:cNvPr>
          <p:cNvPicPr>
            <a:picLocks noChangeAspect="1"/>
          </p:cNvPicPr>
          <p:nvPr/>
        </p:nvPicPr>
        <p:blipFill>
          <a:blip r:embed="rId2"/>
          <a:stretch>
            <a:fillRect/>
          </a:stretch>
        </p:blipFill>
        <p:spPr>
          <a:xfrm>
            <a:off x="909828" y="2857500"/>
            <a:ext cx="329184" cy="329184"/>
          </a:xfrm>
          <a:prstGeom prst="rect">
            <a:avLst/>
          </a:prstGeom>
        </p:spPr>
      </p:pic>
      <p:sp>
        <p:nvSpPr>
          <p:cNvPr id="11" name="Text 6"/>
          <p:cNvSpPr txBox="1"/>
          <p:nvPr/>
        </p:nvSpPr>
        <p:spPr>
          <a:xfrm>
            <a:off x="1600200" y="2542032"/>
            <a:ext cx="3977640" cy="960120"/>
          </a:xfrm>
          <a:prstGeom prst="rect">
            <a:avLst/>
          </a:prstGeom>
          <a:noFill/>
          <a:ln/>
        </p:spPr>
        <p:txBody>
          <a:bodyPr wrap="square" lIns="0" tIns="0" rIns="0" bIns="0" rtlCol="0" anchor="ctr"/>
          <a:lstStyle/>
          <a:p>
            <a:pPr indent="0" marL="0">
              <a:buNone/>
            </a:pPr>
            <a:r>
              <a:rPr lang="en-US" sz="1900" b="1" dirty="0">
                <a:solidFill>
                  <a:srgbClr val="1F8A8A"/>
                </a:solidFill>
                <a:latin typeface="Cambria" pitchFamily="34" charset="0"/>
                <a:ea typeface="Cambria" pitchFamily="34" charset="-122"/>
                <a:cs typeface="Cambria" pitchFamily="34" charset="-120"/>
              </a:rPr>
              <a:t>Case A: PhP 2.05–4.70/kWh</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TOR capacity factor (42%).</a:t>
            </a:r>
            <a:endParaRPr lang="en-US" sz="1900" dirty="0"/>
          </a:p>
        </p:txBody>
      </p:sp>
      <p:sp>
        <p:nvSpPr>
          <p:cNvPr id="12" name="Card"/>
          <p:cNvSpPr/>
          <p:nvPr/>
        </p:nvSpPr>
        <p:spPr>
          <a:xfrm>
            <a:off x="548640" y="3666744"/>
            <a:ext cx="5120640" cy="1051560"/>
          </a:xfrm>
          <a:prstGeom prst="roundRect">
            <a:avLst>
              <a:gd name="adj" fmla="val 10435"/>
            </a:avLst>
          </a:prstGeom>
          <a:solidFill>
            <a:schemeClr val="bg2"/>
          </a:solidFill>
          <a:ln w="12700">
            <a:solidFill>
              <a:schemeClr val="bg2"/>
            </a:solidFill>
            <a:prstDash val="solid"/>
          </a:ln>
        </p:spPr>
      </p:sp>
      <p:sp>
        <p:nvSpPr>
          <p:cNvPr id="13" name="Icon circle"/>
          <p:cNvSpPr/>
          <p:nvPr/>
        </p:nvSpPr>
        <p:spPr>
          <a:xfrm>
            <a:off x="731520" y="3849624"/>
            <a:ext cx="685800" cy="685800"/>
          </a:xfrm>
          <a:prstGeom prst="ellipse">
            <a:avLst/>
          </a:prstGeom>
          <a:solidFill>
            <a:srgbClr val="6C3FA0"/>
          </a:solidFill>
          <a:ln w="12700">
            <a:solidFill>
              <a:srgbClr val="6C3FA0"/>
            </a:solidFill>
            <a:prstDash val="solid"/>
          </a:ln>
        </p:spPr>
      </p:sp>
      <p:pic>
        <p:nvPicPr>
          <p:cNvPr id="14" name="Icon" descr="preencoded.png">    </p:cNvPr>
          <p:cNvPicPr>
            <a:picLocks noChangeAspect="1"/>
          </p:cNvPicPr>
          <p:nvPr/>
        </p:nvPicPr>
        <p:blipFill>
          <a:blip r:embed="rId3"/>
          <a:stretch>
            <a:fillRect/>
          </a:stretch>
        </p:blipFill>
        <p:spPr>
          <a:xfrm>
            <a:off x="909828" y="4027932"/>
            <a:ext cx="329184" cy="329184"/>
          </a:xfrm>
          <a:prstGeom prst="rect">
            <a:avLst/>
          </a:prstGeom>
        </p:spPr>
      </p:pic>
      <p:sp>
        <p:nvSpPr>
          <p:cNvPr id="15" name="Text 9"/>
          <p:cNvSpPr txBox="1"/>
          <p:nvPr/>
        </p:nvSpPr>
        <p:spPr>
          <a:xfrm>
            <a:off x="1600200" y="3712464"/>
            <a:ext cx="3977640" cy="960120"/>
          </a:xfrm>
          <a:prstGeom prst="rect">
            <a:avLst/>
          </a:prstGeom>
          <a:noFill/>
          <a:ln/>
        </p:spPr>
        <p:txBody>
          <a:bodyPr wrap="square" lIns="0" tIns="0" rIns="0" bIns="0" rtlCol="0" anchor="ctr"/>
          <a:lstStyle/>
          <a:p>
            <a:pPr indent="0" marL="0">
              <a:buNone/>
            </a:pPr>
            <a:r>
              <a:rPr lang="en-US" sz="1900" b="1" dirty="0">
                <a:solidFill>
                  <a:srgbClr val="6C3FA0"/>
                </a:solidFill>
                <a:latin typeface="Cambria" pitchFamily="34" charset="0"/>
                <a:ea typeface="Cambria" pitchFamily="34" charset="-122"/>
                <a:cs typeface="Cambria" pitchFamily="34" charset="-120"/>
              </a:rPr>
              <a:t>Case B: PhP 1.35–3.18/kWh</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Historical capacity factor (63%–67%): more kWh, lower rate.</a:t>
            </a:r>
            <a:endParaRPr lang="en-US" sz="1900" dirty="0"/>
          </a:p>
        </p:txBody>
      </p:sp>
      <p:sp>
        <p:nvSpPr>
          <p:cNvPr id="16" name="Card"/>
          <p:cNvSpPr/>
          <p:nvPr/>
        </p:nvSpPr>
        <p:spPr>
          <a:xfrm>
            <a:off x="548640" y="4837176"/>
            <a:ext cx="5120640" cy="1051560"/>
          </a:xfrm>
          <a:prstGeom prst="roundRect">
            <a:avLst>
              <a:gd name="adj" fmla="val 10435"/>
            </a:avLst>
          </a:prstGeom>
          <a:solidFill>
            <a:schemeClr val="bg2"/>
          </a:solidFill>
          <a:ln w="12700">
            <a:solidFill>
              <a:schemeClr val="bg2"/>
            </a:solidFill>
            <a:prstDash val="solid"/>
          </a:ln>
        </p:spPr>
      </p:sp>
      <p:sp>
        <p:nvSpPr>
          <p:cNvPr id="17" name="Icon circle"/>
          <p:cNvSpPr/>
          <p:nvPr/>
        </p:nvSpPr>
        <p:spPr>
          <a:xfrm>
            <a:off x="731520" y="5020056"/>
            <a:ext cx="685800" cy="685800"/>
          </a:xfrm>
          <a:prstGeom prst="ellipse">
            <a:avLst/>
          </a:prstGeom>
          <a:solidFill>
            <a:schemeClr val="accent3"/>
          </a:solidFill>
          <a:ln w="12700">
            <a:solidFill>
              <a:schemeClr val="accent3"/>
            </a:solidFill>
            <a:prstDash val="solid"/>
          </a:ln>
        </p:spPr>
      </p:sp>
      <p:pic>
        <p:nvPicPr>
          <p:cNvPr id="18" name="Icon" descr="preencoded.png">    </p:cNvPr>
          <p:cNvPicPr>
            <a:picLocks noChangeAspect="1"/>
          </p:cNvPicPr>
          <p:nvPr/>
        </p:nvPicPr>
        <p:blipFill>
          <a:blip r:embed="rId4"/>
          <a:stretch>
            <a:fillRect/>
          </a:stretch>
        </p:blipFill>
        <p:spPr>
          <a:xfrm>
            <a:off x="909828" y="5198364"/>
            <a:ext cx="329184" cy="329184"/>
          </a:xfrm>
          <a:prstGeom prst="rect">
            <a:avLst/>
          </a:prstGeom>
        </p:spPr>
      </p:pic>
      <p:sp>
        <p:nvSpPr>
          <p:cNvPr id="19" name="Text 12"/>
          <p:cNvSpPr txBox="1"/>
          <p:nvPr/>
        </p:nvSpPr>
        <p:spPr>
          <a:xfrm>
            <a:off x="1600200" y="4882896"/>
            <a:ext cx="3977640" cy="960120"/>
          </a:xfrm>
          <a:prstGeom prst="rect">
            <a:avLst/>
          </a:prstGeom>
          <a:noFill/>
          <a:ln/>
        </p:spPr>
        <p:txBody>
          <a:bodyPr wrap="square" lIns="0" tIns="0" rIns="0" bIns="0" rtlCol="0" anchor="ctr"/>
          <a:lstStyle/>
          <a:p>
            <a:pPr indent="0" marL="0">
              <a:buNone/>
            </a:pPr>
            <a:r>
              <a:rPr lang="en-US" sz="1900" b="1" dirty="0">
                <a:solidFill>
                  <a:schemeClr val="accent3"/>
                </a:solidFill>
                <a:latin typeface="Cambria" pitchFamily="34" charset="0"/>
                <a:ea typeface="Cambria" pitchFamily="34" charset="-122"/>
                <a:cs typeface="Cambria" pitchFamily="34" charset="-120"/>
              </a:rPr>
              <a:t>Capex at market +25%</a:t>
            </a:r>
            <a:endParaRPr lang="en-US" sz="1900" dirty="0"/>
          </a:p>
          <a:p>
            <a:pPr indent="0" marL="0">
              <a:buNone/>
            </a:pPr>
            <a:r>
              <a:rPr lang="en-US" sz="1500" dirty="0">
                <a:solidFill>
                  <a:srgbClr val="17202A"/>
                </a:solidFill>
                <a:latin typeface="Calibri" pitchFamily="34" charset="0"/>
                <a:ea typeface="Calibri" pitchFamily="34" charset="-122"/>
                <a:cs typeface="Calibri" pitchFamily="34" charset="-120"/>
              </a:rPr>
              <a:t>Existing CCGT US$600/kW; new CCGT 1,500, gas engine 1,375, OCGT 875.</a:t>
            </a:r>
            <a:endParaRPr lang="en-US" sz="19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989320" y="1325880"/>
          <a:ext cx="5623560" cy="914400"/>
        </p:xfrm>
        <a:graphic>
          <a:graphicData uri="http://schemas.openxmlformats.org/drawingml/2006/table">
            <a:tbl>
              <a:tblPr/>
              <a:tblGrid>
                <a:gridCol w="2880360"/>
                <a:gridCol w="1371600"/>
                <a:gridCol w="1371600"/>
              </a:tblGrid>
              <a:tr h="56692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Lot / technology</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Case A</a:t>
                      </a:r>
                      <a:endParaRPr lang="en-US" sz="1500" dirty="0">
                        <a:latin typeface="Calibri" charset="0"/>
                        <a:ea typeface="Calibri" charset="0"/>
                        <a:cs typeface="Calibri" charset="0"/>
                      </a:endParaRPr>
                    </a:p>
                    <a:p>
                      <a:pPr algn="ctr" indent="0" marL="0">
                        <a:buNone/>
                      </a:pPr>
                      <a:r>
                        <a:rPr lang="en-US" sz="1500" b="1" dirty="0">
                          <a:solidFill>
                            <a:srgbClr val="FFFFFF"/>
                          </a:solidFill>
                          <a:latin typeface="Calibri" pitchFamily="34" charset="0"/>
                          <a:ea typeface="Calibri" pitchFamily="34" charset="-122"/>
                          <a:cs typeface="Calibri" pitchFamily="34" charset="-120"/>
                        </a:rPr>
                        <a:t>PhP/kWh</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Case B</a:t>
                      </a:r>
                      <a:endParaRPr lang="en-US" sz="1500" dirty="0">
                        <a:latin typeface="Calibri" charset="0"/>
                        <a:ea typeface="Calibri" charset="0"/>
                        <a:cs typeface="Calibri" charset="0"/>
                      </a:endParaRPr>
                    </a:p>
                    <a:p>
                      <a:pPr algn="ctr" indent="0" marL="0">
                        <a:buNone/>
                      </a:pPr>
                      <a:r>
                        <a:rPr lang="en-US" sz="1500" b="1" dirty="0">
                          <a:solidFill>
                            <a:srgbClr val="FFFFFF"/>
                          </a:solidFill>
                          <a:latin typeface="Calibri" pitchFamily="34" charset="0"/>
                          <a:ea typeface="Calibri" pitchFamily="34" charset="-122"/>
                          <a:cs typeface="Calibri" pitchFamily="34" charset="-120"/>
                        </a:rPr>
                        <a:t>PhP/kWh</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2.12</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1.35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2.05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1.35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4.70</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3.18</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2.92</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2.06</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2000" b="1" dirty="0">
                          <a:solidFill>
                            <a:srgbClr val="1F8A8A"/>
                          </a:solidFill>
                          <a:latin typeface="Calibri" pitchFamily="34" charset="0"/>
                          <a:ea typeface="Calibri" pitchFamily="34" charset="-122"/>
                          <a:cs typeface="Calibri" pitchFamily="34" charset="-120"/>
                        </a:rPr>
                        <a:t>4.45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2000" b="1" dirty="0">
                          <a:solidFill>
                            <a:srgbClr val="6C3FA0"/>
                          </a:solidFill>
                          <a:latin typeface="Calibri" pitchFamily="34" charset="0"/>
                          <a:ea typeface="Calibri" pitchFamily="34" charset="-122"/>
                          <a:cs typeface="Calibri" pitchFamily="34" charset="-120"/>
                        </a:rPr>
                        <a:t>3.05</a:t>
                      </a:r>
                      <a:endParaRPr lang="en-US" sz="20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566928">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Visayas 440 / 500 MW new-build</a:t>
                      </a:r>
                      <a:endParaRPr lang="en-US" sz="16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gridSpan="2">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Same as Luzon new-build, by technology</a:t>
                      </a:r>
                      <a:endParaRPr lang="en-US" sz="1500" dirty="0">
                        <a:latin typeface="Calibri" charset="0"/>
                        <a:ea typeface="Calibri" charset="0"/>
                        <a:cs typeface="Calibri" charset="0"/>
                      </a:endParaRPr>
                    </a:p>
                  </a:txBody>
                  <a:tcPr marL="91440" marR="91440"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hMerge="1">
                  <a:tcPr/>
                </a:tc>
              </a:tr>
            </a:tbl>
          </a:graphicData>
        </a:graphic>
      </p:graphicFrame>
      <p:sp>
        <p:nvSpPr>
          <p:cNvPr id="21"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Draft GAT Prices, PhP/kWh, excluding fuel and CLLC; 30-year recovery; equity NPV = 0 at 14%. Not final: issued only by Commission resolution.</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Draft GAT Price by lot: Case A vs Case B</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4572000"/>
          </a:xfrm>
          <a:prstGeom prst="roundRect">
            <a:avLst>
              <a:gd name="adj" fmla="val 3750"/>
            </a:avLst>
          </a:prstGeom>
          <a:solidFill>
            <a:schemeClr val="bg2"/>
          </a:solidFill>
          <a:ln w="12700">
            <a:solidFill>
              <a:schemeClr val="bg2"/>
            </a:solidFill>
            <a:prstDash val="solid"/>
          </a:ln>
        </p:spPr>
      </p:sp>
      <p:sp>
        <p:nvSpPr>
          <p:cNvPr id="6" name="Text 2"/>
          <p:cNvSpPr txBox="1"/>
          <p:nvPr/>
        </p:nvSpPr>
        <p:spPr>
          <a:xfrm>
            <a:off x="8869680" y="1417320"/>
            <a:ext cx="2606040" cy="4297680"/>
          </a:xfrm>
          <a:prstGeom prst="rect">
            <a:avLst/>
          </a:prstGeom>
          <a:noFill/>
          <a:ln/>
        </p:spPr>
        <p:txBody>
          <a:bodyPr wrap="square" lIns="0" tIns="0" rIns="0" bIns="0" rtlCol="0" anchor="t"/>
          <a:lstStyle/>
          <a:p>
            <a:pPr indent="0" marL="0">
              <a:buNone/>
            </a:pPr>
            <a:r>
              <a:rPr lang="en-US" sz="1900" b="1" dirty="0">
                <a:solidFill>
                  <a:srgbClr val="14324F"/>
                </a:solidFill>
                <a:latin typeface="Cambria" pitchFamily="34" charset="0"/>
                <a:ea typeface="Cambria" pitchFamily="34" charset="-122"/>
                <a:cs typeface="Cambria" pitchFamily="34" charset="-120"/>
              </a:rPr>
              <a:t>Reading the chart</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Highest: new CCGT, then gas engine (capex per kW).</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Lowest: existing CCGT lots (US$600/kW).</a:t>
            </a:r>
            <a:endParaRPr lang="en-US" sz="1900" dirty="0"/>
          </a:p>
          <a:p>
            <a:pPr marL="342900" indent="-342900">
              <a:spcAft>
                <a:spcPts val="800"/>
              </a:spcAft>
              <a:buSzPct val="100000"/>
              <a:buChar char="•"/>
            </a:pPr>
            <a:r>
              <a:rPr lang="en-US" sz="1500" dirty="0">
                <a:solidFill>
                  <a:srgbClr val="17202A"/>
                </a:solidFill>
                <a:latin typeface="Calibri" pitchFamily="34" charset="0"/>
                <a:ea typeface="Calibri" pitchFamily="34" charset="-122"/>
                <a:cs typeface="Calibri" pitchFamily="34" charset="-120"/>
              </a:rPr>
              <a:t>Case B is 33% lower on average: more energy, same fixed cost.</a:t>
            </a:r>
            <a:endParaRPr lang="en-US" sz="1900" dirty="0"/>
          </a:p>
          <a:p>
            <a:pPr marL="342900" indent="-342900">
              <a:buSzPct val="100000"/>
              <a:buChar char="•"/>
            </a:pPr>
            <a:r>
              <a:rPr lang="en-US" sz="1500" dirty="0">
                <a:solidFill>
                  <a:srgbClr val="17202A"/>
                </a:solidFill>
                <a:latin typeface="Calibri" pitchFamily="34" charset="0"/>
                <a:ea typeface="Calibri" pitchFamily="34" charset="-122"/>
                <a:cs typeface="Calibri" pitchFamily="34" charset="-120"/>
              </a:rPr>
              <a:t>Visayas rates equal Luzon new-build by technology (per-kW model).</a:t>
            </a:r>
            <a:endParaRPr lang="en-US" sz="19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each rate: CRF + OM (Case A)</a:t>
            </a:r>
            <a:endParaRPr lang="en-US" sz="3400" dirty="0"/>
          </a:p>
        </p:txBody>
      </p:sp>
      <p:graphicFrame>
        <p:nvGraphicFramePr>
          <p:cNvPr id="4" name="Chart 0" descr=""/>
          <p:cNvGraphicFramePr/>
          <p:nvPr/>
        </p:nvGraphicFramePr>
        <p:xfrm>
          <a:off x="548640" y="1280160"/>
          <a:ext cx="7863840" cy="4572000"/>
        </p:xfrm>
        <a:graphic xmlns:a="http://schemas.openxmlformats.org/drawingml/2006/main">
          <a:graphicData uri="http://schemas.openxmlformats.org/drawingml/2006/chart">
            <c:chart xmlns:c="http://schemas.openxmlformats.org/drawingml/2006/chart" r:id="rId1"/>
          </a:graphicData>
        </a:graphic>
      </p:graphicFrame>
      <p:sp>
        <p:nvSpPr>
          <p:cNvPr id="5" name="Card"/>
          <p:cNvSpPr/>
          <p:nvPr/>
        </p:nvSpPr>
        <p:spPr>
          <a:xfrm>
            <a:off x="8686800" y="1280160"/>
            <a:ext cx="2926080" cy="2377440"/>
          </a:xfrm>
          <a:prstGeom prst="roundRect">
            <a:avLst>
              <a:gd name="adj" fmla="val 4615"/>
            </a:avLst>
          </a:prstGeom>
          <a:solidFill>
            <a:schemeClr val="bg2"/>
          </a:solidFill>
          <a:ln w="12700">
            <a:solidFill>
              <a:schemeClr val="bg2"/>
            </a:solidFill>
            <a:prstDash val="solid"/>
          </a:ln>
        </p:spPr>
      </p:sp>
      <p:sp>
        <p:nvSpPr>
          <p:cNvPr id="6" name="Text 2"/>
          <p:cNvSpPr txBox="1"/>
          <p:nvPr/>
        </p:nvSpPr>
        <p:spPr>
          <a:xfrm>
            <a:off x="8869680" y="1508760"/>
            <a:ext cx="2560320" cy="914400"/>
          </a:xfrm>
          <a:prstGeom prst="rect">
            <a:avLst/>
          </a:prstGeom>
          <a:noFill/>
          <a:ln/>
        </p:spPr>
        <p:txBody>
          <a:bodyPr wrap="square" lIns="0" tIns="0" rIns="0" bIns="0" rtlCol="0" anchor="ctr"/>
          <a:lstStyle/>
          <a:p>
            <a:pPr indent="0" marL="0">
              <a:buNone/>
            </a:pPr>
            <a:r>
              <a:rPr lang="en-US" sz="3400" b="1" dirty="0">
                <a:solidFill>
                  <a:srgbClr val="14324F"/>
                </a:solidFill>
                <a:latin typeface="Cambria" pitchFamily="34" charset="0"/>
                <a:ea typeface="Cambria" pitchFamily="34" charset="-122"/>
                <a:cs typeface="Cambria" pitchFamily="34" charset="-120"/>
              </a:rPr>
              <a:t>79–92%</a:t>
            </a:r>
            <a:endParaRPr lang="en-US" sz="3400" dirty="0"/>
          </a:p>
        </p:txBody>
      </p:sp>
      <p:sp>
        <p:nvSpPr>
          <p:cNvPr id="7" name="Text 3"/>
          <p:cNvSpPr txBox="1"/>
          <p:nvPr/>
        </p:nvSpPr>
        <p:spPr>
          <a:xfrm>
            <a:off x="8869680" y="2468880"/>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CRF share of the rate</a:t>
            </a:r>
            <a:endParaRPr lang="en-US" sz="1800" dirty="0"/>
          </a:p>
        </p:txBody>
      </p:sp>
      <p:sp>
        <p:nvSpPr>
          <p:cNvPr id="8" name="Text 4"/>
          <p:cNvSpPr txBox="1"/>
          <p:nvPr/>
        </p:nvSpPr>
        <p:spPr>
          <a:xfrm>
            <a:off x="8869680" y="2926080"/>
            <a:ext cx="2560320" cy="594360"/>
          </a:xfrm>
          <a:prstGeom prst="rect">
            <a:avLst/>
          </a:prstGeom>
          <a:noFill/>
          <a:ln/>
        </p:spPr>
        <p:txBody>
          <a:bodyPr wrap="square" lIns="0" tIns="0" rIns="0" bIns="0" rtlCol="0" anchor="t"/>
          <a:lstStyle/>
          <a:p>
            <a:pPr indent="0" marL="0">
              <a:buNone/>
            </a:pPr>
            <a:r>
              <a:rPr lang="en-US" sz="1400" dirty="0">
                <a:solidFill>
                  <a:schemeClr val="accent4"/>
                </a:solidFill>
              </a:rPr>
              <a:t>Capital cost and financing dominate</a:t>
            </a:r>
            <a:endParaRPr lang="en-US" sz="1400" dirty="0"/>
          </a:p>
        </p:txBody>
      </p:sp>
      <p:sp>
        <p:nvSpPr>
          <p:cNvPr id="9" name="Card"/>
          <p:cNvSpPr/>
          <p:nvPr/>
        </p:nvSpPr>
        <p:spPr>
          <a:xfrm>
            <a:off x="8686800" y="3840480"/>
            <a:ext cx="2926080" cy="2377440"/>
          </a:xfrm>
          <a:prstGeom prst="roundRect">
            <a:avLst>
              <a:gd name="adj" fmla="val 4615"/>
            </a:avLst>
          </a:prstGeom>
          <a:solidFill>
            <a:srgbClr val="FDF1DC"/>
          </a:solidFill>
          <a:ln w="12700">
            <a:solidFill>
              <a:srgbClr val="FDF1DC"/>
            </a:solidFill>
            <a:prstDash val="solid"/>
          </a:ln>
        </p:spPr>
      </p:sp>
      <p:sp>
        <p:nvSpPr>
          <p:cNvPr id="10" name="Text 6"/>
          <p:cNvSpPr txBox="1"/>
          <p:nvPr/>
        </p:nvSpPr>
        <p:spPr>
          <a:xfrm>
            <a:off x="8869680" y="4069080"/>
            <a:ext cx="2560320" cy="914400"/>
          </a:xfrm>
          <a:prstGeom prst="rect">
            <a:avLst/>
          </a:prstGeom>
          <a:noFill/>
          <a:ln/>
        </p:spPr>
        <p:txBody>
          <a:bodyPr wrap="square" lIns="0" tIns="0" rIns="0" bIns="0" rtlCol="0" anchor="ctr"/>
          <a:lstStyle/>
          <a:p>
            <a:pPr indent="0" marL="0">
              <a:buNone/>
            </a:pPr>
            <a:r>
              <a:rPr lang="en-US" sz="3400" b="1" dirty="0">
                <a:solidFill>
                  <a:srgbClr val="B45309"/>
                </a:solidFill>
                <a:latin typeface="Cambria" pitchFamily="34" charset="0"/>
                <a:ea typeface="Cambria" pitchFamily="34" charset="-122"/>
                <a:cs typeface="Cambria" pitchFamily="34" charset="-120"/>
              </a:rPr>
              <a:t>0.38–0.56</a:t>
            </a:r>
            <a:endParaRPr lang="en-US" sz="3400" dirty="0"/>
          </a:p>
        </p:txBody>
      </p:sp>
      <p:sp>
        <p:nvSpPr>
          <p:cNvPr id="11" name="Text 7"/>
          <p:cNvSpPr txBox="1"/>
          <p:nvPr/>
        </p:nvSpPr>
        <p:spPr>
          <a:xfrm>
            <a:off x="8869680" y="5029200"/>
            <a:ext cx="2560320" cy="457200"/>
          </a:xfrm>
          <a:prstGeom prst="rect">
            <a:avLst/>
          </a:prstGeom>
          <a:noFill/>
          <a:ln/>
        </p:spPr>
        <p:txBody>
          <a:bodyPr wrap="square" lIns="0" tIns="0" rIns="0" bIns="0" rtlCol="0" anchor="ctr"/>
          <a:lstStyle/>
          <a:p>
            <a:pPr indent="0" marL="0">
              <a:buNone/>
            </a:pPr>
            <a:r>
              <a:rPr lang="en-US" sz="1800" b="1" dirty="0">
                <a:solidFill>
                  <a:schemeClr val="tx1"/>
                </a:solidFill>
              </a:rPr>
              <a:t>OM, PhP/kWh</a:t>
            </a:r>
            <a:endParaRPr lang="en-US" sz="1800" dirty="0"/>
          </a:p>
        </p:txBody>
      </p:sp>
      <p:sp>
        <p:nvSpPr>
          <p:cNvPr id="12" name="Text 8"/>
          <p:cNvSpPr txBox="1"/>
          <p:nvPr/>
        </p:nvSpPr>
        <p:spPr>
          <a:xfrm>
            <a:off x="8869680" y="5486400"/>
            <a:ext cx="2560320" cy="594360"/>
          </a:xfrm>
          <a:prstGeom prst="rect">
            <a:avLst/>
          </a:prstGeom>
          <a:noFill/>
          <a:ln/>
        </p:spPr>
        <p:txBody>
          <a:bodyPr wrap="square" lIns="0" tIns="0" rIns="0" bIns="0" rtlCol="0" anchor="t"/>
          <a:lstStyle/>
          <a:p>
            <a:pPr indent="0" marL="0">
              <a:buNone/>
            </a:pPr>
            <a:r>
              <a:rPr lang="en-US" sz="1400" dirty="0">
                <a:solidFill>
                  <a:schemeClr val="accent4"/>
                </a:solidFill>
              </a:rPr>
              <a:t>Fixed + variable non-fuel O&amp;M</a:t>
            </a:r>
            <a:endParaRPr lang="en-US" sz="14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 eleven cases: rates and build-up</a:t>
            </a:r>
            <a:endParaRPr lang="en-US" sz="34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383280"/>
                <a:gridCol w="1280160"/>
                <a:gridCol w="1280160"/>
                <a:gridCol w="1280160"/>
                <a:gridCol w="1280160"/>
                <a:gridCol w="1280160"/>
                <a:gridCol w="1280160"/>
              </a:tblGrid>
              <a:tr h="0">
                <a:tc rowSpan="2">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 technology</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A – TOR capacity factor (42%)</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 B – historical capacity factor</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hMerge="1">
                  <a:tcPr/>
                </a:tc>
                <a:tc hMerge="1">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CRF</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OM</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GATP</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CRF</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OM</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C3FA0"/>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1.35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0.29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4.30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3.18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2.87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0.31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2.06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500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A61E4D"/>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0.56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6C3FA0"/>
                          </a:solidFill>
                          <a:latin typeface="Calibri" pitchFamily="34" charset="0"/>
                          <a:ea typeface="Calibri" pitchFamily="34" charset="-122"/>
                          <a:cs typeface="Calibri" pitchFamily="34" charset="-120"/>
                        </a:rPr>
                        <a:t>3.05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2.60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0.46</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9E1F4"/>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PhP/kWh, first-year build-up, excluding fuel and CLLC.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draft rates moved (Case A)</a:t>
            </a:r>
            <a:endParaRPr lang="en-US" sz="3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3566160"/>
                <a:gridCol w="1828800"/>
                <a:gridCol w="2011680"/>
                <a:gridCol w="1828800"/>
                <a:gridCol w="1828800"/>
              </a:tblGrid>
              <a:tr h="45720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Lot / technology</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Previous draft</a:t>
                      </a:r>
                      <a:endParaRPr lang="en-US" sz="1400" dirty="0">
                        <a:latin typeface="Calibri" charset="0"/>
                        <a:ea typeface="Calibri" charset="0"/>
                        <a:cs typeface="Calibri" charset="0"/>
                      </a:endParaRPr>
                    </a:p>
                    <a:p>
                      <a:pPr algn="ctr" indent="0" marL="0">
                        <a:buNone/>
                      </a:pPr>
                      <a:r>
                        <a:rPr lang="en-US" sz="1400" b="1" dirty="0">
                          <a:solidFill>
                            <a:srgbClr val="FFFFFF"/>
                          </a:solidFill>
                          <a:latin typeface="Calibri" pitchFamily="34" charset="0"/>
                          <a:ea typeface="Calibri" pitchFamily="34" charset="-122"/>
                          <a:cs typeface="Calibri" pitchFamily="34" charset="-120"/>
                        </a:rPr>
                        <a:t>(incl. CLLC)</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6B728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CLLC out; capex at market</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5B708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Now: capex +25%</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Change vs previous</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1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14324F"/>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2.93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1.72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2.12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−0.81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Lot 2 – existing CCGT,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86C1"/>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1.64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2.05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−0.37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3.73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B4463A"/>
                          </a:solidFill>
                          <a:latin typeface="Calibri" pitchFamily="34" charset="0"/>
                          <a:ea typeface="Calibri" pitchFamily="34" charset="-122"/>
                          <a:cs typeface="Calibri" pitchFamily="34" charset="-120"/>
                        </a:rPr>
                        <a:t>+0.97</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3.13</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−0.21</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Luzon</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2E7D32"/>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3.95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3.68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B4463A"/>
                          </a:solidFill>
                          <a:latin typeface="Calibri" pitchFamily="34" charset="0"/>
                          <a:ea typeface="Calibri" pitchFamily="34" charset="-122"/>
                          <a:cs typeface="Calibri" pitchFamily="34" charset="-120"/>
                        </a:rPr>
                        <a:t>+0.50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CCGT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4.22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3.84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4.70</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B4463A"/>
                          </a:solidFill>
                          <a:latin typeface="Calibri" pitchFamily="34" charset="0"/>
                          <a:ea typeface="Calibri" pitchFamily="34" charset="-122"/>
                          <a:cs typeface="Calibri" pitchFamily="34" charset="-120"/>
                        </a:rPr>
                        <a:t>+0.48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OCGT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2.44</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2.92</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−0.99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r h="457200">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New gas engine – Visayas 440 MW</a:t>
                      </a:r>
                      <a:endParaRPr lang="en-US" sz="14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5400"/>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4.59</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dirty="0">
                          <a:solidFill>
                            <a:srgbClr val="17202A"/>
                          </a:solidFill>
                          <a:latin typeface="Calibri" pitchFamily="34" charset="0"/>
                          <a:ea typeface="Calibri" pitchFamily="34" charset="-122"/>
                          <a:cs typeface="Calibri" pitchFamily="34" charset="-120"/>
                        </a:rPr>
                        <a:t>3.68</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c>
                  <a:txBody>
                    <a:bodyPr/>
                    <a:lstStyle/>
                    <a:p>
                      <a:pPr algn="ctr" indent="0" marL="0">
                        <a:buNone/>
                      </a:pPr>
                      <a:r>
                        <a:rPr lang="en-US" sz="1500" b="1" dirty="0">
                          <a:solidFill>
                            <a:srgbClr val="1F8A8A"/>
                          </a:solidFill>
                          <a:latin typeface="Calibri" pitchFamily="34" charset="0"/>
                          <a:ea typeface="Calibri" pitchFamily="34" charset="-122"/>
                          <a:cs typeface="Calibri" pitchFamily="34" charset="-120"/>
                        </a:rPr>
                        <a:t>4.45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D3EEEC"/>
                    </a:solidFill>
                  </a:tcPr>
                </a:tc>
                <a:tc>
                  <a:txBody>
                    <a:bodyPr/>
                    <a:lstStyle/>
                    <a:p>
                      <a:pPr algn="ctr" indent="0" marL="0">
                        <a:buNone/>
                      </a:pPr>
                      <a:r>
                        <a:rPr lang="en-US" sz="1500" b="1" dirty="0">
                          <a:solidFill>
                            <a:srgbClr val="2E7D32"/>
                          </a:solidFill>
                          <a:latin typeface="Calibri" pitchFamily="34" charset="0"/>
                          <a:ea typeface="Calibri" pitchFamily="34" charset="-122"/>
                          <a:cs typeface="Calibri" pitchFamily="34" charset="-120"/>
                        </a:rPr>
                        <a:t>−0.15</a:t>
                      </a:r>
                      <a:endParaRPr lang="en-US" sz="1500" dirty="0">
                        <a:latin typeface="Calibri" charset="0"/>
                        <a:ea typeface="Calibri" charset="0"/>
                        <a:cs typeface="Calibri" charset="0"/>
                      </a:endParaRPr>
                    </a:p>
                  </a:txBody>
                  <a:tcPr marL="73152" marR="73152" marT="27432" marB="27432"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F4F6F8"/>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A, PhP/kWh. Visayas 500 MW equals Visayas 440 MW. Previous draft: GATP = CRF + OM + CLLC, new-build capex US$900 / 850 / 520 per kW, existing US$450.</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the rest of this deck covers</a:t>
            </a:r>
            <a:endParaRPr lang="en-US" sz="3400" dirty="0"/>
          </a:p>
        </p:txBody>
      </p:sp>
      <p:sp>
        <p:nvSpPr>
          <p:cNvPr id="4" name="Card"/>
          <p:cNvSpPr/>
          <p:nvPr/>
        </p:nvSpPr>
        <p:spPr>
          <a:xfrm>
            <a:off x="548640" y="1463040"/>
            <a:ext cx="3474720" cy="4023360"/>
          </a:xfrm>
          <a:prstGeom prst="roundRect">
            <a:avLst>
              <a:gd name="adj" fmla="val 3158"/>
            </a:avLst>
          </a:prstGeom>
          <a:solidFill>
            <a:schemeClr val="bg2"/>
          </a:solidFill>
          <a:ln w="12700">
            <a:solidFill>
              <a:schemeClr val="bg2"/>
            </a:solidFill>
            <a:prstDash val="solid"/>
          </a:ln>
        </p:spPr>
      </p:sp>
      <p:sp>
        <p:nvSpPr>
          <p:cNvPr id="5" name="Icon circle"/>
          <p:cNvSpPr/>
          <p:nvPr/>
        </p:nvSpPr>
        <p:spPr>
          <a:xfrm>
            <a:off x="868680" y="178308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82650" y="1997050"/>
            <a:ext cx="395021" cy="395021"/>
          </a:xfrm>
          <a:prstGeom prst="rect">
            <a:avLst/>
          </a:prstGeom>
        </p:spPr>
      </p:pic>
      <p:sp>
        <p:nvSpPr>
          <p:cNvPr id="7" name="Text 3"/>
          <p:cNvSpPr txBox="1"/>
          <p:nvPr/>
        </p:nvSpPr>
        <p:spPr>
          <a:xfrm>
            <a:off x="86868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Walk through the model inputs</a:t>
            </a:r>
            <a:endParaRPr lang="en-US" sz="2200" dirty="0"/>
          </a:p>
        </p:txBody>
      </p:sp>
      <p:sp>
        <p:nvSpPr>
          <p:cNvPr id="8" name="Text 4"/>
          <p:cNvSpPr txBox="1"/>
          <p:nvPr/>
        </p:nvSpPr>
        <p:spPr>
          <a:xfrm>
            <a:off x="86868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Every parameter, its value and its basis or source.</a:t>
            </a:r>
            <a:endParaRPr lang="en-US" sz="1700" dirty="0"/>
          </a:p>
        </p:txBody>
      </p:sp>
      <p:sp>
        <p:nvSpPr>
          <p:cNvPr id="9" name="Card"/>
          <p:cNvSpPr/>
          <p:nvPr/>
        </p:nvSpPr>
        <p:spPr>
          <a:xfrm>
            <a:off x="4297680" y="1463040"/>
            <a:ext cx="3474720" cy="4023360"/>
          </a:xfrm>
          <a:prstGeom prst="roundRect">
            <a:avLst>
              <a:gd name="adj" fmla="val 3158"/>
            </a:avLst>
          </a:prstGeom>
          <a:solidFill>
            <a:schemeClr val="bg2"/>
          </a:solidFill>
          <a:ln w="12700">
            <a:solidFill>
              <a:schemeClr val="bg2"/>
            </a:solidFill>
            <a:prstDash val="solid"/>
          </a:ln>
        </p:spPr>
      </p:sp>
      <p:sp>
        <p:nvSpPr>
          <p:cNvPr id="10" name="Icon circle"/>
          <p:cNvSpPr/>
          <p:nvPr/>
        </p:nvSpPr>
        <p:spPr>
          <a:xfrm>
            <a:off x="4617720" y="1783080"/>
            <a:ext cx="822960" cy="82296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4831690" y="1997050"/>
            <a:ext cx="395021" cy="395021"/>
          </a:xfrm>
          <a:prstGeom prst="rect">
            <a:avLst/>
          </a:prstGeom>
        </p:spPr>
      </p:pic>
      <p:sp>
        <p:nvSpPr>
          <p:cNvPr id="12" name="Text 7"/>
          <p:cNvSpPr txBox="1"/>
          <p:nvPr/>
        </p:nvSpPr>
        <p:spPr>
          <a:xfrm>
            <a:off x="461772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Test the inputs</a:t>
            </a:r>
            <a:endParaRPr lang="en-US" sz="2200" dirty="0"/>
          </a:p>
        </p:txBody>
      </p:sp>
      <p:sp>
        <p:nvSpPr>
          <p:cNvPr id="13" name="Text 8"/>
          <p:cNvSpPr txBox="1"/>
          <p:nvPr/>
        </p:nvSpPr>
        <p:spPr>
          <a:xfrm>
            <a:off x="461772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Where should values change? Stakeholder evidence from the FGD feeds in here.</a:t>
            </a:r>
            <a:endParaRPr lang="en-US" sz="1700" dirty="0"/>
          </a:p>
        </p:txBody>
      </p:sp>
      <p:sp>
        <p:nvSpPr>
          <p:cNvPr id="14" name="Card"/>
          <p:cNvSpPr/>
          <p:nvPr/>
        </p:nvSpPr>
        <p:spPr>
          <a:xfrm>
            <a:off x="8046720" y="1463040"/>
            <a:ext cx="3474720" cy="4023360"/>
          </a:xfrm>
          <a:prstGeom prst="roundRect">
            <a:avLst>
              <a:gd name="adj" fmla="val 3158"/>
            </a:avLst>
          </a:prstGeom>
          <a:solidFill>
            <a:schemeClr val="bg2"/>
          </a:solidFill>
          <a:ln w="12700">
            <a:solidFill>
              <a:schemeClr val="bg2"/>
            </a:solidFill>
            <a:prstDash val="solid"/>
          </a:ln>
        </p:spPr>
      </p:sp>
      <p:sp>
        <p:nvSpPr>
          <p:cNvPr id="15" name="Icon circle"/>
          <p:cNvSpPr/>
          <p:nvPr/>
        </p:nvSpPr>
        <p:spPr>
          <a:xfrm>
            <a:off x="8366760" y="1783080"/>
            <a:ext cx="822960" cy="822960"/>
          </a:xfrm>
          <a:prstGeom prst="ellipse">
            <a:avLst/>
          </a:prstGeom>
          <a:solidFill>
            <a:schemeClr val="accent3"/>
          </a:solidFill>
          <a:ln w="12700">
            <a:solidFill>
              <a:schemeClr val="accent3"/>
            </a:solidFill>
            <a:prstDash val="solid"/>
          </a:ln>
        </p:spPr>
      </p:sp>
      <p:pic>
        <p:nvPicPr>
          <p:cNvPr id="16" name="Icon" descr="preencoded.png">    </p:cNvPr>
          <p:cNvPicPr>
            <a:picLocks noChangeAspect="1"/>
          </p:cNvPicPr>
          <p:nvPr/>
        </p:nvPicPr>
        <p:blipFill>
          <a:blip r:embed="rId3"/>
          <a:stretch>
            <a:fillRect/>
          </a:stretch>
        </p:blipFill>
        <p:spPr>
          <a:xfrm>
            <a:off x="8580730" y="1997050"/>
            <a:ext cx="395021" cy="395021"/>
          </a:xfrm>
          <a:prstGeom prst="rect">
            <a:avLst/>
          </a:prstGeom>
        </p:spPr>
      </p:pic>
      <p:sp>
        <p:nvSpPr>
          <p:cNvPr id="17" name="Text 11"/>
          <p:cNvSpPr txBox="1"/>
          <p:nvPr/>
        </p:nvSpPr>
        <p:spPr>
          <a:xfrm>
            <a:off x="8366760" y="2834640"/>
            <a:ext cx="2926080" cy="914400"/>
          </a:xfrm>
          <a:prstGeom prst="rect">
            <a:avLst/>
          </a:prstGeom>
          <a:noFill/>
          <a:ln/>
        </p:spPr>
        <p:txBody>
          <a:bodyPr wrap="square" lIns="0" tIns="0" rIns="0" bIns="0" rtlCol="0" anchor="t"/>
          <a:lstStyle/>
          <a:p>
            <a:pPr indent="0" marL="0">
              <a:buNone/>
            </a:pPr>
            <a:r>
              <a:rPr lang="en-US" sz="2200" b="1" dirty="0">
                <a:solidFill>
                  <a:schemeClr val="tx2"/>
                </a:solidFill>
                <a:latin typeface="Cambria" pitchFamily="34" charset="0"/>
                <a:ea typeface="Cambria" pitchFamily="34" charset="-122"/>
                <a:cs typeface="Cambria" pitchFamily="34" charset="-120"/>
              </a:rPr>
              <a:t>Rates are drafts</a:t>
            </a:r>
            <a:endParaRPr lang="en-US" sz="2200" dirty="0"/>
          </a:p>
        </p:txBody>
      </p:sp>
      <p:sp>
        <p:nvSpPr>
          <p:cNvPr id="18" name="Text 12"/>
          <p:cNvSpPr txBox="1"/>
          <p:nvPr/>
        </p:nvSpPr>
        <p:spPr>
          <a:xfrm>
            <a:off x="8366760" y="3794760"/>
            <a:ext cx="2926080" cy="1463040"/>
          </a:xfrm>
          <a:prstGeom prst="rect">
            <a:avLst/>
          </a:prstGeom>
          <a:noFill/>
          <a:ln/>
        </p:spPr>
        <p:txBody>
          <a:bodyPr wrap="square" lIns="0" tIns="0" rIns="0" bIns="0" rtlCol="0" anchor="t"/>
          <a:lstStyle/>
          <a:p>
            <a:pPr indent="0" marL="0">
              <a:buNone/>
            </a:pPr>
            <a:r>
              <a:rPr lang="en-US" sz="1700" dirty="0">
                <a:solidFill>
                  <a:schemeClr val="tx1"/>
                </a:solidFill>
              </a:rPr>
              <a:t>GAT Prices bind only once issued by Commission resolution.</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the model sets the GAT Price</a:t>
            </a:r>
            <a:endParaRPr lang="en-US" sz="3400" dirty="0"/>
          </a:p>
        </p:txBody>
      </p:sp>
      <p:sp>
        <p:nvSpPr>
          <p:cNvPr id="4" name="Card"/>
          <p:cNvSpPr/>
          <p:nvPr/>
        </p:nvSpPr>
        <p:spPr>
          <a:xfrm>
            <a:off x="548640" y="1508760"/>
            <a:ext cx="3566160" cy="2834640"/>
          </a:xfrm>
          <a:prstGeom prst="roundRect">
            <a:avLst>
              <a:gd name="adj" fmla="val 3871"/>
            </a:avLst>
          </a:prstGeom>
          <a:solidFill>
            <a:schemeClr val="tx2"/>
          </a:solidFill>
          <a:ln w="12700">
            <a:solidFill>
              <a:schemeClr val="tx2"/>
            </a:solidFill>
            <a:prstDash val="solid"/>
          </a:ln>
        </p:spPr>
      </p:sp>
      <p:sp>
        <p:nvSpPr>
          <p:cNvPr id="5" name="Icon circle"/>
          <p:cNvSpPr/>
          <p:nvPr/>
        </p:nvSpPr>
        <p:spPr>
          <a:xfrm>
            <a:off x="822960" y="1737360"/>
            <a:ext cx="685800" cy="68580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01268" y="1915668"/>
            <a:ext cx="329184" cy="329184"/>
          </a:xfrm>
          <a:prstGeom prst="rect">
            <a:avLst/>
          </a:prstGeom>
        </p:spPr>
      </p:pic>
      <p:sp>
        <p:nvSpPr>
          <p:cNvPr id="7" name="Text 3"/>
          <p:cNvSpPr txBox="1"/>
          <p:nvPr/>
        </p:nvSpPr>
        <p:spPr>
          <a:xfrm>
            <a:off x="1645920" y="1737360"/>
            <a:ext cx="228600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CRF</a:t>
            </a:r>
            <a:endParaRPr lang="en-US" sz="2400" dirty="0"/>
          </a:p>
        </p:txBody>
      </p:sp>
      <p:sp>
        <p:nvSpPr>
          <p:cNvPr id="8" name="Text 4"/>
          <p:cNvSpPr txBox="1"/>
          <p:nvPr/>
        </p:nvSpPr>
        <p:spPr>
          <a:xfrm>
            <a:off x="822960" y="2606040"/>
            <a:ext cx="3017520" cy="1645920"/>
          </a:xfrm>
          <a:prstGeom prst="rect">
            <a:avLst/>
          </a:prstGeom>
          <a:noFill/>
          <a:ln/>
        </p:spPr>
        <p:txBody>
          <a:bodyPr wrap="square" lIns="0" tIns="0" rIns="0" bIns="0" rtlCol="0" anchor="t"/>
          <a:lstStyle/>
          <a:p>
            <a:pPr indent="0" marL="0">
              <a:buNone/>
            </a:pPr>
            <a:r>
              <a:rPr lang="en-US" sz="1700" dirty="0">
                <a:solidFill>
                  <a:schemeClr val="bg1"/>
                </a:solidFill>
              </a:rPr>
              <a:t>Capital recovery: return of and on capital, financing, income and local taxes, G&amp;A</a:t>
            </a:r>
            <a:endParaRPr lang="en-US" sz="1700" dirty="0"/>
          </a:p>
        </p:txBody>
      </p:sp>
      <p:sp>
        <p:nvSpPr>
          <p:cNvPr id="9" name="Text 5"/>
          <p:cNvSpPr txBox="1"/>
          <p:nvPr/>
        </p:nvSpPr>
        <p:spPr>
          <a:xfrm>
            <a:off x="411480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0" name="Card"/>
          <p:cNvSpPr/>
          <p:nvPr/>
        </p:nvSpPr>
        <p:spPr>
          <a:xfrm>
            <a:off x="4572000" y="1508760"/>
            <a:ext cx="3291840" cy="2834640"/>
          </a:xfrm>
          <a:prstGeom prst="roundRect">
            <a:avLst>
              <a:gd name="adj" fmla="val 3871"/>
            </a:avLst>
          </a:prstGeom>
          <a:solidFill>
            <a:schemeClr val="tx2"/>
          </a:solidFill>
          <a:ln w="12700">
            <a:solidFill>
              <a:schemeClr val="tx2"/>
            </a:solidFill>
            <a:prstDash val="solid"/>
          </a:ln>
        </p:spPr>
      </p:sp>
      <p:sp>
        <p:nvSpPr>
          <p:cNvPr id="11" name="Icon circle"/>
          <p:cNvSpPr/>
          <p:nvPr/>
        </p:nvSpPr>
        <p:spPr>
          <a:xfrm>
            <a:off x="4846320" y="1737360"/>
            <a:ext cx="685800" cy="68580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5024628" y="1915668"/>
            <a:ext cx="329184" cy="329184"/>
          </a:xfrm>
          <a:prstGeom prst="rect">
            <a:avLst/>
          </a:prstGeom>
        </p:spPr>
      </p:pic>
      <p:sp>
        <p:nvSpPr>
          <p:cNvPr id="13" name="Text 8"/>
          <p:cNvSpPr txBox="1"/>
          <p:nvPr/>
        </p:nvSpPr>
        <p:spPr>
          <a:xfrm>
            <a:off x="5669280" y="1737360"/>
            <a:ext cx="2011680" cy="685800"/>
          </a:xfrm>
          <a:prstGeom prst="rect">
            <a:avLst/>
          </a:prstGeom>
          <a:noFill/>
          <a:ln/>
        </p:spPr>
        <p:txBody>
          <a:bodyPr wrap="square" lIns="0" tIns="0" rIns="0" bIns="0" rtlCol="0" anchor="ctr"/>
          <a:lstStyle/>
          <a:p>
            <a:pPr indent="0" marL="0">
              <a:buNone/>
            </a:pPr>
            <a:r>
              <a:rPr lang="en-US" sz="2400" b="1" dirty="0">
                <a:solidFill>
                  <a:schemeClr val="bg1"/>
                </a:solidFill>
                <a:latin typeface="Cambria" pitchFamily="34" charset="0"/>
                <a:ea typeface="Cambria" pitchFamily="34" charset="-122"/>
                <a:cs typeface="Cambria" pitchFamily="34" charset="-120"/>
              </a:rPr>
              <a:t>OM</a:t>
            </a:r>
            <a:endParaRPr lang="en-US" sz="2400" dirty="0"/>
          </a:p>
        </p:txBody>
      </p:sp>
      <p:sp>
        <p:nvSpPr>
          <p:cNvPr id="14" name="Text 9"/>
          <p:cNvSpPr txBox="1"/>
          <p:nvPr/>
        </p:nvSpPr>
        <p:spPr>
          <a:xfrm>
            <a:off x="4846320" y="2606040"/>
            <a:ext cx="2743200" cy="1645920"/>
          </a:xfrm>
          <a:prstGeom prst="rect">
            <a:avLst/>
          </a:prstGeom>
          <a:noFill/>
          <a:ln/>
        </p:spPr>
        <p:txBody>
          <a:bodyPr wrap="square" lIns="0" tIns="0" rIns="0" bIns="0" rtlCol="0" anchor="t"/>
          <a:lstStyle/>
          <a:p>
            <a:pPr indent="0" marL="0">
              <a:buNone/>
            </a:pPr>
            <a:r>
              <a:rPr lang="en-US" sz="1700" dirty="0">
                <a:solidFill>
                  <a:schemeClr val="bg1"/>
                </a:solidFill>
              </a:rPr>
              <a:t>Fixed O&amp;M and variable non-fuel O&amp;M of the plant</a:t>
            </a:r>
            <a:endParaRPr lang="en-US" sz="1700" dirty="0"/>
          </a:p>
        </p:txBody>
      </p:sp>
      <p:sp>
        <p:nvSpPr>
          <p:cNvPr id="15" name="Text 10"/>
          <p:cNvSpPr txBox="1"/>
          <p:nvPr/>
        </p:nvSpPr>
        <p:spPr>
          <a:xfrm>
            <a:off x="7863840" y="2377440"/>
            <a:ext cx="457200" cy="822960"/>
          </a:xfrm>
          <a:prstGeom prst="rect">
            <a:avLst/>
          </a:prstGeom>
          <a:noFill/>
          <a:ln/>
        </p:spPr>
        <p:txBody>
          <a:bodyPr wrap="square" rtlCol="0" anchor="ctr"/>
          <a:lstStyle/>
          <a:p>
            <a:pPr algn="ctr" indent="0" marL="0">
              <a:buNone/>
            </a:pPr>
            <a:r>
              <a:rPr lang="en-US" sz="4400" b="1" dirty="0">
                <a:solidFill>
                  <a:schemeClr val="tx2"/>
                </a:solidFill>
              </a:rPr>
              <a:t>=</a:t>
            </a:r>
            <a:endParaRPr lang="en-US" sz="4400" dirty="0"/>
          </a:p>
        </p:txBody>
      </p:sp>
      <p:sp>
        <p:nvSpPr>
          <p:cNvPr id="16" name="Card"/>
          <p:cNvSpPr/>
          <p:nvPr/>
        </p:nvSpPr>
        <p:spPr>
          <a:xfrm>
            <a:off x="8321040" y="1508760"/>
            <a:ext cx="3291840" cy="2834640"/>
          </a:xfrm>
          <a:prstGeom prst="roundRect">
            <a:avLst>
              <a:gd name="adj" fmla="val 3871"/>
            </a:avLst>
          </a:prstGeom>
          <a:solidFill>
            <a:schemeClr val="accent3"/>
          </a:solidFill>
          <a:ln w="12700">
            <a:solidFill>
              <a:schemeClr val="accent3"/>
            </a:solidFill>
            <a:prstDash val="solid"/>
          </a:ln>
        </p:spPr>
      </p:sp>
      <p:sp>
        <p:nvSpPr>
          <p:cNvPr id="17" name="Text 12"/>
          <p:cNvSpPr txBox="1"/>
          <p:nvPr/>
        </p:nvSpPr>
        <p:spPr>
          <a:xfrm>
            <a:off x="8549640" y="1737360"/>
            <a:ext cx="2834640" cy="2377440"/>
          </a:xfrm>
          <a:prstGeom prst="rect">
            <a:avLst/>
          </a:prstGeom>
          <a:noFill/>
          <a:ln/>
        </p:spPr>
        <p:txBody>
          <a:bodyPr wrap="square" lIns="0" tIns="0" rIns="0" bIns="0" rtlCol="0" anchor="ctr"/>
          <a:lstStyle/>
          <a:p>
            <a:pPr indent="0" marL="0">
              <a:buNone/>
            </a:pPr>
            <a:r>
              <a:rPr lang="en-US" sz="2800" b="1" dirty="0">
                <a:solidFill>
                  <a:schemeClr val="tx1"/>
                </a:solidFill>
                <a:latin typeface="Calibri" pitchFamily="34" charset="0"/>
                <a:ea typeface="Calibri" pitchFamily="34" charset="-122"/>
                <a:cs typeface="Calibri" pitchFamily="34" charset="-120"/>
              </a:rPr>
              <a:t>GAT Price</a:t>
            </a:r>
            <a:endParaRPr lang="en-US" sz="2800" dirty="0"/>
          </a:p>
          <a:p>
            <a:pPr indent="0" marL="0">
              <a:buNone/>
            </a:pPr>
            <a:r>
              <a:rPr lang="en-US" sz="1700" dirty="0">
                <a:solidFill>
                  <a:schemeClr val="tx1"/>
                </a:solidFill>
                <a:latin typeface="Calibri" pitchFamily="34" charset="0"/>
                <a:ea typeface="Calibri" pitchFamily="34" charset="-122"/>
                <a:cs typeface="Calibri" pitchFamily="34" charset="-120"/>
              </a:rPr>
              <a:t>PhP/kWh price ceiling for each Facility Type</a:t>
            </a:r>
            <a:endParaRPr lang="en-US" sz="2800" dirty="0"/>
          </a:p>
        </p:txBody>
      </p:sp>
      <p:sp>
        <p:nvSpPr>
          <p:cNvPr id="18" name="Card"/>
          <p:cNvSpPr/>
          <p:nvPr/>
        </p:nvSpPr>
        <p:spPr>
          <a:xfrm>
            <a:off x="548640" y="4572000"/>
            <a:ext cx="11064240" cy="1188720"/>
          </a:xfrm>
          <a:prstGeom prst="roundRect">
            <a:avLst>
              <a:gd name="adj" fmla="val 9231"/>
            </a:avLst>
          </a:prstGeom>
          <a:solidFill>
            <a:schemeClr val="bg2"/>
          </a:solidFill>
          <a:ln w="12700">
            <a:solidFill>
              <a:schemeClr val="bg2"/>
            </a:solidFill>
            <a:prstDash val="solid"/>
          </a:ln>
        </p:spPr>
      </p:sp>
      <p:sp>
        <p:nvSpPr>
          <p:cNvPr id="19" name="Icon circle"/>
          <p:cNvSpPr/>
          <p:nvPr/>
        </p:nvSpPr>
        <p:spPr>
          <a:xfrm>
            <a:off x="777240" y="4800600"/>
            <a:ext cx="731520" cy="731520"/>
          </a:xfrm>
          <a:prstGeom prst="ellipse">
            <a:avLst/>
          </a:prstGeom>
          <a:solidFill>
            <a:schemeClr val="accent4"/>
          </a:solidFill>
          <a:ln w="12700">
            <a:solidFill>
              <a:schemeClr val="accent4"/>
            </a:solidFill>
            <a:prstDash val="solid"/>
          </a:ln>
        </p:spPr>
      </p:sp>
      <p:pic>
        <p:nvPicPr>
          <p:cNvPr id="20" name="Icon" descr="preencoded.png">    </p:cNvPr>
          <p:cNvPicPr>
            <a:picLocks noChangeAspect="1"/>
          </p:cNvPicPr>
          <p:nvPr/>
        </p:nvPicPr>
        <p:blipFill>
          <a:blip r:embed="rId3"/>
          <a:stretch>
            <a:fillRect/>
          </a:stretch>
        </p:blipFill>
        <p:spPr>
          <a:xfrm>
            <a:off x="967435" y="4990795"/>
            <a:ext cx="351130" cy="351130"/>
          </a:xfrm>
          <a:prstGeom prst="rect">
            <a:avLst/>
          </a:prstGeom>
        </p:spPr>
      </p:pic>
      <p:sp>
        <p:nvSpPr>
          <p:cNvPr id="21" name="Text 15"/>
          <p:cNvSpPr txBox="1"/>
          <p:nvPr/>
        </p:nvSpPr>
        <p:spPr>
          <a:xfrm>
            <a:off x="1737360" y="4663440"/>
            <a:ext cx="9692640" cy="1005840"/>
          </a:xfrm>
          <a:prstGeom prst="rect">
            <a:avLst/>
          </a:prstGeom>
          <a:noFill/>
          <a:ln/>
        </p:spPr>
        <p:txBody>
          <a:bodyPr wrap="square" lIns="0" tIns="0" rIns="0" bIns="0" rtlCol="0" anchor="ctr"/>
          <a:lstStyle/>
          <a:p>
            <a:pPr indent="0" marL="0">
              <a:buNone/>
            </a:pPr>
            <a:r>
              <a:rPr lang="en-US" sz="1700" b="1" dirty="0">
                <a:solidFill>
                  <a:schemeClr val="tx1"/>
                </a:solidFill>
              </a:rPr>
              <a:t>Outside the GAT Price: </a:t>
            </a:r>
            <a:pPr indent="0" marL="0">
              <a:buNone/>
            </a:pPr>
            <a:r>
              <a:rPr lang="en-US" sz="1700" dirty="0">
                <a:solidFill>
                  <a:schemeClr val="tx1"/>
                </a:solidFill>
              </a:rPr>
              <a:t>Fuel Cost = Fuel Commodity Cost + Capped Landed Logistics Cost (CLLC), recovered through the Fuel Cost Pass-Through against the Gas Price Benchmark and caps.</a:t>
            </a:r>
            <a:endParaRPr lang="en-US" sz="1700" dirty="0"/>
          </a:p>
        </p:txBody>
      </p:sp>
      <p:sp>
        <p:nvSpPr>
          <p:cNvPr id="22" name="Text 16"/>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Solved by iteration: equity NPV = 0 at the required equity return. Draft GAIR Secs. 8–9; DOE DC2026-06-0013 Sec. 7.2.</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Eleven reference cases, two dispatch views</a:t>
            </a:r>
            <a:endParaRPr lang="en-US" sz="3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011680"/>
                <a:gridCol w="1280160"/>
                <a:gridCol w="1371600"/>
                <a:gridCol w="2926080"/>
                <a:gridCol w="1554480"/>
                <a:gridCol w="1920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DOE lot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Grid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Technologies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Delivery starts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Supply period (TOR)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1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1,400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(3 × 466.7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yrs + 5 yrs extension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Lot 2 – existing</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(1 × 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2027</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Luzon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440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New-build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500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CCGT, OCGT,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2031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yrs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None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B7280"/>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Mindanao</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No Mindanao lot in the DOE TOR; not modelled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CEDEF"/>
                    </a:solidFill>
                  </a:tcPr>
                </a:tc>
              </a:tr>
            </a:tbl>
          </a:graphicData>
        </a:graphic>
      </p:graphicFrame>
      <p:sp>
        <p:nvSpPr>
          <p:cNvPr id="5" name="Card"/>
          <p:cNvSpPr/>
          <p:nvPr/>
        </p:nvSpPr>
        <p:spPr>
          <a:xfrm>
            <a:off x="548640" y="4709160"/>
            <a:ext cx="5394960" cy="1051560"/>
          </a:xfrm>
          <a:prstGeom prst="roundRect">
            <a:avLst>
              <a:gd name="adj" fmla="val 10435"/>
            </a:avLst>
          </a:prstGeom>
          <a:solidFill>
            <a:srgbClr val="D3EEEC"/>
          </a:solidFill>
          <a:ln w="12700">
            <a:solidFill>
              <a:srgbClr val="D3EEEC"/>
            </a:solidFill>
            <a:prstDash val="solid"/>
          </a:ln>
        </p:spPr>
      </p:sp>
      <p:sp>
        <p:nvSpPr>
          <p:cNvPr id="6" name="Text 2"/>
          <p:cNvSpPr txBox="1"/>
          <p:nvPr/>
        </p:nvSpPr>
        <p:spPr>
          <a:xfrm>
            <a:off x="777240" y="4754880"/>
            <a:ext cx="5029200" cy="960120"/>
          </a:xfrm>
          <a:prstGeom prst="rect">
            <a:avLst/>
          </a:prstGeom>
          <a:noFill/>
          <a:ln/>
        </p:spPr>
        <p:txBody>
          <a:bodyPr wrap="square" lIns="0" tIns="0" rIns="0" bIns="0" rtlCol="0" anchor="ctr"/>
          <a:lstStyle/>
          <a:p>
            <a:pPr indent="0" marL="0">
              <a:buNone/>
            </a:pPr>
            <a:r>
              <a:rPr lang="en-US" sz="1700" b="1" dirty="0">
                <a:solidFill>
                  <a:srgbClr val="1F8A8A"/>
                </a:solidFill>
              </a:rPr>
              <a:t>Case A – TOR view: </a:t>
            </a:r>
            <a:pPr indent="0" marL="0">
              <a:buNone/>
            </a:pPr>
            <a:r>
              <a:rPr lang="en-US" sz="1700" dirty="0">
                <a:solidFill>
                  <a:schemeClr val="tx1"/>
                </a:solidFill>
              </a:rPr>
              <a:t>capacity factor 42%, the top of every TOR band.</a:t>
            </a:r>
            <a:endParaRPr lang="en-US" sz="1700" dirty="0"/>
          </a:p>
        </p:txBody>
      </p:sp>
      <p:sp>
        <p:nvSpPr>
          <p:cNvPr id="7" name="Card"/>
          <p:cNvSpPr/>
          <p:nvPr/>
        </p:nvSpPr>
        <p:spPr>
          <a:xfrm>
            <a:off x="6217920" y="4709160"/>
            <a:ext cx="5394960" cy="1051560"/>
          </a:xfrm>
          <a:prstGeom prst="roundRect">
            <a:avLst>
              <a:gd name="adj" fmla="val 10435"/>
            </a:avLst>
          </a:prstGeom>
          <a:solidFill>
            <a:srgbClr val="E9E1F4"/>
          </a:solidFill>
          <a:ln w="12700">
            <a:solidFill>
              <a:srgbClr val="E9E1F4"/>
            </a:solidFill>
            <a:prstDash val="solid"/>
          </a:ln>
        </p:spPr>
      </p:sp>
      <p:sp>
        <p:nvSpPr>
          <p:cNvPr id="8" name="Text 4"/>
          <p:cNvSpPr txBox="1"/>
          <p:nvPr/>
        </p:nvSpPr>
        <p:spPr>
          <a:xfrm>
            <a:off x="6446520" y="4754880"/>
            <a:ext cx="5029200" cy="960120"/>
          </a:xfrm>
          <a:prstGeom prst="rect">
            <a:avLst/>
          </a:prstGeom>
          <a:noFill/>
          <a:ln/>
        </p:spPr>
        <p:txBody>
          <a:bodyPr wrap="square" lIns="0" tIns="0" rIns="0" bIns="0" rtlCol="0" anchor="ctr"/>
          <a:lstStyle/>
          <a:p>
            <a:pPr indent="0" marL="0">
              <a:buNone/>
            </a:pPr>
            <a:r>
              <a:rPr lang="en-US" sz="1700" b="1" dirty="0">
                <a:solidFill>
                  <a:srgbClr val="6C3FA0"/>
                </a:solidFill>
              </a:rPr>
              <a:t>Case B – historical view: </a:t>
            </a:r>
            <a:pPr indent="0" marL="0">
              <a:buNone/>
            </a:pPr>
            <a:r>
              <a:rPr lang="en-US" sz="1700" dirty="0">
                <a:solidFill>
                  <a:schemeClr val="tx1"/>
                </a:solidFill>
              </a:rPr>
              <a:t>actual dispatch of the gas fleet, Jan 2024–Sep 2026.</a:t>
            </a:r>
            <a:endParaRPr lang="en-US" sz="1700" dirty="0"/>
          </a:p>
        </p:txBody>
      </p:sp>
      <p:sp>
        <p:nvSpPr>
          <p:cNvPr id="9" name="Text 5"/>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Source: DOE Terms of Reference (Annex B), Secs. 1.1, 1.2, 4.2 and 18.3.</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Plant size and dispatch</a:t>
            </a:r>
            <a:endParaRPr lang="en-US" sz="3400" dirty="0"/>
          </a:p>
        </p:txBody>
      </p:sp>
      <p:sp>
        <p:nvSpPr>
          <p:cNvPr id="4" name="Card"/>
          <p:cNvSpPr/>
          <p:nvPr/>
        </p:nvSpPr>
        <p:spPr>
          <a:xfrm>
            <a:off x="548640" y="1417320"/>
            <a:ext cx="3520440" cy="2377440"/>
          </a:xfrm>
          <a:prstGeom prst="roundRect">
            <a:avLst>
              <a:gd name="adj" fmla="val 4615"/>
            </a:avLst>
          </a:prstGeom>
          <a:solidFill>
            <a:srgbClr val="D3EEEC"/>
          </a:solidFill>
          <a:ln w="12700">
            <a:solidFill>
              <a:srgbClr val="D3EEEC"/>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rgbClr val="1F8A8A"/>
                </a:solidFill>
                <a:latin typeface="Cambria" pitchFamily="34" charset="0"/>
                <a:ea typeface="Cambria" pitchFamily="34" charset="-122"/>
                <a:cs typeface="Cambria" pitchFamily="34" charset="-120"/>
              </a:rPr>
              <a:t>42%</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A</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Top of the TOR band (37%–42%; Lot 1 38%–42%)</a:t>
            </a:r>
            <a:endParaRPr lang="en-US" sz="1400" dirty="0"/>
          </a:p>
        </p:txBody>
      </p:sp>
      <p:sp>
        <p:nvSpPr>
          <p:cNvPr id="8" name="Card"/>
          <p:cNvSpPr/>
          <p:nvPr/>
        </p:nvSpPr>
        <p:spPr>
          <a:xfrm>
            <a:off x="4343400" y="1417320"/>
            <a:ext cx="3520440" cy="2377440"/>
          </a:xfrm>
          <a:prstGeom prst="roundRect">
            <a:avLst>
              <a:gd name="adj" fmla="val 4615"/>
            </a:avLst>
          </a:prstGeom>
          <a:solidFill>
            <a:srgbClr val="E9E1F4"/>
          </a:solidFill>
          <a:ln w="12700">
            <a:solidFill>
              <a:srgbClr val="E9E1F4"/>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3200" b="1" dirty="0">
                <a:solidFill>
                  <a:srgbClr val="6C3FA0"/>
                </a:solidFill>
                <a:latin typeface="Cambria" pitchFamily="34" charset="0"/>
                <a:ea typeface="Cambria" pitchFamily="34" charset="-122"/>
                <a:cs typeface="Cambria" pitchFamily="34" charset="-120"/>
              </a:rPr>
              <a:t>66.8% / 63.1%</a:t>
            </a:r>
            <a:endParaRPr lang="en-US" sz="32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Capacity factor, Case B</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Existing fleet / whole fleet, Jan 2024–Sep 2026</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0.2% / yr</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Output degradation</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Applied from COD (draft Annex A.20)</a:t>
            </a:r>
            <a:endParaRPr lang="en-US" sz="1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017520"/>
                <a:gridCol w="3840480"/>
                <a:gridCol w="42062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non-mid-merit energy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+24% capacity factor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TOR 4.2.2: paid Fuel Cost only, not the GAP</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Capacity factor basis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Net (own use 0%, efficiency 100%)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Capacity factor already net of own use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Unit sizes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Lot split into equal units: CCGT 440–500 MW; OCGT 200–250 MW; gas engines 22–50 MW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Per-kW result is the same whatever the unit size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17" name="Text 13"/>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Case B source: MERALCO “Breakdown of Generation Charge” tables (plants supplying MERALCO), Jan 2024–Sep 2026.</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Construction, operation and base year</a:t>
            </a:r>
            <a:endParaRPr lang="en-US" sz="3400" dirty="0"/>
          </a:p>
        </p:txBody>
      </p:sp>
      <p:sp>
        <p:nvSpPr>
          <p:cNvPr id="4" name="Card"/>
          <p:cNvSpPr/>
          <p:nvPr/>
        </p:nvSpPr>
        <p:spPr>
          <a:xfrm>
            <a:off x="548640" y="1463040"/>
            <a:ext cx="2560320" cy="2286000"/>
          </a:xfrm>
          <a:prstGeom prst="roundRect">
            <a:avLst>
              <a:gd name="adj" fmla="val 4800"/>
            </a:avLst>
          </a:prstGeom>
          <a:solidFill>
            <a:srgbClr val="DCE5EF"/>
          </a:solidFill>
          <a:ln w="12700">
            <a:solidFill>
              <a:srgbClr val="DCE5EF"/>
            </a:solidFill>
            <a:prstDash val="solid"/>
          </a:ln>
        </p:spPr>
      </p:sp>
      <p:sp>
        <p:nvSpPr>
          <p:cNvPr id="5" name="Text 2"/>
          <p:cNvSpPr txBox="1"/>
          <p:nvPr/>
        </p:nvSpPr>
        <p:spPr>
          <a:xfrm>
            <a:off x="731520" y="1600200"/>
            <a:ext cx="2194560" cy="914400"/>
          </a:xfrm>
          <a:prstGeom prst="rect">
            <a:avLst/>
          </a:prstGeom>
          <a:noFill/>
          <a:ln/>
        </p:spPr>
        <p:txBody>
          <a:bodyPr wrap="square" lIns="0" tIns="0" rIns="0" bIns="0" rtlCol="0" anchor="ctr"/>
          <a:lstStyle/>
          <a:p>
            <a:pPr indent="0" marL="0">
              <a:buNone/>
            </a:pPr>
            <a:r>
              <a:rPr lang="en-US" sz="4800" b="1" dirty="0">
                <a:solidFill>
                  <a:srgbClr val="14324F"/>
                </a:solidFill>
                <a:latin typeface="Cambria" pitchFamily="34" charset="0"/>
                <a:ea typeface="Cambria" pitchFamily="34" charset="-122"/>
                <a:cs typeface="Cambria" pitchFamily="34" charset="-120"/>
              </a:rPr>
              <a:t>0</a:t>
            </a:r>
            <a:endParaRPr lang="en-US" sz="4800" dirty="0"/>
          </a:p>
        </p:txBody>
      </p:sp>
      <p:sp>
        <p:nvSpPr>
          <p:cNvPr id="6" name="Text 3"/>
          <p:cNvSpPr txBox="1"/>
          <p:nvPr/>
        </p:nvSpPr>
        <p:spPr>
          <a:xfrm>
            <a:off x="73152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7" name="Text 4"/>
          <p:cNvSpPr txBox="1"/>
          <p:nvPr/>
        </p:nvSpPr>
        <p:spPr>
          <a:xfrm>
            <a:off x="73152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Existing CCGT (Lots 1, 2)</a:t>
            </a:r>
            <a:endParaRPr lang="en-US" sz="1900" dirty="0"/>
          </a:p>
        </p:txBody>
      </p:sp>
      <p:sp>
        <p:nvSpPr>
          <p:cNvPr id="8" name="Text 5"/>
          <p:cNvSpPr txBox="1"/>
          <p:nvPr/>
        </p:nvSpPr>
        <p:spPr>
          <a:xfrm>
            <a:off x="73152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2028</a:t>
            </a:r>
            <a:endParaRPr lang="en-US" sz="1500" dirty="0"/>
          </a:p>
        </p:txBody>
      </p:sp>
      <p:sp>
        <p:nvSpPr>
          <p:cNvPr id="9" name="Card"/>
          <p:cNvSpPr/>
          <p:nvPr/>
        </p:nvSpPr>
        <p:spPr>
          <a:xfrm>
            <a:off x="3337560" y="1463040"/>
            <a:ext cx="2560320" cy="2286000"/>
          </a:xfrm>
          <a:prstGeom prst="roundRect">
            <a:avLst>
              <a:gd name="adj" fmla="val 4800"/>
            </a:avLst>
          </a:prstGeom>
          <a:solidFill>
            <a:srgbClr val="DDEFDD"/>
          </a:solidFill>
          <a:ln w="12700">
            <a:solidFill>
              <a:srgbClr val="DDEFDD"/>
            </a:solidFill>
            <a:prstDash val="solid"/>
          </a:ln>
        </p:spPr>
      </p:sp>
      <p:sp>
        <p:nvSpPr>
          <p:cNvPr id="10" name="Text 7"/>
          <p:cNvSpPr txBox="1"/>
          <p:nvPr/>
        </p:nvSpPr>
        <p:spPr>
          <a:xfrm>
            <a:off x="352044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36</a:t>
            </a:r>
            <a:endParaRPr lang="en-US" sz="4800" dirty="0"/>
          </a:p>
        </p:txBody>
      </p:sp>
      <p:sp>
        <p:nvSpPr>
          <p:cNvPr id="11" name="Text 8"/>
          <p:cNvSpPr txBox="1"/>
          <p:nvPr/>
        </p:nvSpPr>
        <p:spPr>
          <a:xfrm>
            <a:off x="352044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2" name="Text 9"/>
          <p:cNvSpPr txBox="1"/>
          <p:nvPr/>
        </p:nvSpPr>
        <p:spPr>
          <a:xfrm>
            <a:off x="352044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CCGT</a:t>
            </a:r>
            <a:endParaRPr lang="en-US" sz="1900" dirty="0"/>
          </a:p>
        </p:txBody>
      </p:sp>
      <p:sp>
        <p:nvSpPr>
          <p:cNvPr id="13" name="Text 10"/>
          <p:cNvSpPr txBox="1"/>
          <p:nvPr/>
        </p:nvSpPr>
        <p:spPr>
          <a:xfrm>
            <a:off x="352044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2031</a:t>
            </a:r>
            <a:endParaRPr lang="en-US" sz="1500" dirty="0"/>
          </a:p>
        </p:txBody>
      </p:sp>
      <p:sp>
        <p:nvSpPr>
          <p:cNvPr id="14" name="Card"/>
          <p:cNvSpPr/>
          <p:nvPr/>
        </p:nvSpPr>
        <p:spPr>
          <a:xfrm>
            <a:off x="6126480" y="1463040"/>
            <a:ext cx="2560320" cy="2286000"/>
          </a:xfrm>
          <a:prstGeom prst="roundRect">
            <a:avLst>
              <a:gd name="adj" fmla="val 4800"/>
            </a:avLst>
          </a:prstGeom>
          <a:solidFill>
            <a:srgbClr val="DDEFDD"/>
          </a:solidFill>
          <a:ln w="12700">
            <a:solidFill>
              <a:srgbClr val="DDEFDD"/>
            </a:solidFill>
            <a:prstDash val="solid"/>
          </a:ln>
        </p:spPr>
      </p:sp>
      <p:sp>
        <p:nvSpPr>
          <p:cNvPr id="15" name="Text 12"/>
          <p:cNvSpPr txBox="1"/>
          <p:nvPr/>
        </p:nvSpPr>
        <p:spPr>
          <a:xfrm>
            <a:off x="630936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24</a:t>
            </a:r>
            <a:endParaRPr lang="en-US" sz="4800" dirty="0"/>
          </a:p>
        </p:txBody>
      </p:sp>
      <p:sp>
        <p:nvSpPr>
          <p:cNvPr id="16" name="Text 13"/>
          <p:cNvSpPr txBox="1"/>
          <p:nvPr/>
        </p:nvSpPr>
        <p:spPr>
          <a:xfrm>
            <a:off x="630936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17" name="Text 14"/>
          <p:cNvSpPr txBox="1"/>
          <p:nvPr/>
        </p:nvSpPr>
        <p:spPr>
          <a:xfrm>
            <a:off x="630936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OCGT</a:t>
            </a:r>
            <a:endParaRPr lang="en-US" sz="1900" dirty="0"/>
          </a:p>
        </p:txBody>
      </p:sp>
      <p:sp>
        <p:nvSpPr>
          <p:cNvPr id="18" name="Text 15"/>
          <p:cNvSpPr txBox="1"/>
          <p:nvPr/>
        </p:nvSpPr>
        <p:spPr>
          <a:xfrm>
            <a:off x="630936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sp>
        <p:nvSpPr>
          <p:cNvPr id="19" name="Card"/>
          <p:cNvSpPr/>
          <p:nvPr/>
        </p:nvSpPr>
        <p:spPr>
          <a:xfrm>
            <a:off x="8915400" y="1463040"/>
            <a:ext cx="2560320" cy="2286000"/>
          </a:xfrm>
          <a:prstGeom prst="roundRect">
            <a:avLst>
              <a:gd name="adj" fmla="val 4800"/>
            </a:avLst>
          </a:prstGeom>
          <a:solidFill>
            <a:srgbClr val="DDEFDD"/>
          </a:solidFill>
          <a:ln w="12700">
            <a:solidFill>
              <a:srgbClr val="DDEFDD"/>
            </a:solidFill>
            <a:prstDash val="solid"/>
          </a:ln>
        </p:spPr>
      </p:sp>
      <p:sp>
        <p:nvSpPr>
          <p:cNvPr id="20" name="Text 17"/>
          <p:cNvSpPr txBox="1"/>
          <p:nvPr/>
        </p:nvSpPr>
        <p:spPr>
          <a:xfrm>
            <a:off x="9098280" y="1600200"/>
            <a:ext cx="2194560" cy="914400"/>
          </a:xfrm>
          <a:prstGeom prst="rect">
            <a:avLst/>
          </a:prstGeom>
          <a:noFill/>
          <a:ln/>
        </p:spPr>
        <p:txBody>
          <a:bodyPr wrap="square" lIns="0" tIns="0" rIns="0" bIns="0" rtlCol="0" anchor="ctr"/>
          <a:lstStyle/>
          <a:p>
            <a:pPr indent="0" marL="0">
              <a:buNone/>
            </a:pPr>
            <a:r>
              <a:rPr lang="en-US" sz="4800" b="1" dirty="0">
                <a:solidFill>
                  <a:srgbClr val="2E7D32"/>
                </a:solidFill>
                <a:latin typeface="Cambria" pitchFamily="34" charset="0"/>
                <a:ea typeface="Cambria" pitchFamily="34" charset="-122"/>
                <a:cs typeface="Cambria" pitchFamily="34" charset="-120"/>
              </a:rPr>
              <a:t>18</a:t>
            </a:r>
            <a:endParaRPr lang="en-US" sz="4800" dirty="0"/>
          </a:p>
        </p:txBody>
      </p:sp>
      <p:sp>
        <p:nvSpPr>
          <p:cNvPr id="21" name="Text 18"/>
          <p:cNvSpPr txBox="1"/>
          <p:nvPr/>
        </p:nvSpPr>
        <p:spPr>
          <a:xfrm>
            <a:off x="9098280" y="2514600"/>
            <a:ext cx="2194560" cy="365760"/>
          </a:xfrm>
          <a:prstGeom prst="rect">
            <a:avLst/>
          </a:prstGeom>
          <a:noFill/>
          <a:ln/>
        </p:spPr>
        <p:txBody>
          <a:bodyPr wrap="square" lIns="0" tIns="0" rIns="0" bIns="0" rtlCol="0" anchor="ctr"/>
          <a:lstStyle/>
          <a:p>
            <a:pPr indent="0" marL="0">
              <a:buNone/>
            </a:pPr>
            <a:r>
              <a:rPr lang="en-US" sz="1500" dirty="0">
                <a:solidFill>
                  <a:schemeClr val="accent4"/>
                </a:solidFill>
              </a:rPr>
              <a:t>months to build</a:t>
            </a:r>
            <a:endParaRPr lang="en-US" sz="1500" dirty="0"/>
          </a:p>
        </p:txBody>
      </p:sp>
      <p:sp>
        <p:nvSpPr>
          <p:cNvPr id="22" name="Text 19"/>
          <p:cNvSpPr txBox="1"/>
          <p:nvPr/>
        </p:nvSpPr>
        <p:spPr>
          <a:xfrm>
            <a:off x="9098280" y="2880360"/>
            <a:ext cx="2194560" cy="411480"/>
          </a:xfrm>
          <a:prstGeom prst="rect">
            <a:avLst/>
          </a:prstGeom>
          <a:noFill/>
          <a:ln/>
        </p:spPr>
        <p:txBody>
          <a:bodyPr wrap="square" lIns="0" tIns="0" rIns="0" bIns="0" rtlCol="0" anchor="ctr"/>
          <a:lstStyle/>
          <a:p>
            <a:pPr indent="0" marL="0">
              <a:buNone/>
            </a:pPr>
            <a:r>
              <a:rPr lang="en-US" sz="1900" b="1" dirty="0">
                <a:solidFill>
                  <a:schemeClr val="tx2"/>
                </a:solidFill>
              </a:rPr>
              <a:t>New gas engine</a:t>
            </a:r>
            <a:endParaRPr lang="en-US" sz="1900" dirty="0"/>
          </a:p>
        </p:txBody>
      </p:sp>
      <p:sp>
        <p:nvSpPr>
          <p:cNvPr id="23" name="Text 20"/>
          <p:cNvSpPr txBox="1"/>
          <p:nvPr/>
        </p:nvSpPr>
        <p:spPr>
          <a:xfrm>
            <a:off x="9098280" y="3291840"/>
            <a:ext cx="2194560" cy="365760"/>
          </a:xfrm>
          <a:prstGeom prst="rect">
            <a:avLst/>
          </a:prstGeom>
          <a:noFill/>
          <a:ln/>
        </p:spPr>
        <p:txBody>
          <a:bodyPr wrap="square" lIns="0" tIns="0" rIns="0" bIns="0" rtlCol="0" anchor="ctr"/>
          <a:lstStyle/>
          <a:p>
            <a:pPr indent="0" marL="0">
              <a:buNone/>
            </a:pPr>
            <a:r>
              <a:rPr lang="en-US" sz="1500" dirty="0">
                <a:solidFill>
                  <a:schemeClr val="tx1"/>
                </a:solidFill>
              </a:rPr>
              <a:t>COD 2030</a:t>
            </a:r>
            <a:endParaRPr lang="en-US" sz="1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64240" cy="914400"/>
        </p:xfrm>
        <a:graphic>
          <a:graphicData uri="http://schemas.openxmlformats.org/drawingml/2006/table">
            <a:tbl>
              <a:tblPr/>
              <a:tblGrid>
                <a:gridCol w="3291840"/>
                <a:gridCol w="3291840"/>
                <a:gridCol w="44805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Operating (cost-recovery)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30 years from COD, all plants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plant economic life (draft Annex A.8)</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Base year for costs and FX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(real terms)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COD in the model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2028 + construction period</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Calendar year does not change a real-terms result; TOR delivery years apply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All-in project cost</a:t>
            </a:r>
            <a:endParaRPr lang="en-US" sz="3400" dirty="0"/>
          </a:p>
        </p:txBody>
      </p:sp>
      <p:sp>
        <p:nvSpPr>
          <p:cNvPr id="4" name="Card"/>
          <p:cNvSpPr/>
          <p:nvPr/>
        </p:nvSpPr>
        <p:spPr>
          <a:xfrm>
            <a:off x="548640" y="1417320"/>
            <a:ext cx="2651760" cy="2377440"/>
          </a:xfrm>
          <a:prstGeom prst="roundRect">
            <a:avLst>
              <a:gd name="adj" fmla="val 4615"/>
            </a:avLst>
          </a:prstGeom>
          <a:solidFill>
            <a:srgbClr val="DCE5EF"/>
          </a:solidFill>
          <a:ln w="12700">
            <a:solidFill>
              <a:srgbClr val="DCE5EF"/>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rgbClr val="14324F"/>
                </a:solidFill>
                <a:latin typeface="Cambria" pitchFamily="34" charset="0"/>
                <a:ea typeface="Cambria" pitchFamily="34" charset="-122"/>
                <a:cs typeface="Cambria" pitchFamily="34" charset="-120"/>
              </a:rPr>
              <a:t>US$600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Existing CCGT</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 Lots 1 and 2</a:t>
            </a:r>
            <a:endParaRPr lang="en-US" sz="1400" dirty="0"/>
          </a:p>
        </p:txBody>
      </p:sp>
      <p:sp>
        <p:nvSpPr>
          <p:cNvPr id="8" name="Card"/>
          <p:cNvSpPr/>
          <p:nvPr/>
        </p:nvSpPr>
        <p:spPr>
          <a:xfrm>
            <a:off x="3355848" y="1417320"/>
            <a:ext cx="2651760" cy="2377440"/>
          </a:xfrm>
          <a:prstGeom prst="roundRect">
            <a:avLst>
              <a:gd name="adj" fmla="val 4615"/>
            </a:avLst>
          </a:prstGeom>
          <a:solidFill>
            <a:srgbClr val="DDEFDD"/>
          </a:solidFill>
          <a:ln w="12700">
            <a:solidFill>
              <a:srgbClr val="DDEFDD"/>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US$1,500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CCGT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2" name="Card"/>
          <p:cNvSpPr/>
          <p:nvPr/>
        </p:nvSpPr>
        <p:spPr>
          <a:xfrm>
            <a:off x="6163056" y="1417320"/>
            <a:ext cx="2651760" cy="2377440"/>
          </a:xfrm>
          <a:prstGeom prst="roundRect">
            <a:avLst>
              <a:gd name="adj" fmla="val 4615"/>
            </a:avLst>
          </a:prstGeom>
          <a:solidFill>
            <a:srgbClr val="DDEFDD"/>
          </a:solidFill>
          <a:ln w="12700">
            <a:solidFill>
              <a:srgbClr val="DDEFDD"/>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US$1,375</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gas engine</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16" name="Card"/>
          <p:cNvSpPr/>
          <p:nvPr/>
        </p:nvSpPr>
        <p:spPr>
          <a:xfrm>
            <a:off x="8970264" y="1417320"/>
            <a:ext cx="2651760" cy="2377440"/>
          </a:xfrm>
          <a:prstGeom prst="roundRect">
            <a:avLst>
              <a:gd name="adj" fmla="val 4615"/>
            </a:avLst>
          </a:prstGeom>
          <a:solidFill>
            <a:srgbClr val="DDEFDD"/>
          </a:solidFill>
          <a:ln w="12700">
            <a:solidFill>
              <a:srgbClr val="DDEFDD"/>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rgbClr val="2E7D32"/>
                </a:solidFill>
                <a:latin typeface="Cambria" pitchFamily="34" charset="0"/>
                <a:ea typeface="Cambria" pitchFamily="34" charset="-122"/>
                <a:cs typeface="Cambria" pitchFamily="34" charset="-120"/>
              </a:rPr>
              <a:t>US$875</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New OCGT</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per kW</a:t>
            </a:r>
            <a:endParaRPr lang="en-US" sz="1400" dirty="0"/>
          </a:p>
        </p:txBody>
      </p:sp>
      <p:sp>
        <p:nvSpPr>
          <p:cNvPr id="20"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21"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22"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23" name="Text 19"/>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700" b="1" dirty="0">
                <a:solidFill>
                  <a:schemeClr val="tx1"/>
                </a:solidFill>
              </a:rPr>
              <a:t>Basis: </a:t>
            </a:r>
            <a:pPr indent="0" marL="0">
              <a:buNone/>
            </a:pPr>
            <a:r>
              <a:rPr lang="en-US" sz="1700" dirty="0">
                <a:solidFill>
                  <a:schemeClr val="tx1"/>
                </a:solidFill>
              </a:rPr>
              <a:t>current market levels plus 25% for turbine and EPC cost inflation (October 2026). Existing plants (navy, Lots 1 and 2) at an operational/retooled-plant value; new-build (green) the same for Luzon and Visayas. Costs are all-in and per kW of gross installed capacity (draft Annex A.3). The model calibrates equipment cost so the all-in total equals these targets.</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What makes up the all-in cost</a:t>
            </a:r>
            <a:endParaRPr lang="en-US" sz="3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749040"/>
                <a:gridCol w="4206240"/>
                <a:gridCol w="310896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Item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Balance of plant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21%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Insurance, ocean freight, local transport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 of equipment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Development and other costs (land, permits)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15%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Contingency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 of total cost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Initial working capital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11.03% of EPC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Dedicated connection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 km line at US$40k/km; switchyard US$786k; 1 km road at US$182k/km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Associated Transmission Projects excluded (Sec. 9.3)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Major refurbishment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5% of EPC in year 15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Salvage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received in the final year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Draft GAIR Sec. 8.3 (Annex A.23)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Operating and overhead costs</a:t>
            </a:r>
            <a:endParaRPr lang="en-US" sz="3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291840"/>
                <a:gridCol w="2743200"/>
                <a:gridCol w="3200400"/>
                <a:gridCol w="1828800"/>
              </a:tblGrid>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Technology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Fixed O&amp;M (US$/kW-yr)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Variable non-fuel O&amp;M (US$/MWh)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G&amp;A</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Existing CCGT (Lots 1, 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CCGT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13.71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OCGT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8.50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4.50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r h="50292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New gas engine (Luzon, Visayas)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16.50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3.80</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of O&amp;M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r>
            </a:tbl>
          </a:graphicData>
        </a:graphic>
      </p:graphicFrame>
      <p:sp>
        <p:nvSpPr>
          <p:cNvPr id="5" name="Card"/>
          <p:cNvSpPr/>
          <p:nvPr/>
        </p:nvSpPr>
        <p:spPr>
          <a:xfrm>
            <a:off x="548640" y="4160520"/>
            <a:ext cx="5394960" cy="1600200"/>
          </a:xfrm>
          <a:prstGeom prst="roundRect">
            <a:avLst>
              <a:gd name="adj" fmla="val 6857"/>
            </a:avLst>
          </a:prstGeom>
          <a:solidFill>
            <a:schemeClr val="bg2"/>
          </a:solidFill>
          <a:ln w="12700">
            <a:solidFill>
              <a:schemeClr val="bg2"/>
            </a:solidFill>
            <a:prstDash val="solid"/>
          </a:ln>
        </p:spPr>
      </p:sp>
      <p:sp>
        <p:nvSpPr>
          <p:cNvPr id="6" name="Icon circle"/>
          <p:cNvSpPr/>
          <p:nvPr/>
        </p:nvSpPr>
        <p:spPr>
          <a:xfrm>
            <a:off x="777240" y="4434840"/>
            <a:ext cx="731520" cy="731520"/>
          </a:xfrm>
          <a:prstGeom prst="ellipse">
            <a:avLst/>
          </a:prstGeom>
          <a:solidFill>
            <a:schemeClr val="accent2"/>
          </a:solidFill>
          <a:ln w="12700">
            <a:solidFill>
              <a:schemeClr val="accent2"/>
            </a:solidFill>
            <a:prstDash val="solid"/>
          </a:ln>
        </p:spPr>
      </p:sp>
      <p:pic>
        <p:nvPicPr>
          <p:cNvPr id="7" name="Icon" descr="preencoded.png">    </p:cNvPr>
          <p:cNvPicPr>
            <a:picLocks noChangeAspect="1"/>
          </p:cNvPicPr>
          <p:nvPr/>
        </p:nvPicPr>
        <p:blipFill>
          <a:blip r:embed="rId1"/>
          <a:stretch>
            <a:fillRect/>
          </a:stretch>
        </p:blipFill>
        <p:spPr>
          <a:xfrm>
            <a:off x="967435" y="4625035"/>
            <a:ext cx="351130" cy="351130"/>
          </a:xfrm>
          <a:prstGeom prst="rect">
            <a:avLst/>
          </a:prstGeom>
        </p:spPr>
      </p:pic>
      <p:sp>
        <p:nvSpPr>
          <p:cNvPr id="8" name="Text 3"/>
          <p:cNvSpPr txBox="1"/>
          <p:nvPr/>
        </p:nvSpPr>
        <p:spPr>
          <a:xfrm>
            <a:off x="169164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Basis: ERC model O&amp;M inputs; G&amp;A at 6% of fixed plus variable O&amp;M (corporate overhead standard, draft Annex A.6).</a:t>
            </a:r>
            <a:endParaRPr lang="en-US" sz="1600" dirty="0"/>
          </a:p>
        </p:txBody>
      </p:sp>
      <p:sp>
        <p:nvSpPr>
          <p:cNvPr id="9" name="Card"/>
          <p:cNvSpPr/>
          <p:nvPr/>
        </p:nvSpPr>
        <p:spPr>
          <a:xfrm>
            <a:off x="6217920" y="4160520"/>
            <a:ext cx="5394960" cy="1600200"/>
          </a:xfrm>
          <a:prstGeom prst="roundRect">
            <a:avLst>
              <a:gd name="adj" fmla="val 6857"/>
            </a:avLst>
          </a:prstGeom>
          <a:solidFill>
            <a:schemeClr val="accent6"/>
          </a:solidFill>
          <a:ln w="12700">
            <a:solidFill>
              <a:schemeClr val="accent6"/>
            </a:solidFill>
            <a:prstDash val="solid"/>
          </a:ln>
        </p:spPr>
      </p:sp>
      <p:sp>
        <p:nvSpPr>
          <p:cNvPr id="10" name="Icon circle"/>
          <p:cNvSpPr/>
          <p:nvPr/>
        </p:nvSpPr>
        <p:spPr>
          <a:xfrm>
            <a:off x="6446520" y="4434840"/>
            <a:ext cx="731520" cy="731520"/>
          </a:xfrm>
          <a:prstGeom prst="ellipse">
            <a:avLst/>
          </a:prstGeom>
          <a:solidFill>
            <a:schemeClr val="accent3"/>
          </a:solidFill>
          <a:ln w="12700">
            <a:solidFill>
              <a:schemeClr val="accent3"/>
            </a:solidFill>
            <a:prstDash val="solid"/>
          </a:ln>
        </p:spPr>
      </p:sp>
      <p:pic>
        <p:nvPicPr>
          <p:cNvPr id="11" name="Icon" descr="preencoded.png">    </p:cNvPr>
          <p:cNvPicPr>
            <a:picLocks noChangeAspect="1"/>
          </p:cNvPicPr>
          <p:nvPr/>
        </p:nvPicPr>
        <p:blipFill>
          <a:blip r:embed="rId2"/>
          <a:stretch>
            <a:fillRect/>
          </a:stretch>
        </p:blipFill>
        <p:spPr>
          <a:xfrm>
            <a:off x="6636715" y="4625035"/>
            <a:ext cx="351130" cy="351130"/>
          </a:xfrm>
          <a:prstGeom prst="rect">
            <a:avLst/>
          </a:prstGeom>
        </p:spPr>
      </p:pic>
      <p:sp>
        <p:nvSpPr>
          <p:cNvPr id="12" name="Text 6"/>
          <p:cNvSpPr txBox="1"/>
          <p:nvPr/>
        </p:nvSpPr>
        <p:spPr>
          <a:xfrm>
            <a:off x="7360920" y="4206240"/>
            <a:ext cx="4114800" cy="1508760"/>
          </a:xfrm>
          <a:prstGeom prst="rect">
            <a:avLst/>
          </a:prstGeom>
          <a:noFill/>
          <a:ln/>
        </p:spPr>
        <p:txBody>
          <a:bodyPr wrap="square" lIns="0" tIns="0" rIns="0" bIns="0" rtlCol="0" anchor="ctr"/>
          <a:lstStyle/>
          <a:p>
            <a:pPr indent="0" marL="0">
              <a:buNone/>
            </a:pPr>
            <a:r>
              <a:rPr lang="en-US" sz="1600" dirty="0">
                <a:solidFill>
                  <a:schemeClr val="tx1"/>
                </a:solidFill>
              </a:rPr>
              <a:t>Excluded: fuel, and logistics (regasification, pipeline, storage). These are recovered through the Fuel Cost, within caps.</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Financing assumptions</a:t>
            </a:r>
            <a:endParaRPr lang="en-US" sz="3400" dirty="0"/>
          </a:p>
        </p:txBody>
      </p:sp>
      <p:sp>
        <p:nvSpPr>
          <p:cNvPr id="4" name="Card"/>
          <p:cNvSpPr/>
          <p:nvPr/>
        </p:nvSpPr>
        <p:spPr>
          <a:xfrm>
            <a:off x="548640" y="1417320"/>
            <a:ext cx="265176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70 : 30</a:t>
            </a:r>
            <a:endParaRPr lang="en-US" sz="4000" dirty="0"/>
          </a:p>
        </p:txBody>
      </p:sp>
      <p:sp>
        <p:nvSpPr>
          <p:cNvPr id="6" name="Text 3"/>
          <p:cNvSpPr txBox="1"/>
          <p:nvPr/>
        </p:nvSpPr>
        <p:spPr>
          <a:xfrm>
            <a:off x="731520"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 equity</a:t>
            </a:r>
            <a:endParaRPr lang="en-US" sz="1800" dirty="0"/>
          </a:p>
        </p:txBody>
      </p:sp>
      <p:sp>
        <p:nvSpPr>
          <p:cNvPr id="7" name="Text 4"/>
          <p:cNvSpPr txBox="1"/>
          <p:nvPr/>
        </p:nvSpPr>
        <p:spPr>
          <a:xfrm>
            <a:off x="731520"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Project-finance standard (A.9)</a:t>
            </a:r>
            <a:endParaRPr lang="en-US" sz="1400" dirty="0"/>
          </a:p>
        </p:txBody>
      </p:sp>
      <p:sp>
        <p:nvSpPr>
          <p:cNvPr id="8" name="Card"/>
          <p:cNvSpPr/>
          <p:nvPr/>
        </p:nvSpPr>
        <p:spPr>
          <a:xfrm>
            <a:off x="3355848" y="1417320"/>
            <a:ext cx="265176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3538728"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8.0%</a:t>
            </a:r>
            <a:endParaRPr lang="en-US" sz="4000" dirty="0"/>
          </a:p>
        </p:txBody>
      </p:sp>
      <p:sp>
        <p:nvSpPr>
          <p:cNvPr id="10" name="Text 7"/>
          <p:cNvSpPr txBox="1"/>
          <p:nvPr/>
        </p:nvSpPr>
        <p:spPr>
          <a:xfrm>
            <a:off x="3538728"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Cost of debt</a:t>
            </a:r>
            <a:endParaRPr lang="en-US" sz="1800" dirty="0"/>
          </a:p>
        </p:txBody>
      </p:sp>
      <p:sp>
        <p:nvSpPr>
          <p:cNvPr id="11" name="Text 8"/>
          <p:cNvSpPr txBox="1"/>
          <p:nvPr/>
        </p:nvSpPr>
        <p:spPr>
          <a:xfrm>
            <a:off x="3538728"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pre-tax (A.10)</a:t>
            </a:r>
            <a:endParaRPr lang="en-US" sz="1400" dirty="0"/>
          </a:p>
        </p:txBody>
      </p:sp>
      <p:sp>
        <p:nvSpPr>
          <p:cNvPr id="12" name="Card"/>
          <p:cNvSpPr/>
          <p:nvPr/>
        </p:nvSpPr>
        <p:spPr>
          <a:xfrm>
            <a:off x="6163056" y="1417320"/>
            <a:ext cx="265176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6345936" y="1645920"/>
            <a:ext cx="228600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15 yrs</a:t>
            </a:r>
            <a:endParaRPr lang="en-US" sz="4000" dirty="0"/>
          </a:p>
        </p:txBody>
      </p:sp>
      <p:sp>
        <p:nvSpPr>
          <p:cNvPr id="14" name="Text 11"/>
          <p:cNvSpPr txBox="1"/>
          <p:nvPr/>
        </p:nvSpPr>
        <p:spPr>
          <a:xfrm>
            <a:off x="6345936"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Debt tenor</a:t>
            </a:r>
            <a:endParaRPr lang="en-US" sz="1800" dirty="0"/>
          </a:p>
        </p:txBody>
      </p:sp>
      <p:sp>
        <p:nvSpPr>
          <p:cNvPr id="15" name="Text 12"/>
          <p:cNvSpPr txBox="1"/>
          <p:nvPr/>
        </p:nvSpPr>
        <p:spPr>
          <a:xfrm>
            <a:off x="6345936"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Local and foreign (A.11)</a:t>
            </a:r>
            <a:endParaRPr lang="en-US" sz="1400" dirty="0"/>
          </a:p>
        </p:txBody>
      </p:sp>
      <p:sp>
        <p:nvSpPr>
          <p:cNvPr id="16" name="Card"/>
          <p:cNvSpPr/>
          <p:nvPr/>
        </p:nvSpPr>
        <p:spPr>
          <a:xfrm>
            <a:off x="8970264" y="1417320"/>
            <a:ext cx="2651760" cy="2377440"/>
          </a:xfrm>
          <a:prstGeom prst="roundRect">
            <a:avLst>
              <a:gd name="adj" fmla="val 4615"/>
            </a:avLst>
          </a:prstGeom>
          <a:solidFill>
            <a:schemeClr val="bg2"/>
          </a:solidFill>
          <a:ln w="12700">
            <a:solidFill>
              <a:schemeClr val="bg2"/>
            </a:solidFill>
            <a:prstDash val="solid"/>
          </a:ln>
        </p:spPr>
      </p:sp>
      <p:sp>
        <p:nvSpPr>
          <p:cNvPr id="17" name="Text 14"/>
          <p:cNvSpPr txBox="1"/>
          <p:nvPr/>
        </p:nvSpPr>
        <p:spPr>
          <a:xfrm>
            <a:off x="9153144" y="1645920"/>
            <a:ext cx="2286000" cy="914400"/>
          </a:xfrm>
          <a:prstGeom prst="rect">
            <a:avLst/>
          </a:prstGeom>
          <a:noFill/>
          <a:ln/>
        </p:spPr>
        <p:txBody>
          <a:bodyPr wrap="square" lIns="0" tIns="0" rIns="0" bIns="0" rtlCol="0" anchor="ctr"/>
          <a:lstStyle/>
          <a:p>
            <a:pPr indent="0" marL="0">
              <a:buNone/>
            </a:pPr>
            <a:r>
              <a:rPr lang="en-US" sz="4000" b="1" dirty="0">
                <a:solidFill>
                  <a:schemeClr val="accent3"/>
                </a:solidFill>
                <a:latin typeface="Cambria" pitchFamily="34" charset="0"/>
                <a:ea typeface="Cambria" pitchFamily="34" charset="-122"/>
                <a:cs typeface="Cambria" pitchFamily="34" charset="-120"/>
              </a:rPr>
              <a:t>14.0%</a:t>
            </a:r>
            <a:endParaRPr lang="en-US" sz="4000" dirty="0"/>
          </a:p>
        </p:txBody>
      </p:sp>
      <p:sp>
        <p:nvSpPr>
          <p:cNvPr id="18" name="Text 15"/>
          <p:cNvSpPr txBox="1"/>
          <p:nvPr/>
        </p:nvSpPr>
        <p:spPr>
          <a:xfrm>
            <a:off x="9153144" y="2606040"/>
            <a:ext cx="2286000" cy="457200"/>
          </a:xfrm>
          <a:prstGeom prst="rect">
            <a:avLst/>
          </a:prstGeom>
          <a:noFill/>
          <a:ln/>
        </p:spPr>
        <p:txBody>
          <a:bodyPr wrap="square" lIns="0" tIns="0" rIns="0" bIns="0" rtlCol="0" anchor="ctr"/>
          <a:lstStyle/>
          <a:p>
            <a:pPr indent="0" marL="0">
              <a:buNone/>
            </a:pPr>
            <a:r>
              <a:rPr lang="en-US" sz="1800" b="1" dirty="0">
                <a:solidFill>
                  <a:schemeClr val="tx1"/>
                </a:solidFill>
              </a:rPr>
              <a:t>Required equity return</a:t>
            </a:r>
            <a:endParaRPr lang="en-US" sz="1800" dirty="0"/>
          </a:p>
        </p:txBody>
      </p:sp>
      <p:sp>
        <p:nvSpPr>
          <p:cNvPr id="19" name="Text 16"/>
          <p:cNvSpPr txBox="1"/>
          <p:nvPr/>
        </p:nvSpPr>
        <p:spPr>
          <a:xfrm>
            <a:off x="9153144" y="3063240"/>
            <a:ext cx="2286000" cy="594360"/>
          </a:xfrm>
          <a:prstGeom prst="rect">
            <a:avLst/>
          </a:prstGeom>
          <a:noFill/>
          <a:ln/>
        </p:spPr>
        <p:txBody>
          <a:bodyPr wrap="square" lIns="0" tIns="0" rIns="0" bIns="0" rtlCol="0" anchor="t"/>
          <a:lstStyle/>
          <a:p>
            <a:pPr indent="0" marL="0">
              <a:buNone/>
            </a:pPr>
            <a:r>
              <a:rPr lang="en-US" sz="1400" dirty="0">
                <a:solidFill>
                  <a:schemeClr val="accent4"/>
                </a:solidFill>
              </a:rPr>
              <a:t>Nominal; CAPM range 12%–14% (A.12)</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4023360"/>
          <a:ext cx="11064240" cy="914400"/>
        </p:xfrm>
        <a:graphic>
          <a:graphicData uri="http://schemas.openxmlformats.org/drawingml/2006/table">
            <a:tbl>
              <a:tblPr/>
              <a:tblGrid>
                <a:gridCol w="3657600"/>
                <a:gridCol w="3657600"/>
                <a:gridCol w="3749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Grace period | debt service reserve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6 months from COD | 6 months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 (draft Annex A.25)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Upfront fees | commitment fees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2.0%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ERC model default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Resulting WACC (reference only)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9.8% (pre-tax 11.2%; after-tax 8.4%)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result, draft GAIR Sec. 8.8.8 check</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Taxes and incentives</a:t>
            </a:r>
            <a:endParaRPr lang="en-US" sz="3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3291840"/>
                <a:gridCol w="3840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Tax / charge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Corporate income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25%; no income tax holiday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CREATE Act; no BOI/PEZA incentive assumed (A.14)</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Real property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2% on 80% assessment level</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 A.26)</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Local business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Local Government Code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ER 1-94 host-community benefit</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PhP 0.03/kWh</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DOE DC2025-10-0023 (draft Sec. 8.8.3)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VAT on imported equipment | customs duty</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12%, not recovered | 3%</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NIRC Sec. 107; no BOI incentive, so VAT is a cost (A.22)</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Withholding tax | GRT | documentary stamp tax</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10% | 1% | 0.5%</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On interest and loan documents; NIRC</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Exchange rate and inflation</a:t>
            </a:r>
            <a:endParaRPr lang="en-US" sz="3400" dirty="0"/>
          </a:p>
        </p:txBody>
      </p:sp>
      <p:sp>
        <p:nvSpPr>
          <p:cNvPr id="4" name="Card"/>
          <p:cNvSpPr/>
          <p:nvPr/>
        </p:nvSpPr>
        <p:spPr>
          <a:xfrm>
            <a:off x="548640" y="1417320"/>
            <a:ext cx="3520440" cy="2377440"/>
          </a:xfrm>
          <a:prstGeom prst="roundRect">
            <a:avLst>
              <a:gd name="adj" fmla="val 4615"/>
            </a:avLst>
          </a:prstGeom>
          <a:solidFill>
            <a:schemeClr val="bg2"/>
          </a:solidFill>
          <a:ln w="12700">
            <a:solidFill>
              <a:schemeClr val="bg2"/>
            </a:solidFill>
            <a:prstDash val="solid"/>
          </a:ln>
        </p:spPr>
      </p:sp>
      <p:sp>
        <p:nvSpPr>
          <p:cNvPr id="5" name="Text 2"/>
          <p:cNvSpPr txBox="1"/>
          <p:nvPr/>
        </p:nvSpPr>
        <p:spPr>
          <a:xfrm>
            <a:off x="73152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PhP 62.756</a:t>
            </a:r>
            <a:endParaRPr lang="en-US" sz="4000" dirty="0"/>
          </a:p>
        </p:txBody>
      </p:sp>
      <p:sp>
        <p:nvSpPr>
          <p:cNvPr id="6" name="Text 3"/>
          <p:cNvSpPr txBox="1"/>
          <p:nvPr/>
        </p:nvSpPr>
        <p:spPr>
          <a:xfrm>
            <a:off x="73152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per US$</a:t>
            </a:r>
            <a:endParaRPr lang="en-US" sz="1800" dirty="0"/>
          </a:p>
        </p:txBody>
      </p:sp>
      <p:sp>
        <p:nvSpPr>
          <p:cNvPr id="7" name="Text 4"/>
          <p:cNvSpPr txBox="1"/>
          <p:nvPr/>
        </p:nvSpPr>
        <p:spPr>
          <a:xfrm>
            <a:off x="73152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BSP reference rate, 25 Sep 2026 (A.16)</a:t>
            </a:r>
            <a:endParaRPr lang="en-US" sz="1400" dirty="0"/>
          </a:p>
        </p:txBody>
      </p:sp>
      <p:sp>
        <p:nvSpPr>
          <p:cNvPr id="8" name="Card"/>
          <p:cNvSpPr/>
          <p:nvPr/>
        </p:nvSpPr>
        <p:spPr>
          <a:xfrm>
            <a:off x="4343400" y="1417320"/>
            <a:ext cx="3520440" cy="2377440"/>
          </a:xfrm>
          <a:prstGeom prst="roundRect">
            <a:avLst>
              <a:gd name="adj" fmla="val 4615"/>
            </a:avLst>
          </a:prstGeom>
          <a:solidFill>
            <a:schemeClr val="bg2"/>
          </a:solidFill>
          <a:ln w="12700">
            <a:solidFill>
              <a:schemeClr val="bg2"/>
            </a:solidFill>
            <a:prstDash val="solid"/>
          </a:ln>
        </p:spPr>
      </p:sp>
      <p:sp>
        <p:nvSpPr>
          <p:cNvPr id="9" name="Text 6"/>
          <p:cNvSpPr txBox="1"/>
          <p:nvPr/>
        </p:nvSpPr>
        <p:spPr>
          <a:xfrm>
            <a:off x="4526280" y="1645920"/>
            <a:ext cx="315468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0%</a:t>
            </a:r>
            <a:endParaRPr lang="en-US" sz="4000" dirty="0"/>
          </a:p>
        </p:txBody>
      </p:sp>
      <p:sp>
        <p:nvSpPr>
          <p:cNvPr id="10" name="Text 7"/>
          <p:cNvSpPr txBox="1"/>
          <p:nvPr/>
        </p:nvSpPr>
        <p:spPr>
          <a:xfrm>
            <a:off x="4526280" y="2606040"/>
            <a:ext cx="3154680" cy="457200"/>
          </a:xfrm>
          <a:prstGeom prst="rect">
            <a:avLst/>
          </a:prstGeom>
          <a:noFill/>
          <a:ln/>
        </p:spPr>
        <p:txBody>
          <a:bodyPr wrap="square" lIns="0" tIns="0" rIns="0" bIns="0" rtlCol="0" anchor="ctr"/>
          <a:lstStyle/>
          <a:p>
            <a:pPr indent="0" marL="0">
              <a:buNone/>
            </a:pPr>
            <a:r>
              <a:rPr lang="en-US" sz="1800" b="1" dirty="0">
                <a:solidFill>
                  <a:schemeClr val="tx1"/>
                </a:solidFill>
              </a:rPr>
              <a:t>Annual escalation</a:t>
            </a:r>
            <a:endParaRPr lang="en-US" sz="1800" dirty="0"/>
          </a:p>
        </p:txBody>
      </p:sp>
      <p:sp>
        <p:nvSpPr>
          <p:cNvPr id="11" name="Text 8"/>
          <p:cNvSpPr txBox="1"/>
          <p:nvPr/>
        </p:nvSpPr>
        <p:spPr>
          <a:xfrm>
            <a:off x="4526280" y="3063240"/>
            <a:ext cx="3154680" cy="594360"/>
          </a:xfrm>
          <a:prstGeom prst="rect">
            <a:avLst/>
          </a:prstGeom>
          <a:noFill/>
          <a:ln/>
        </p:spPr>
        <p:txBody>
          <a:bodyPr wrap="square" lIns="0" tIns="0" rIns="0" bIns="0" rtlCol="0" anchor="t"/>
          <a:lstStyle/>
          <a:p>
            <a:pPr indent="0" marL="0">
              <a:buNone/>
            </a:pPr>
            <a:r>
              <a:rPr lang="en-US" sz="1400" dirty="0">
                <a:solidFill>
                  <a:schemeClr val="accent4"/>
                </a:solidFill>
              </a:rPr>
              <a:t>Real terms; GAT Price not indexed (draft Sec. 8.9)</a:t>
            </a:r>
            <a:endParaRPr lang="en-US" sz="1400" dirty="0"/>
          </a:p>
        </p:txBody>
      </p:sp>
      <p:sp>
        <p:nvSpPr>
          <p:cNvPr id="12" name="Card"/>
          <p:cNvSpPr/>
          <p:nvPr/>
        </p:nvSpPr>
        <p:spPr>
          <a:xfrm>
            <a:off x="8138160" y="1417320"/>
            <a:ext cx="3474720" cy="2377440"/>
          </a:xfrm>
          <a:prstGeom prst="roundRect">
            <a:avLst>
              <a:gd name="adj" fmla="val 4615"/>
            </a:avLst>
          </a:prstGeom>
          <a:solidFill>
            <a:schemeClr val="bg2"/>
          </a:solidFill>
          <a:ln w="12700">
            <a:solidFill>
              <a:schemeClr val="bg2"/>
            </a:solidFill>
            <a:prstDash val="solid"/>
          </a:ln>
        </p:spPr>
      </p:sp>
      <p:sp>
        <p:nvSpPr>
          <p:cNvPr id="13" name="Text 10"/>
          <p:cNvSpPr txBox="1"/>
          <p:nvPr/>
        </p:nvSpPr>
        <p:spPr>
          <a:xfrm>
            <a:off x="8321040" y="1645920"/>
            <a:ext cx="3108960" cy="914400"/>
          </a:xfrm>
          <a:prstGeom prst="rect">
            <a:avLst/>
          </a:prstGeom>
          <a:noFill/>
          <a:ln/>
        </p:spPr>
        <p:txBody>
          <a:bodyPr wrap="square" lIns="0" tIns="0" rIns="0" bIns="0" rtlCol="0" anchor="ctr"/>
          <a:lstStyle/>
          <a:p>
            <a:pPr indent="0" marL="0">
              <a:buNone/>
            </a:pPr>
            <a:r>
              <a:rPr lang="en-US" sz="4000" b="1" dirty="0">
                <a:solidFill>
                  <a:schemeClr val="tx2"/>
                </a:solidFill>
                <a:latin typeface="Cambria" pitchFamily="34" charset="0"/>
                <a:ea typeface="Cambria" pitchFamily="34" charset="-122"/>
                <a:cs typeface="Cambria" pitchFamily="34" charset="-120"/>
              </a:rPr>
              <a:t>30 days</a:t>
            </a:r>
            <a:endParaRPr lang="en-US" sz="4000" dirty="0"/>
          </a:p>
        </p:txBody>
      </p:sp>
      <p:sp>
        <p:nvSpPr>
          <p:cNvPr id="14" name="Text 11"/>
          <p:cNvSpPr txBox="1"/>
          <p:nvPr/>
        </p:nvSpPr>
        <p:spPr>
          <a:xfrm>
            <a:off x="8321040" y="2606040"/>
            <a:ext cx="3108960" cy="457200"/>
          </a:xfrm>
          <a:prstGeom prst="rect">
            <a:avLst/>
          </a:prstGeom>
          <a:noFill/>
          <a:ln/>
        </p:spPr>
        <p:txBody>
          <a:bodyPr wrap="square" lIns="0" tIns="0" rIns="0" bIns="0" rtlCol="0" anchor="ctr"/>
          <a:lstStyle/>
          <a:p>
            <a:pPr indent="0" marL="0">
              <a:buNone/>
            </a:pPr>
            <a:r>
              <a:rPr lang="en-US" sz="1800" b="1" dirty="0">
                <a:solidFill>
                  <a:schemeClr val="tx1"/>
                </a:solidFill>
              </a:rPr>
              <a:t>Working-capital cycle</a:t>
            </a:r>
            <a:endParaRPr lang="en-US" sz="1800" dirty="0"/>
          </a:p>
        </p:txBody>
      </p:sp>
      <p:sp>
        <p:nvSpPr>
          <p:cNvPr id="15" name="Text 12"/>
          <p:cNvSpPr txBox="1"/>
          <p:nvPr/>
        </p:nvSpPr>
        <p:spPr>
          <a:xfrm>
            <a:off x="8321040" y="3063240"/>
            <a:ext cx="3108960" cy="594360"/>
          </a:xfrm>
          <a:prstGeom prst="rect">
            <a:avLst/>
          </a:prstGeom>
          <a:noFill/>
          <a:ln/>
        </p:spPr>
        <p:txBody>
          <a:bodyPr wrap="square" lIns="0" tIns="0" rIns="0" bIns="0" rtlCol="0" anchor="t"/>
          <a:lstStyle/>
          <a:p>
            <a:pPr indent="0" marL="0">
              <a:buNone/>
            </a:pPr>
            <a:r>
              <a:rPr lang="en-US" sz="1400" dirty="0">
                <a:solidFill>
                  <a:schemeClr val="accent4"/>
                </a:solidFill>
              </a:rPr>
              <a:t>Receivables, payables, inventory</a:t>
            </a:r>
            <a:endParaRPr lang="en-US" sz="1400" dirty="0"/>
          </a:p>
        </p:txBody>
      </p:sp>
      <p:sp>
        <p:nvSpPr>
          <p:cNvPr id="16" name="Card"/>
          <p:cNvSpPr/>
          <p:nvPr/>
        </p:nvSpPr>
        <p:spPr>
          <a:xfrm>
            <a:off x="548640" y="4069080"/>
            <a:ext cx="11064240" cy="164592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77240" y="4343400"/>
            <a:ext cx="777240" cy="777240"/>
          </a:xfrm>
          <a:prstGeom prst="ellipse">
            <a:avLst/>
          </a:prstGeom>
          <a:solidFill>
            <a:schemeClr val="tx2"/>
          </a:solidFill>
          <a:ln w="12700">
            <a:solidFill>
              <a:schemeClr val="tx2"/>
            </a:solidFill>
            <a:prstDash val="solid"/>
          </a:ln>
        </p:spPr>
      </p:sp>
      <p:pic>
        <p:nvPicPr>
          <p:cNvPr id="18" name="Icon" descr="preencoded.png">    </p:cNvPr>
          <p:cNvPicPr>
            <a:picLocks noChangeAspect="1"/>
          </p:cNvPicPr>
          <p:nvPr/>
        </p:nvPicPr>
        <p:blipFill>
          <a:blip r:embed="rId1"/>
          <a:stretch>
            <a:fillRect/>
          </a:stretch>
        </p:blipFill>
        <p:spPr>
          <a:xfrm>
            <a:off x="979322" y="4545482"/>
            <a:ext cx="373075" cy="373075"/>
          </a:xfrm>
          <a:prstGeom prst="rect">
            <a:avLst/>
          </a:prstGeom>
        </p:spPr>
      </p:pic>
      <p:sp>
        <p:nvSpPr>
          <p:cNvPr id="19" name="Text 15"/>
          <p:cNvSpPr txBox="1"/>
          <p:nvPr/>
        </p:nvSpPr>
        <p:spPr>
          <a:xfrm>
            <a:off x="1828800" y="4160520"/>
            <a:ext cx="9601200" cy="1463040"/>
          </a:xfrm>
          <a:prstGeom prst="rect">
            <a:avLst/>
          </a:prstGeom>
          <a:noFill/>
          <a:ln/>
        </p:spPr>
        <p:txBody>
          <a:bodyPr wrap="square" lIns="0" tIns="0" rIns="0" bIns="0" rtlCol="0" anchor="ctr"/>
          <a:lstStyle/>
          <a:p>
            <a:pPr indent="0" marL="0">
              <a:buNone/>
            </a:pPr>
            <a:r>
              <a:rPr lang="en-US" sz="1800" dirty="0">
                <a:solidFill>
                  <a:schemeClr val="tx1"/>
                </a:solidFill>
              </a:rPr>
              <a:t>The GAT Price and each Gas Auction Price are fixed in PhP/kWh for the term of the award, with no foreign-exchange indexation or pass-through (draft GAIR Sec. 8.5).</a:t>
            </a:r>
            <a:endParaRPr lang="en-US" sz="18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p:nvPr>
            <p:ph idx="100" type="title" hasCustomPrompt="1"/>
          </p:nvPr>
        </p:nvSpPr>
        <p:spPr>
          <a:xfrm>
            <a:off x="731520" y="1828800"/>
            <a:ext cx="10698480" cy="1645920"/>
          </a:xfrm>
          <a:prstGeom prst="rect">
            <a:avLst/>
          </a:prstGeom>
          <a:noFill/>
          <a:ln/>
        </p:spPr>
        <p:txBody>
          <a:bodyPr wrap="square" rtlCol="0" anchor="b"/>
          <a:lstStyle/>
          <a:p>
            <a:pPr algn="l" indent="0" marL="0">
              <a:buNone/>
            </a:pPr>
            <a:r>
              <a:rPr lang="en-US" sz="4400" b="1" dirty="0">
                <a:solidFill>
                  <a:schemeClr val="bg1"/>
                </a:solidFill>
                <a:latin typeface="Cambria" pitchFamily="34" charset="0"/>
                <a:ea typeface="Cambria" pitchFamily="34" charset="-122"/>
                <a:cs typeface="Cambria" pitchFamily="34" charset="-120"/>
              </a:rPr>
              <a:t>Complete parameter list</a:t>
            </a:r>
            <a:endParaRPr lang="en-US" sz="4400" dirty="0"/>
          </a:p>
        </p:txBody>
      </p:sp>
      <p:sp>
        <p:nvSpPr>
          <p:cNvPr id="4" name="Text 0"/>
          <p:cNvSpPr/>
          <p:nvPr>
            <p:ph idx="101" type="body" hasCustomPrompt="1"/>
          </p:nvPr>
        </p:nvSpPr>
        <p:spPr>
          <a:xfrm>
            <a:off x="731520" y="3657600"/>
            <a:ext cx="10698480" cy="1463040"/>
          </a:xfrm>
          <a:prstGeom prst="rect">
            <a:avLst/>
          </a:prstGeom>
          <a:noFill/>
          <a:ln/>
        </p:spPr>
        <p:txBody>
          <a:bodyPr wrap="square" rtlCol="0" anchor="t"/>
          <a:lstStyle/>
          <a:p>
            <a:pPr indent="0" marL="0">
              <a:buNone/>
            </a:pPr>
            <a:r>
              <a:rPr lang="en-US" sz="2200" dirty="0">
                <a:solidFill>
                  <a:schemeClr val="accent5"/>
                </a:solidFill>
              </a:rPr>
              <a:t>All 115 model parameters in nine groups: value, type and basis for each</a:t>
            </a:r>
            <a:endParaRPr lang="en-US" sz="2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How to read the parameter tables</a:t>
            </a:r>
            <a:endParaRPr lang="en-US" sz="3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832104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Column</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What it shows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Parameter</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Model line item, with its unit and the draft Annex A item where one applies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Type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How the value is set (colour key below)</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Case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A (teal) = TOR capacity factor; B (purple) = historical; “A = B” when both give the same value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Lot 1 … gas engine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Value for each Luzon case; headers coloured by lot (Visayas on its own slides)</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600" b="1" dirty="0">
                          <a:solidFill>
                            <a:srgbClr val="17202A"/>
                          </a:solidFill>
                          <a:latin typeface="Calibri" pitchFamily="34" charset="0"/>
                          <a:ea typeface="Calibri" pitchFamily="34" charset="-122"/>
                          <a:cs typeface="Calibri" pitchFamily="34" charset="-120"/>
                        </a:rPr>
                        <a:t>Basis / source</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indent="0" marL="0">
                        <a:buNone/>
                      </a:pPr>
                      <a:r>
                        <a:rPr lang="en-US" sz="1600" dirty="0">
                          <a:solidFill>
                            <a:srgbClr val="17202A"/>
                          </a:solidFill>
                          <a:latin typeface="Calibri" pitchFamily="34" charset="0"/>
                          <a:ea typeface="Calibri" pitchFamily="34" charset="-122"/>
                          <a:cs typeface="Calibri" pitchFamily="34" charset="-120"/>
                        </a:rPr>
                        <a:t>Where the value comes from</a:t>
                      </a:r>
                      <a:endParaRPr lang="en-US" sz="1600" dirty="0">
                        <a:latin typeface="Calibri" charset="0"/>
                        <a:ea typeface="Calibri" charset="0"/>
                        <a:cs typeface="Calibri" charset="0"/>
                      </a:endParaRPr>
                    </a:p>
                  </a:txBody>
                  <a:tcPr marL="91440" marR="91440" marT="54864" marB="54864"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5" name="Type key"/>
          <p:cNvSpPr/>
          <p:nvPr/>
        </p:nvSpPr>
        <p:spPr>
          <a:xfrm>
            <a:off x="548640" y="4206240"/>
            <a:ext cx="3474720" cy="1417320"/>
          </a:xfrm>
          <a:prstGeom prst="roundRect">
            <a:avLst>
              <a:gd name="adj" fmla="val 7742"/>
            </a:avLst>
          </a:prstGeom>
          <a:solidFill>
            <a:srgbClr val="C6E3E1"/>
          </a:solidFill>
          <a:ln w="12700">
            <a:solidFill>
              <a:srgbClr val="C6E3E1"/>
            </a:solidFill>
            <a:prstDash val="solid"/>
          </a:ln>
        </p:spPr>
      </p:sp>
      <p:sp>
        <p:nvSpPr>
          <p:cNvPr id="6" name="Text 2"/>
          <p:cNvSpPr txBox="1"/>
          <p:nvPr/>
        </p:nvSpPr>
        <p:spPr>
          <a:xfrm>
            <a:off x="77724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Input</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Typed into the model; open for comment</a:t>
            </a:r>
            <a:endParaRPr lang="en-US" sz="2000" dirty="0"/>
          </a:p>
        </p:txBody>
      </p:sp>
      <p:sp>
        <p:nvSpPr>
          <p:cNvPr id="7" name="Type key"/>
          <p:cNvSpPr/>
          <p:nvPr/>
        </p:nvSpPr>
        <p:spPr>
          <a:xfrm>
            <a:off x="4297680" y="4206240"/>
            <a:ext cx="3474720" cy="1417320"/>
          </a:xfrm>
          <a:prstGeom prst="roundRect">
            <a:avLst>
              <a:gd name="adj" fmla="val 7742"/>
            </a:avLst>
          </a:prstGeom>
          <a:solidFill>
            <a:srgbClr val="EEF3F7"/>
          </a:solidFill>
          <a:ln w="12700">
            <a:solidFill>
              <a:srgbClr val="EEF3F7"/>
            </a:solidFill>
            <a:prstDash val="solid"/>
          </a:ln>
        </p:spPr>
      </p:sp>
      <p:sp>
        <p:nvSpPr>
          <p:cNvPr id="8" name="Text 4"/>
          <p:cNvSpPr txBox="1"/>
          <p:nvPr/>
        </p:nvSpPr>
        <p:spPr>
          <a:xfrm>
            <a:off x="452628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Calculated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Follows from the inputs</a:t>
            </a:r>
            <a:endParaRPr lang="en-US" sz="2000" dirty="0"/>
          </a:p>
        </p:txBody>
      </p:sp>
      <p:sp>
        <p:nvSpPr>
          <p:cNvPr id="9" name="Type key"/>
          <p:cNvSpPr/>
          <p:nvPr/>
        </p:nvSpPr>
        <p:spPr>
          <a:xfrm>
            <a:off x="8046720" y="4206240"/>
            <a:ext cx="3474720" cy="1417320"/>
          </a:xfrm>
          <a:prstGeom prst="roundRect">
            <a:avLst>
              <a:gd name="adj" fmla="val 7742"/>
            </a:avLst>
          </a:prstGeom>
          <a:solidFill>
            <a:srgbClr val="FBE7C6"/>
          </a:solidFill>
          <a:ln w="12700">
            <a:solidFill>
              <a:srgbClr val="FBE7C6"/>
            </a:solidFill>
            <a:prstDash val="solid"/>
          </a:ln>
        </p:spPr>
      </p:sp>
      <p:sp>
        <p:nvSpPr>
          <p:cNvPr id="10" name="Text 6"/>
          <p:cNvSpPr txBox="1"/>
          <p:nvPr/>
        </p:nvSpPr>
        <p:spPr>
          <a:xfrm>
            <a:off x="8275320" y="4251960"/>
            <a:ext cx="3017520" cy="1325880"/>
          </a:xfrm>
          <a:prstGeom prst="rect">
            <a:avLst/>
          </a:prstGeom>
          <a:noFill/>
          <a:ln/>
        </p:spPr>
        <p:txBody>
          <a:bodyPr wrap="square" lIns="0" tIns="0" rIns="0" bIns="0" rtlCol="0" anchor="ctr"/>
          <a:lstStyle/>
          <a:p>
            <a:pPr indent="0" marL="0">
              <a:buNone/>
            </a:pPr>
            <a:r>
              <a:rPr lang="en-US" sz="2000" b="1" dirty="0">
                <a:solidFill>
                  <a:srgbClr val="14324F"/>
                </a:solidFill>
                <a:latin typeface="Calibri" pitchFamily="34" charset="0"/>
                <a:ea typeface="Calibri" pitchFamily="34" charset="-122"/>
                <a:cs typeface="Calibri" pitchFamily="34" charset="-120"/>
              </a:rPr>
              <a:t>Calibrated</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Solved so the all-in cost equals its target</a:t>
            </a:r>
            <a:endParaRPr lang="en-US" sz="20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Colour key: cases, lots and regions</a:t>
            </a:r>
            <a:endParaRPr lang="en-US" sz="3400" dirty="0"/>
          </a:p>
        </p:txBody>
      </p:sp>
      <p:sp>
        <p:nvSpPr>
          <p:cNvPr id="4" name="Card"/>
          <p:cNvSpPr/>
          <p:nvPr/>
        </p:nvSpPr>
        <p:spPr>
          <a:xfrm>
            <a:off x="548640" y="1371600"/>
            <a:ext cx="5440680" cy="1234440"/>
          </a:xfrm>
          <a:prstGeom prst="roundRect">
            <a:avLst>
              <a:gd name="adj" fmla="val 8889"/>
            </a:avLst>
          </a:prstGeom>
          <a:solidFill>
            <a:srgbClr val="D3EEEC"/>
          </a:solidFill>
          <a:ln w="12700">
            <a:solidFill>
              <a:srgbClr val="D3EEEC"/>
            </a:solidFill>
            <a:prstDash val="solid"/>
          </a:ln>
        </p:spPr>
      </p:sp>
      <p:sp>
        <p:nvSpPr>
          <p:cNvPr id="5" name="Case chip"/>
          <p:cNvSpPr/>
          <p:nvPr/>
        </p:nvSpPr>
        <p:spPr>
          <a:xfrm>
            <a:off x="822960" y="1572768"/>
            <a:ext cx="822960" cy="822960"/>
          </a:xfrm>
          <a:prstGeom prst="ellipse">
            <a:avLst/>
          </a:prstGeom>
          <a:solidFill>
            <a:srgbClr val="1F8A8A"/>
          </a:solidFill>
          <a:ln w="12700">
            <a:solidFill>
              <a:srgbClr val="1F8A8A"/>
            </a:solidFill>
            <a:prstDash val="solid"/>
          </a:ln>
        </p:spPr>
      </p:sp>
      <p:sp>
        <p:nvSpPr>
          <p:cNvPr id="6" name="Text 3"/>
          <p:cNvSpPr txBox="1"/>
          <p:nvPr/>
        </p:nvSpPr>
        <p:spPr>
          <a:xfrm>
            <a:off x="82296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A</a:t>
            </a:r>
            <a:endParaRPr lang="en-US" sz="3000" dirty="0"/>
          </a:p>
        </p:txBody>
      </p:sp>
      <p:sp>
        <p:nvSpPr>
          <p:cNvPr id="7" name="Text 4"/>
          <p:cNvSpPr txBox="1"/>
          <p:nvPr/>
        </p:nvSpPr>
        <p:spPr>
          <a:xfrm>
            <a:off x="1874520" y="1463040"/>
            <a:ext cx="3931920" cy="1051560"/>
          </a:xfrm>
          <a:prstGeom prst="rect">
            <a:avLst/>
          </a:prstGeom>
          <a:noFill/>
          <a:ln/>
        </p:spPr>
        <p:txBody>
          <a:bodyPr wrap="square" lIns="0" tIns="0" rIns="0" bIns="0" rtlCol="0" anchor="ctr"/>
          <a:lstStyle/>
          <a:p>
            <a:pPr indent="0" marL="0">
              <a:buNone/>
            </a:pPr>
            <a:r>
              <a:rPr lang="en-US" sz="2000" b="1" dirty="0">
                <a:solidFill>
                  <a:srgbClr val="1F8A8A"/>
                </a:solidFill>
                <a:latin typeface="Calibri" pitchFamily="34" charset="0"/>
                <a:ea typeface="Calibri" pitchFamily="34" charset="-122"/>
                <a:cs typeface="Calibri" pitchFamily="34" charset="-120"/>
              </a:rPr>
              <a:t>Case A – TOR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42% for every case</a:t>
            </a:r>
            <a:endParaRPr lang="en-US" sz="2000" dirty="0"/>
          </a:p>
        </p:txBody>
      </p:sp>
      <p:sp>
        <p:nvSpPr>
          <p:cNvPr id="8" name="Card"/>
          <p:cNvSpPr/>
          <p:nvPr/>
        </p:nvSpPr>
        <p:spPr>
          <a:xfrm>
            <a:off x="6172200" y="1371600"/>
            <a:ext cx="5440680" cy="1234440"/>
          </a:xfrm>
          <a:prstGeom prst="roundRect">
            <a:avLst>
              <a:gd name="adj" fmla="val 8889"/>
            </a:avLst>
          </a:prstGeom>
          <a:solidFill>
            <a:srgbClr val="E9E1F4"/>
          </a:solidFill>
          <a:ln w="12700">
            <a:solidFill>
              <a:srgbClr val="E9E1F4"/>
            </a:solidFill>
            <a:prstDash val="solid"/>
          </a:ln>
        </p:spPr>
      </p:sp>
      <p:sp>
        <p:nvSpPr>
          <p:cNvPr id="9" name="Case chip"/>
          <p:cNvSpPr/>
          <p:nvPr/>
        </p:nvSpPr>
        <p:spPr>
          <a:xfrm>
            <a:off x="6446520" y="1572768"/>
            <a:ext cx="822960" cy="822960"/>
          </a:xfrm>
          <a:prstGeom prst="ellipse">
            <a:avLst/>
          </a:prstGeom>
          <a:solidFill>
            <a:srgbClr val="6C3FA0"/>
          </a:solidFill>
          <a:ln w="12700">
            <a:solidFill>
              <a:srgbClr val="6C3FA0"/>
            </a:solidFill>
            <a:prstDash val="solid"/>
          </a:ln>
        </p:spPr>
      </p:sp>
      <p:sp>
        <p:nvSpPr>
          <p:cNvPr id="10" name="Text 7"/>
          <p:cNvSpPr txBox="1"/>
          <p:nvPr/>
        </p:nvSpPr>
        <p:spPr>
          <a:xfrm>
            <a:off x="6446520" y="1572768"/>
            <a:ext cx="822960" cy="822960"/>
          </a:xfrm>
          <a:prstGeom prst="rect">
            <a:avLst/>
          </a:prstGeom>
          <a:noFill/>
          <a:ln/>
        </p:spPr>
        <p:txBody>
          <a:bodyPr wrap="square" lIns="0" tIns="0" rIns="0" bIns="0" rtlCol="0" anchor="ctr"/>
          <a:lstStyle/>
          <a:p>
            <a:pPr algn="ctr" indent="0" marL="0">
              <a:buNone/>
            </a:pPr>
            <a:r>
              <a:rPr lang="en-US" sz="3000" b="1" dirty="0">
                <a:solidFill>
                  <a:srgbClr val="FFFFFF"/>
                </a:solidFill>
                <a:latin typeface="Cambria" pitchFamily="34" charset="0"/>
                <a:ea typeface="Cambria" pitchFamily="34" charset="-122"/>
                <a:cs typeface="Cambria" pitchFamily="34" charset="-120"/>
              </a:rPr>
              <a:t>B</a:t>
            </a:r>
            <a:endParaRPr lang="en-US" sz="3000" dirty="0"/>
          </a:p>
        </p:txBody>
      </p:sp>
      <p:sp>
        <p:nvSpPr>
          <p:cNvPr id="11" name="Text 8"/>
          <p:cNvSpPr txBox="1"/>
          <p:nvPr/>
        </p:nvSpPr>
        <p:spPr>
          <a:xfrm>
            <a:off x="7498080" y="1463040"/>
            <a:ext cx="3931920" cy="1051560"/>
          </a:xfrm>
          <a:prstGeom prst="rect">
            <a:avLst/>
          </a:prstGeom>
          <a:noFill/>
          <a:ln/>
        </p:spPr>
        <p:txBody>
          <a:bodyPr wrap="square" lIns="0" tIns="0" rIns="0" bIns="0" rtlCol="0" anchor="ctr"/>
          <a:lstStyle/>
          <a:p>
            <a:pPr indent="0" marL="0">
              <a:buNone/>
            </a:pPr>
            <a:r>
              <a:rPr lang="en-US" sz="2000" b="1" dirty="0">
                <a:solidFill>
                  <a:srgbClr val="6C3FA0"/>
                </a:solidFill>
                <a:latin typeface="Calibri" pitchFamily="34" charset="0"/>
                <a:ea typeface="Calibri" pitchFamily="34" charset="-122"/>
                <a:cs typeface="Calibri" pitchFamily="34" charset="-120"/>
              </a:rPr>
              <a:t>Case B – historical capacity factor</a:t>
            </a:r>
            <a:endParaRPr lang="en-US" sz="2000" dirty="0"/>
          </a:p>
          <a:p>
            <a:pPr indent="0" marL="0">
              <a:buNone/>
            </a:pPr>
            <a:r>
              <a:rPr lang="en-US" sz="1600" dirty="0">
                <a:solidFill>
                  <a:srgbClr val="17202A"/>
                </a:solidFill>
                <a:latin typeface="Calibri" pitchFamily="34" charset="0"/>
                <a:ea typeface="Calibri" pitchFamily="34" charset="-122"/>
                <a:cs typeface="Calibri" pitchFamily="34" charset="-120"/>
              </a:rPr>
              <a:t>66.8% Lots 1–2; 63.1% new-build</a:t>
            </a:r>
            <a:endParaRPr lang="en-US" sz="2000" dirty="0"/>
          </a:p>
        </p:txBody>
      </p:sp>
      <p:sp>
        <p:nvSpPr>
          <p:cNvPr id="12" name="Card"/>
          <p:cNvSpPr/>
          <p:nvPr/>
        </p:nvSpPr>
        <p:spPr>
          <a:xfrm>
            <a:off x="548640" y="2926080"/>
            <a:ext cx="3520440" cy="1234440"/>
          </a:xfrm>
          <a:prstGeom prst="roundRect">
            <a:avLst>
              <a:gd name="adj" fmla="val 8889"/>
            </a:avLst>
          </a:prstGeom>
          <a:solidFill>
            <a:srgbClr val="DCE5EF"/>
          </a:solidFill>
          <a:ln w="12700">
            <a:solidFill>
              <a:srgbClr val="DCE5EF"/>
            </a:solidFill>
            <a:prstDash val="solid"/>
          </a:ln>
        </p:spPr>
      </p:sp>
      <p:sp>
        <p:nvSpPr>
          <p:cNvPr id="13" name="Lot chip"/>
          <p:cNvSpPr/>
          <p:nvPr/>
        </p:nvSpPr>
        <p:spPr>
          <a:xfrm>
            <a:off x="777240" y="3200400"/>
            <a:ext cx="685800" cy="685800"/>
          </a:xfrm>
          <a:prstGeom prst="roundRect">
            <a:avLst>
              <a:gd name="adj" fmla="val 13333"/>
            </a:avLst>
          </a:prstGeom>
          <a:solidFill>
            <a:srgbClr val="14324F"/>
          </a:solidFill>
          <a:ln w="12700">
            <a:solidFill>
              <a:srgbClr val="14324F"/>
            </a:solidFill>
            <a:prstDash val="solid"/>
          </a:ln>
        </p:spPr>
      </p:sp>
      <p:sp>
        <p:nvSpPr>
          <p:cNvPr id="14" name="Text 11"/>
          <p:cNvSpPr txBox="1"/>
          <p:nvPr/>
        </p:nvSpPr>
        <p:spPr>
          <a:xfrm>
            <a:off x="1645920" y="3017520"/>
            <a:ext cx="2286000" cy="1051560"/>
          </a:xfrm>
          <a:prstGeom prst="rect">
            <a:avLst/>
          </a:prstGeom>
          <a:noFill/>
          <a:ln/>
        </p:spPr>
        <p:txBody>
          <a:bodyPr wrap="square" lIns="0" tIns="0" rIns="0" bIns="0" rtlCol="0" anchor="ctr"/>
          <a:lstStyle/>
          <a:p>
            <a:pPr indent="0" marL="0">
              <a:buNone/>
            </a:pPr>
            <a:r>
              <a:rPr lang="en-US" sz="1700" b="1" dirty="0">
                <a:solidFill>
                  <a:srgbClr val="14324F"/>
                </a:solidFill>
              </a:rPr>
              <a:t>Lot 1 – existing, Luzon</a:t>
            </a:r>
            <a:endParaRPr lang="en-US" sz="1700" dirty="0"/>
          </a:p>
        </p:txBody>
      </p:sp>
      <p:sp>
        <p:nvSpPr>
          <p:cNvPr id="15" name="Card"/>
          <p:cNvSpPr/>
          <p:nvPr/>
        </p:nvSpPr>
        <p:spPr>
          <a:xfrm>
            <a:off x="4297680" y="2926080"/>
            <a:ext cx="3520440" cy="1234440"/>
          </a:xfrm>
          <a:prstGeom prst="roundRect">
            <a:avLst>
              <a:gd name="adj" fmla="val 8889"/>
            </a:avLst>
          </a:prstGeom>
          <a:solidFill>
            <a:srgbClr val="DBEBF8"/>
          </a:solidFill>
          <a:ln w="12700">
            <a:solidFill>
              <a:srgbClr val="DBEBF8"/>
            </a:solidFill>
            <a:prstDash val="solid"/>
          </a:ln>
        </p:spPr>
      </p:sp>
      <p:sp>
        <p:nvSpPr>
          <p:cNvPr id="16" name="Lot chip"/>
          <p:cNvSpPr/>
          <p:nvPr/>
        </p:nvSpPr>
        <p:spPr>
          <a:xfrm>
            <a:off x="4526280" y="3200400"/>
            <a:ext cx="685800" cy="685800"/>
          </a:xfrm>
          <a:prstGeom prst="roundRect">
            <a:avLst>
              <a:gd name="adj" fmla="val 13333"/>
            </a:avLst>
          </a:prstGeom>
          <a:solidFill>
            <a:srgbClr val="2E86C1"/>
          </a:solidFill>
          <a:ln w="12700">
            <a:solidFill>
              <a:srgbClr val="2E86C1"/>
            </a:solidFill>
            <a:prstDash val="solid"/>
          </a:ln>
        </p:spPr>
      </p:sp>
      <p:sp>
        <p:nvSpPr>
          <p:cNvPr id="17" name="Text 14"/>
          <p:cNvSpPr txBox="1"/>
          <p:nvPr/>
        </p:nvSpPr>
        <p:spPr>
          <a:xfrm>
            <a:off x="5394960" y="3017520"/>
            <a:ext cx="2286000" cy="1051560"/>
          </a:xfrm>
          <a:prstGeom prst="rect">
            <a:avLst/>
          </a:prstGeom>
          <a:noFill/>
          <a:ln/>
        </p:spPr>
        <p:txBody>
          <a:bodyPr wrap="square" lIns="0" tIns="0" rIns="0" bIns="0" rtlCol="0" anchor="ctr"/>
          <a:lstStyle/>
          <a:p>
            <a:pPr indent="0" marL="0">
              <a:buNone/>
            </a:pPr>
            <a:r>
              <a:rPr lang="en-US" sz="1700" b="1" dirty="0">
                <a:solidFill>
                  <a:srgbClr val="2E86C1"/>
                </a:solidFill>
              </a:rPr>
              <a:t>Lot 2 – existing, Luzon</a:t>
            </a:r>
            <a:endParaRPr lang="en-US" sz="1700" dirty="0"/>
          </a:p>
        </p:txBody>
      </p:sp>
      <p:sp>
        <p:nvSpPr>
          <p:cNvPr id="18" name="Card"/>
          <p:cNvSpPr/>
          <p:nvPr/>
        </p:nvSpPr>
        <p:spPr>
          <a:xfrm>
            <a:off x="8046720" y="2926080"/>
            <a:ext cx="3520440" cy="1234440"/>
          </a:xfrm>
          <a:prstGeom prst="roundRect">
            <a:avLst>
              <a:gd name="adj" fmla="val 8889"/>
            </a:avLst>
          </a:prstGeom>
          <a:solidFill>
            <a:srgbClr val="DDEFDD"/>
          </a:solidFill>
          <a:ln w="12700">
            <a:solidFill>
              <a:srgbClr val="DDEFDD"/>
            </a:solidFill>
            <a:prstDash val="solid"/>
          </a:ln>
        </p:spPr>
      </p:sp>
      <p:sp>
        <p:nvSpPr>
          <p:cNvPr id="19" name="Lot chip"/>
          <p:cNvSpPr/>
          <p:nvPr/>
        </p:nvSpPr>
        <p:spPr>
          <a:xfrm>
            <a:off x="8275320" y="3200400"/>
            <a:ext cx="685800" cy="685800"/>
          </a:xfrm>
          <a:prstGeom prst="roundRect">
            <a:avLst>
              <a:gd name="adj" fmla="val 13333"/>
            </a:avLst>
          </a:prstGeom>
          <a:solidFill>
            <a:srgbClr val="2E7D32"/>
          </a:solidFill>
          <a:ln w="12700">
            <a:solidFill>
              <a:srgbClr val="2E7D32"/>
            </a:solidFill>
            <a:prstDash val="solid"/>
          </a:ln>
        </p:spPr>
      </p:sp>
      <p:sp>
        <p:nvSpPr>
          <p:cNvPr id="20" name="Text 17"/>
          <p:cNvSpPr txBox="1"/>
          <p:nvPr/>
        </p:nvSpPr>
        <p:spPr>
          <a:xfrm>
            <a:off x="9144000" y="3017520"/>
            <a:ext cx="2286000" cy="1051560"/>
          </a:xfrm>
          <a:prstGeom prst="rect">
            <a:avLst/>
          </a:prstGeom>
          <a:noFill/>
          <a:ln/>
        </p:spPr>
        <p:txBody>
          <a:bodyPr wrap="square" lIns="0" tIns="0" rIns="0" bIns="0" rtlCol="0" anchor="ctr"/>
          <a:lstStyle/>
          <a:p>
            <a:pPr indent="0" marL="0">
              <a:buNone/>
            </a:pPr>
            <a:r>
              <a:rPr lang="en-US" sz="1700" b="1" dirty="0">
                <a:solidFill>
                  <a:srgbClr val="2E7D32"/>
                </a:solidFill>
              </a:rPr>
              <a:t>New-build – Luzon</a:t>
            </a:r>
            <a:endParaRPr lang="en-US" sz="1700" dirty="0"/>
          </a:p>
        </p:txBody>
      </p:sp>
      <p:sp>
        <p:nvSpPr>
          <p:cNvPr id="21" name="Card"/>
          <p:cNvSpPr/>
          <p:nvPr/>
        </p:nvSpPr>
        <p:spPr>
          <a:xfrm>
            <a:off x="548640" y="4343400"/>
            <a:ext cx="3520440" cy="1234440"/>
          </a:xfrm>
          <a:prstGeom prst="roundRect">
            <a:avLst>
              <a:gd name="adj" fmla="val 8889"/>
            </a:avLst>
          </a:prstGeom>
          <a:solidFill>
            <a:srgbClr val="FBE3D2"/>
          </a:solidFill>
          <a:ln w="12700">
            <a:solidFill>
              <a:srgbClr val="FBE3D2"/>
            </a:solidFill>
            <a:prstDash val="solid"/>
          </a:ln>
        </p:spPr>
      </p:sp>
      <p:sp>
        <p:nvSpPr>
          <p:cNvPr id="22" name="Lot chip"/>
          <p:cNvSpPr/>
          <p:nvPr/>
        </p:nvSpPr>
        <p:spPr>
          <a:xfrm>
            <a:off x="777240" y="4617720"/>
            <a:ext cx="685800" cy="685800"/>
          </a:xfrm>
          <a:prstGeom prst="roundRect">
            <a:avLst>
              <a:gd name="adj" fmla="val 13333"/>
            </a:avLst>
          </a:prstGeom>
          <a:solidFill>
            <a:srgbClr val="D35400"/>
          </a:solidFill>
          <a:ln w="12700">
            <a:solidFill>
              <a:srgbClr val="D35400"/>
            </a:solidFill>
            <a:prstDash val="solid"/>
          </a:ln>
        </p:spPr>
      </p:sp>
      <p:sp>
        <p:nvSpPr>
          <p:cNvPr id="23" name="Text 20"/>
          <p:cNvSpPr txBox="1"/>
          <p:nvPr/>
        </p:nvSpPr>
        <p:spPr>
          <a:xfrm>
            <a:off x="1645920" y="4434840"/>
            <a:ext cx="2286000" cy="1051560"/>
          </a:xfrm>
          <a:prstGeom prst="rect">
            <a:avLst/>
          </a:prstGeom>
          <a:noFill/>
          <a:ln/>
        </p:spPr>
        <p:txBody>
          <a:bodyPr wrap="square" lIns="0" tIns="0" rIns="0" bIns="0" rtlCol="0" anchor="ctr"/>
          <a:lstStyle/>
          <a:p>
            <a:pPr indent="0" marL="0">
              <a:buNone/>
            </a:pPr>
            <a:r>
              <a:rPr lang="en-US" sz="1700" b="1" dirty="0">
                <a:solidFill>
                  <a:srgbClr val="D35400"/>
                </a:solidFill>
              </a:rPr>
              <a:t>New-build – Visayas 440 MW</a:t>
            </a:r>
            <a:endParaRPr lang="en-US" sz="1700" dirty="0"/>
          </a:p>
        </p:txBody>
      </p:sp>
      <p:sp>
        <p:nvSpPr>
          <p:cNvPr id="24" name="Card"/>
          <p:cNvSpPr/>
          <p:nvPr/>
        </p:nvSpPr>
        <p:spPr>
          <a:xfrm>
            <a:off x="4297680" y="4343400"/>
            <a:ext cx="3520440" cy="1234440"/>
          </a:xfrm>
          <a:prstGeom prst="roundRect">
            <a:avLst>
              <a:gd name="adj" fmla="val 8889"/>
            </a:avLst>
          </a:prstGeom>
          <a:solidFill>
            <a:srgbClr val="F5D9E2"/>
          </a:solidFill>
          <a:ln w="12700">
            <a:solidFill>
              <a:srgbClr val="F5D9E2"/>
            </a:solidFill>
            <a:prstDash val="solid"/>
          </a:ln>
        </p:spPr>
      </p:sp>
      <p:sp>
        <p:nvSpPr>
          <p:cNvPr id="25" name="Lot chip"/>
          <p:cNvSpPr/>
          <p:nvPr/>
        </p:nvSpPr>
        <p:spPr>
          <a:xfrm>
            <a:off x="4526280" y="4617720"/>
            <a:ext cx="685800" cy="685800"/>
          </a:xfrm>
          <a:prstGeom prst="roundRect">
            <a:avLst>
              <a:gd name="adj" fmla="val 13333"/>
            </a:avLst>
          </a:prstGeom>
          <a:solidFill>
            <a:srgbClr val="A61E4D"/>
          </a:solidFill>
          <a:ln w="12700">
            <a:solidFill>
              <a:srgbClr val="A61E4D"/>
            </a:solidFill>
            <a:prstDash val="solid"/>
          </a:ln>
        </p:spPr>
      </p:sp>
      <p:sp>
        <p:nvSpPr>
          <p:cNvPr id="26" name="Text 23"/>
          <p:cNvSpPr txBox="1"/>
          <p:nvPr/>
        </p:nvSpPr>
        <p:spPr>
          <a:xfrm>
            <a:off x="5394960" y="4434840"/>
            <a:ext cx="2286000" cy="1051560"/>
          </a:xfrm>
          <a:prstGeom prst="rect">
            <a:avLst/>
          </a:prstGeom>
          <a:noFill/>
          <a:ln/>
        </p:spPr>
        <p:txBody>
          <a:bodyPr wrap="square" lIns="0" tIns="0" rIns="0" bIns="0" rtlCol="0" anchor="ctr"/>
          <a:lstStyle/>
          <a:p>
            <a:pPr indent="0" marL="0">
              <a:buNone/>
            </a:pPr>
            <a:r>
              <a:rPr lang="en-US" sz="1700" b="1" dirty="0">
                <a:solidFill>
                  <a:srgbClr val="A61E4D"/>
                </a:solidFill>
              </a:rPr>
              <a:t>New-build – Visayas 500 MW</a:t>
            </a:r>
            <a:endParaRPr lang="en-US" sz="1700" dirty="0"/>
          </a:p>
        </p:txBody>
      </p:sp>
      <p:sp>
        <p:nvSpPr>
          <p:cNvPr id="27" name="Card"/>
          <p:cNvSpPr/>
          <p:nvPr/>
        </p:nvSpPr>
        <p:spPr>
          <a:xfrm>
            <a:off x="8046720" y="4343400"/>
            <a:ext cx="3520440" cy="1234440"/>
          </a:xfrm>
          <a:prstGeom prst="roundRect">
            <a:avLst>
              <a:gd name="adj" fmla="val 8889"/>
            </a:avLst>
          </a:prstGeom>
          <a:solidFill>
            <a:srgbClr val="ECEDEF"/>
          </a:solidFill>
          <a:ln w="12700">
            <a:solidFill>
              <a:srgbClr val="ECEDEF"/>
            </a:solidFill>
            <a:prstDash val="solid"/>
          </a:ln>
        </p:spPr>
      </p:sp>
      <p:sp>
        <p:nvSpPr>
          <p:cNvPr id="28" name="Lot chip"/>
          <p:cNvSpPr/>
          <p:nvPr/>
        </p:nvSpPr>
        <p:spPr>
          <a:xfrm>
            <a:off x="8275320" y="4617720"/>
            <a:ext cx="685800" cy="685800"/>
          </a:xfrm>
          <a:prstGeom prst="roundRect">
            <a:avLst>
              <a:gd name="adj" fmla="val 13333"/>
            </a:avLst>
          </a:prstGeom>
          <a:solidFill>
            <a:srgbClr val="6B7280"/>
          </a:solidFill>
          <a:ln w="12700">
            <a:solidFill>
              <a:srgbClr val="6B7280"/>
            </a:solidFill>
            <a:prstDash val="solid"/>
          </a:ln>
        </p:spPr>
      </p:sp>
      <p:sp>
        <p:nvSpPr>
          <p:cNvPr id="29" name="Text 26"/>
          <p:cNvSpPr txBox="1"/>
          <p:nvPr/>
        </p:nvSpPr>
        <p:spPr>
          <a:xfrm>
            <a:off x="9144000" y="4434840"/>
            <a:ext cx="2286000" cy="1051560"/>
          </a:xfrm>
          <a:prstGeom prst="rect">
            <a:avLst/>
          </a:prstGeom>
          <a:noFill/>
          <a:ln/>
        </p:spPr>
        <p:txBody>
          <a:bodyPr wrap="square" lIns="0" tIns="0" rIns="0" bIns="0" rtlCol="0" anchor="ctr"/>
          <a:lstStyle/>
          <a:p>
            <a:pPr indent="0" marL="0">
              <a:buNone/>
            </a:pPr>
            <a:r>
              <a:rPr lang="en-US" sz="1700" b="1" dirty="0">
                <a:solidFill>
                  <a:srgbClr val="6B7280"/>
                </a:solidFill>
              </a:rPr>
              <a:t>Mindanao – no lot in the DOE TOR</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(1 of 2)</a:t>
            </a:r>
            <a:endParaRPr lang="en-US" sz="34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lot size split into equal units (at most 20 per case); the result is per kW, so unit size does not change 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auction capacity (Sec. 1.1) ÷ unit size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TOR Sec. 1.1 auction capacity requirement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input (availability x dispatch)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Case A: 42%, top of the TOR band. Case B: MERALCO-supplier gas fleet, Jan 2024–Sep 2026 (also applied to Visayas)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Guaranteed Efficiency Factor,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already net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 Plant and dispatch (2 of 2)</a:t>
            </a:r>
            <a:endParaRPr lang="en-US" sz="34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Allowance for losses &amp; own use,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Net basis: capacity factor is net of own use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Capacity Factor after own use (calculated) (Annex A.2)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gridSpan="5">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All cases: 42%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hMerge="1">
                  <a:tcPr/>
                </a:tc>
                <a:tc hMerge="1">
                  <a:tcPr/>
                </a:tc>
                <a:tc hMerge="1">
                  <a:tcPr/>
                </a:tc>
                <a:tc hMerge="1">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63.12%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Hours per Year (hours)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8,760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5,150.9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3,679.2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Installed MW × capacity factor × 8,760 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8,192.4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2,925.9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5,529.7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Degradation Rate, % p.a.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Annex A.20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Heat rate (logistics only; fuel excluded) (Btu/kWh)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9,800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Technology reference values; used only for logistics, which is now in the Fuel Cost: no effect on the GAT Price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(1 of 2)</a:t>
            </a:r>
            <a:endParaRPr lang="en-US" sz="34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Period (mos) (Annex A.7)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Typical EPC schedule by technology (Annex A.7); existing plants have none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Operating Period (yrs from COD)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plant economic life for cost recovery, although the TOR contract is shorter (Annex A.8)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&amp; Forex (2028) for FIT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CAPEX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 Timing (2 of 2)</a:t>
            </a:r>
            <a:endParaRPr lang="en-US" sz="34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Yrs from base year CPI (2028) for OPEX (years)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&amp; Forex for FiT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CAPEX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year CPI for OPEX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Commercial Operating Date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base year 2028 plus construction; real terms, so the calendar year does not change the result. TOR delivery years apply in the auction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(1 of 3)</a:t>
            </a:r>
            <a:endParaRPr lang="en-US" sz="3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all-in project cost (US$/kW)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Current market levels +25% for turbine and EPC inflation (Oct 2026); existing plants at an operational/retooled-plant value (Annex A.3)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All-In Project Cost (Annex A.3)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79.67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Calibrated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7C6"/>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Set by model calibration so the all-in cost equals the target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(2 of 3)</a:t>
            </a:r>
            <a:endParaRPr lang="en-US" sz="34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Insurance, Ocean Freight, Local Transport,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Balance of Plant (BOP), % of Equipment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Distance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Dedicated connection only; Associated Transmission Projects excluded (draft GAIR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T/L Cost per km, 69 kV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Switchyard &amp; Transformers ($000)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dedicated connection only (Sec. 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Access Roads ($000/km)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Distance of Access Road (km)</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Dev't &amp; Other Costs (land, permits, etc) (% of EPC)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 Capital cost (3 of 3)</a:t>
            </a:r>
            <a:endParaRPr lang="en-US" sz="34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not recovered without a BOI incentive, so it is a project cost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 of EPC)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Contingency (% of Total Cost)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Value, %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10% of cost, received in the final year (draft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Major Maintenance/Refurbishment (% of EPC)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Refurbishment (yr from COD)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(1 of 2)</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Land Cost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Transmission Line Interconnection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Sub-Station Facility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0.79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4. Uses and sources of funds (2 of 2)</a:t>
            </a:r>
            <a:endParaRPr lang="en-US" sz="3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840.0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1,500.0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1,375.0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(1 of 2)</a:t>
            </a:r>
            <a:endParaRPr lang="en-US" sz="3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1,700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Fixed O&amp;M (US$/kW-yr) × unit MW: CCGT 13.71, OCGT 8.50, gas engine 16.50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Variable Non-Fuel O&amp;M, excl. logistics ($000/MW/yr) (Annex A.5)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11.56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13.98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Variable O&amp;M × 8,760 × energy CF ÷ 1,000; US$2.00/MWh CCGT, 4.50 OCGT, 3.80 gas engine; logistics excluded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11.06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2,123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1,264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1,503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6% of fixed + variable O&amp;M (corporate overhead standard,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2,135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1,486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2,251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5. O&amp;M and G&amp;A (2 of 2)</a:t>
            </a:r>
            <a:endParaRPr lang="en-US" sz="3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fixed O&amp;M (US$/kW-yr) (Annex A.4)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variable O&amp;M (US$/MWh) (Annex A.5)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rowSpan="2">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4.077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2.378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rowSpan="2">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1.582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2.487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vMerge="1">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Target G&amp;A (US$000/yr) (Annex A.6) - reference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53.86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Reference only; not used in the calculation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(1 of 2)</a:t>
            </a:r>
            <a:endParaRPr lang="en-US" sz="3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70:30, commercial project-finance standard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Ratio (Annex A.9)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local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8% pre-tax (Annex A.10); local about 7.5%, US$ about 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Cost of Debt, foreign (% excl. tax)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Same as local (Annex A.10)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Debt Repayment Period (yrs)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15 years (Annex A.11)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Grace Period from COD (mos)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and Foreign debt Service Reserve (mos)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6. Financing (2 of 2)</a:t>
            </a:r>
            <a:endParaRPr lang="en-US" sz="34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Upfront &amp; Financing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&amp; Foreign Commitment Fees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165.9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152.8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446.6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588.0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1,050.0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Required Equity Return, Re (nominal) (Annex A.12)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14% nominal; CAPM range 12%–14% (Annex A.12)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pre-tax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Model result; reference check (draft GAIR Sec. 8.8.8)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 after-tax</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WACC</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(1 of 2)</a:t>
            </a:r>
            <a:endParaRPr lang="en-US" sz="34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Type of incentives (1 = NO, 2 = BOI, 3 = PEZA)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 BOI or PEZA incentive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Holiday (yrs)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None assumed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Income Tax Rate (after ITH)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Corporate income tax, CREATE Act (Annex A.14)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Real Property Tax (from COD)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RPT Assessment Level (% of NBV)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(Annex A.26)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Business Tax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Local Government Code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Government Share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to gas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host-community benefit (USD/kWh) (Sec. 8.8.3) (US$/kWh)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0.00048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PhP 0.03/kWh converted at the model exchange rate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7. Taxes and incentives (2 of 2)</a:t>
            </a:r>
            <a:endParaRPr lang="en-US" sz="34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Withholding Tax on Interest (Foreign Currency) - WHT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foreign-currency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Receipts Tax on Interest (Local Currency) - GRT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local-currency interest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Documentary Stamps Tax (DST)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NIRC, on loan documents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PEZA Incentives (% of gross income) - 0% / 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on importation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12% VAT (NIRC Sec. 107); see VAT recovery below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Customs Duty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 (Annex A.22)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VAT Recovery,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0%: the 70% recovery applies only under a BOI incentive, which is not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Timing of VAT recovery (yrs after COD)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Not applicable: no VAT recovery assumed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(1 of 2)</a:t>
            </a:r>
            <a:endParaRPr lang="en-US" sz="3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Foreign Exchange Rate (US$/US$)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Forward Fixed Exchange Rate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Base Local CPI - 2028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160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Local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the GAT Price is not indexed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US CPI - for OPEX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8. Economic, working capital and currency (2 of 2)</a:t>
            </a:r>
            <a:endParaRPr lang="en-US" sz="3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Annual Peso Depreciation Rate (% p.a.)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Real terms (draft GAIR Sec. 8.9)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Days Receivable, Payable and Inventory (days)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PhP per USD exchange rate (Annex A.16) (PhP/US$)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62.756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BSP reference rate, 25 Sep 2026 (Annex A.16)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ER 1-94 benefit, PhP/kWh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DOE DC2025-10-0023 (draft GAIR Sec. 8.8.3)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Salvage received in last year (1 = yes) (Sec. 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Draft GAIR Sec. 8.3; Annex A.23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 Fuel and technical</a:t>
            </a:r>
            <a:endParaRPr lang="en-US" sz="34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2514600"/>
                <a:gridCol w="960120"/>
                <a:gridCol w="685800"/>
                <a:gridCol w="841248"/>
                <a:gridCol w="841248"/>
                <a:gridCol w="841248"/>
                <a:gridCol w="841248"/>
                <a:gridCol w="841248"/>
                <a:gridCol w="2697480"/>
              </a:tblGrid>
              <a:tr h="0">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1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Lot 2 existing</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86C1"/>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New 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2E7D32"/>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Basis / source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switch (fuel is outside the GAT Price)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Fuel is outside the GAT Price (draft GAIR Sec. 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Gross Heating Value (Btu/lb)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22,129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Natural gas; for the efficiency calculation only</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Thermal Efficiency, %</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53.73%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55.94%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Energy conversion constant (model line “Plant Heat Rate”) (kJ/kWh)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3,600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3,600 kJ = 1 kWh. A unit constant, not the Annex A.15 Heat Rate Cap</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Fuel Rate (kWh/MT)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Calculated</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CE5E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BEBF8"/>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7,998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4,978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DEFDD"/>
                    </a:solidFill>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Calculated by the model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density (kg/L)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Specific lube oil consumption (g/kWh)</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Lube oil cost (US$/L)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4324F"/>
                          </a:solidFill>
                          <a:latin typeface="Calibri" pitchFamily="34" charset="0"/>
                          <a:ea typeface="Calibri" pitchFamily="34" charset="-122"/>
                          <a:cs typeface="Calibri" pitchFamily="34" charset="-120"/>
                        </a:rPr>
                        <a:t>Input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C6E3E1"/>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gridSpan="5">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All cases: 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hMerge="1">
                  <a:tcPr/>
                </a:tc>
                <a:tc hMerge="1">
                  <a:tcPr/>
                </a:tc>
                <a:tc hMerge="1">
                  <a:tcPr/>
                </a:tc>
                <a:tc hMerge="1">
                  <a:tcPr/>
                </a:tc>
                <a:tc>
                  <a:txBody>
                    <a:bodyPr/>
                    <a:lstStyle/>
                    <a:p>
                      <a:pPr indent="0" marL="0">
                        <a:buNone/>
                      </a:pPr>
                      <a:r>
                        <a:rPr lang="en-US" sz="1400" dirty="0">
                          <a:solidFill>
                            <a:srgbClr val="34495E"/>
                          </a:solidFill>
                          <a:latin typeface="Calibri" pitchFamily="34" charset="0"/>
                          <a:ea typeface="Calibri" pitchFamily="34" charset="-122"/>
                          <a:cs typeface="Calibri" pitchFamily="34" charset="-120"/>
                        </a:rPr>
                        <a:t>ERC model default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r>
            </a:tbl>
          </a:graphicData>
        </a:graphic>
      </p:graphicFrame>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(1 of 4)</a:t>
            </a:r>
            <a:endParaRPr lang="en-US" sz="340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Unit Capacity of Plant (MW/unit)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No. of Units (unit)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Installed Capacity, gross (MW) (Annex A.1)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Net Electrical Output (GWh, first year)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1,618.8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1,839.6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2,433.1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2,764.8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Cost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946.7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568.5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907.6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Plant Cost (Excluding VAT, Financing, Working Capital) (US$/kW)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697.1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Equipment Cost ex BOP, Transport ($000/MW)</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(2 of 4)</a:t>
            </a:r>
            <a:endParaRPr lang="en-US" sz="34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EPC (Equipment, Balance of Plant, Transport)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416.4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453.8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Development &amp; Other Costs (Civil Works, Customs Duty)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70.7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Construction Contingency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Value Added Tax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24.8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Financing Costs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28.8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76.8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Initial Working Capital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45.9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27.6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44.0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Uses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(3 of 4)</a:t>
            </a:r>
            <a:endParaRPr lang="en-US" sz="34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Sources of Fund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660.0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750.0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437.5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687.5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Fixed O&amp;M Costs ($000/unit/year) (Annex A.4)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6,032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1,870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6,855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412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G&amp;A Costs ($000/year) (Annex A.6)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556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805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752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914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654</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881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990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743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1,002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1,125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rowSpan="2">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O&amp;M + Spares as % of EPC, T/L, S/S</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F8A8A"/>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2.22%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c>
                  <a:txBody>
                    <a:bodyPr/>
                    <a:lstStyle/>
                    <a:p>
                      <a:pPr algn="ctr" indent="0" marL="0">
                        <a:buNone/>
                      </a:pPr>
                      <a:r>
                        <a:rPr lang="en-US" sz="1400" b="1" dirty="0">
                          <a:solidFill>
                            <a:srgbClr val="1F8A8A"/>
                          </a:solidFill>
                          <a:latin typeface="Calibri" pitchFamily="34" charset="0"/>
                          <a:ea typeface="Calibri" pitchFamily="34" charset="-122"/>
                          <a:cs typeface="Calibri" pitchFamily="34" charset="-120"/>
                        </a:rPr>
                        <a:t>3.35%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EEEC"/>
                    </a:solidFill>
                  </a:tcPr>
                </a:tc>
              </a:tr>
              <a:tr h="0">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6C3FA0"/>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2.61%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5.85%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c>
                  <a:txBody>
                    <a:bodyPr/>
                    <a:lstStyle/>
                    <a:p>
                      <a:pPr algn="ctr" indent="0" marL="0">
                        <a:buNone/>
                      </a:pPr>
                      <a:r>
                        <a:rPr lang="en-US" sz="1400" b="1" dirty="0">
                          <a:solidFill>
                            <a:srgbClr val="6C3FA0"/>
                          </a:solidFill>
                          <a:latin typeface="Calibri" pitchFamily="34" charset="0"/>
                          <a:ea typeface="Calibri" pitchFamily="34" charset="-122"/>
                          <a:cs typeface="Calibri" pitchFamily="34" charset="-120"/>
                        </a:rPr>
                        <a:t>4.13%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9E1F4"/>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Local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49.03%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48.98%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Foreign Capital</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50.97%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51.02%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Local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125.3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73.3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114.9</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142.3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83.2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130.5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Foreign Debt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336.7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196.2</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308.6</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382.7</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223.0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350.8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Visayas cases: values that differ from Luzon (4 of 4)</a:t>
            </a:r>
            <a:endParaRPr lang="en-US" sz="34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64240" cy="914400"/>
        </p:xfrm>
        <a:graphic>
          <a:graphicData uri="http://schemas.openxmlformats.org/drawingml/2006/table">
            <a:tbl>
              <a:tblPr/>
              <a:tblGrid>
                <a:gridCol w="3200400"/>
                <a:gridCol w="822960"/>
                <a:gridCol w="1170432"/>
                <a:gridCol w="1170432"/>
                <a:gridCol w="1170432"/>
                <a:gridCol w="1170432"/>
                <a:gridCol w="1170432"/>
                <a:gridCol w="1188720"/>
              </a:tblGrid>
              <a:tr h="0">
                <a:tc rowSpan="2">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Parameter</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rowSpan="2">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Case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14324F"/>
                    </a:solidFill>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440 MW (2028)</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hMerge="1">
                  <a:tcPr/>
                </a:tc>
                <a:tc hMerge="1">
                  <a:tcPr/>
                </a:tc>
                <a:tc gridSpan="3">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Visayas 500 MW (2031)</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hMerge="1">
                  <a:tcPr/>
                </a:tc>
                <a:tc hMerge="1">
                  <a:tcPr/>
                </a:tc>
              </a:tr>
              <a:tr h="0">
                <a:tc vMerge="1">
                  <a:tcPr/>
                </a:tc>
                <a:tc vMerge="1">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D35400"/>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OCGT</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Gas engine</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A61E4D"/>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Total Debt Amount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462.0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269.5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423.5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525.0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306.3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481.3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r h="0">
                <a:tc>
                  <a:txBody>
                    <a:bodyPr/>
                    <a:lstStyle/>
                    <a:p>
                      <a:pPr indent="0" marL="0">
                        <a:buNone/>
                      </a:pPr>
                      <a:r>
                        <a:rPr lang="en-US" sz="1400" b="1" dirty="0">
                          <a:solidFill>
                            <a:srgbClr val="17202A"/>
                          </a:solidFill>
                          <a:latin typeface="Calibri" pitchFamily="34" charset="0"/>
                          <a:ea typeface="Calibri" pitchFamily="34" charset="-122"/>
                          <a:cs typeface="Calibri" pitchFamily="34" charset="-120"/>
                        </a:rPr>
                        <a:t>Equity Investment (US$ million)</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b="1" dirty="0">
                          <a:solidFill>
                            <a:srgbClr val="14324F"/>
                          </a:solidFill>
                          <a:latin typeface="Calibri" pitchFamily="34" charset="0"/>
                          <a:ea typeface="Calibri" pitchFamily="34" charset="-122"/>
                          <a:cs typeface="Calibri" pitchFamily="34" charset="-120"/>
                        </a:rPr>
                        <a:t>A = B</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EEF3F7"/>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198.0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115.5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181.5</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BE3D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225.0</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131.3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c>
                  <a:txBody>
                    <a:bodyPr/>
                    <a:lstStyle/>
                    <a:p>
                      <a:pPr algn="ctr" indent="0" marL="0">
                        <a:buNone/>
                      </a:pPr>
                      <a:r>
                        <a:rPr lang="en-US" sz="1400" dirty="0">
                          <a:solidFill>
                            <a:srgbClr val="17202A"/>
                          </a:solidFill>
                          <a:latin typeface="Calibri" pitchFamily="34" charset="0"/>
                          <a:ea typeface="Calibri" pitchFamily="34" charset="-122"/>
                          <a:cs typeface="Calibri" pitchFamily="34" charset="-120"/>
                        </a:rPr>
                        <a:t>206.3</a:t>
                      </a:r>
                      <a:endParaRPr lang="en-US" sz="1400" dirty="0">
                        <a:latin typeface="Calibri" charset="0"/>
                        <a:ea typeface="Calibri" charset="0"/>
                        <a:cs typeface="Calibri" charset="0"/>
                      </a:endParaRPr>
                    </a:p>
                  </a:txBody>
                  <a:tcPr marL="73152" marR="73152" marT="36576" marB="36576" anchor="ctr">
                    <a:lnL w="9525" cap="flat" cmpd="sng" algn="ctr">
                      <a:solidFill>
                        <a:srgbClr val="D5DEE6"/>
                      </a:solidFill>
                      <a:prstDash val="solid"/>
                      <a:round/>
                      <a:headEnd type="none" w="med" len="med"/>
                      <a:tailEnd type="none" w="med" len="med"/>
                    </a:lnL>
                    <a:lnR w="9525" cap="flat" cmpd="sng" algn="ctr">
                      <a:solidFill>
                        <a:srgbClr val="D5DEE6"/>
                      </a:solidFill>
                      <a:prstDash val="solid"/>
                      <a:round/>
                      <a:headEnd type="none" w="med" len="med"/>
                      <a:tailEnd type="none" w="med" len="med"/>
                    </a:lnR>
                    <a:lnT w="9525" cap="flat" cmpd="sng" algn="ctr">
                      <a:solidFill>
                        <a:srgbClr val="D5DEE6"/>
                      </a:solidFill>
                      <a:prstDash val="solid"/>
                      <a:round/>
                      <a:headEnd type="none" w="med" len="med"/>
                      <a:tailEnd type="none" w="med" len="med"/>
                    </a:lnT>
                    <a:lnB w="9525" cap="flat" cmpd="sng" algn="ctr">
                      <a:solidFill>
                        <a:srgbClr val="D5DEE6"/>
                      </a:solidFill>
                      <a:prstDash val="solid"/>
                      <a:round/>
                      <a:headEnd type="none" w="med" len="med"/>
                      <a:tailEnd type="none" w="med" len="med"/>
                    </a:lnB>
                    <a:solidFill>
                      <a:srgbClr val="F5D9E2"/>
                    </a:solidFill>
                  </a:tcPr>
                </a:tc>
              </a:tr>
            </a:tbl>
          </a:graphicData>
        </a:graphic>
      </p:graphicFrame>
      <p:sp>
        <p:nvSpPr>
          <p:cNvPr id="5" name="Text 1"/>
          <p:cNvSpPr txBox="1"/>
          <p:nvPr/>
        </p:nvSpPr>
        <p:spPr>
          <a:xfrm>
            <a:off x="548640" y="5897880"/>
            <a:ext cx="11064240" cy="365760"/>
          </a:xfrm>
          <a:prstGeom prst="rect">
            <a:avLst/>
          </a:prstGeom>
          <a:noFill/>
          <a:ln/>
        </p:spPr>
        <p:txBody>
          <a:bodyPr wrap="square" lIns="0" tIns="0" rIns="0" bIns="0" rtlCol="0" anchor="ctr"/>
          <a:lstStyle/>
          <a:p>
            <a:pPr indent="0" marL="0">
              <a:buNone/>
            </a:pPr>
            <a:r>
              <a:rPr lang="en-US" sz="1200" i="1" dirty="0">
                <a:solidFill>
                  <a:schemeClr val="accent4"/>
                </a:solidFill>
              </a:rPr>
              <a:t>Same per-kW inputs, financing, taxes and timing as new-build Luzon. Case B uses the MERALCO-supplier (Luzon) fleet history. Mindanao: no lot in the DOE TOR.</a:t>
            </a:r>
            <a:endParaRPr lang="en-US" sz="12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Questions for discussion</a:t>
            </a:r>
            <a:endParaRPr lang="en-US" sz="3400" dirty="0"/>
          </a:p>
        </p:txBody>
      </p:sp>
      <p:sp>
        <p:nvSpPr>
          <p:cNvPr id="4" name="Card"/>
          <p:cNvSpPr/>
          <p:nvPr/>
        </p:nvSpPr>
        <p:spPr>
          <a:xfrm>
            <a:off x="548640" y="1417320"/>
            <a:ext cx="5440680" cy="2011680"/>
          </a:xfrm>
          <a:prstGeom prst="roundRect">
            <a:avLst>
              <a:gd name="adj" fmla="val 5455"/>
            </a:avLst>
          </a:prstGeom>
          <a:solidFill>
            <a:schemeClr val="bg2"/>
          </a:solidFill>
          <a:ln w="12700">
            <a:solidFill>
              <a:schemeClr val="bg2"/>
            </a:solidFill>
            <a:prstDash val="solid"/>
          </a:ln>
        </p:spPr>
      </p:sp>
      <p:sp>
        <p:nvSpPr>
          <p:cNvPr id="5" name="Icon circle"/>
          <p:cNvSpPr/>
          <p:nvPr/>
        </p:nvSpPr>
        <p:spPr>
          <a:xfrm>
            <a:off x="822960" y="1737360"/>
            <a:ext cx="777240" cy="77724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025042" y="1939442"/>
            <a:ext cx="373075" cy="373075"/>
          </a:xfrm>
          <a:prstGeom prst="rect">
            <a:avLst/>
          </a:prstGeom>
        </p:spPr>
      </p:pic>
      <p:sp>
        <p:nvSpPr>
          <p:cNvPr id="7" name="Text 3"/>
          <p:cNvSpPr txBox="1"/>
          <p:nvPr/>
        </p:nvSpPr>
        <p:spPr>
          <a:xfrm>
            <a:off x="182880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All-in project cost</a:t>
            </a:r>
            <a:endParaRPr lang="en-US" sz="2200" dirty="0"/>
          </a:p>
        </p:txBody>
      </p:sp>
      <p:sp>
        <p:nvSpPr>
          <p:cNvPr id="8" name="Text 4"/>
          <p:cNvSpPr txBox="1"/>
          <p:nvPr/>
        </p:nvSpPr>
        <p:spPr>
          <a:xfrm>
            <a:off x="182880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US$1,500 / 1,375 / 875 per kW (new) and US$600 (existing) match your recent EPC quotes?</a:t>
            </a:r>
            <a:endParaRPr lang="en-US" sz="1700" dirty="0"/>
          </a:p>
        </p:txBody>
      </p:sp>
      <p:sp>
        <p:nvSpPr>
          <p:cNvPr id="9" name="Card"/>
          <p:cNvSpPr/>
          <p:nvPr/>
        </p:nvSpPr>
        <p:spPr>
          <a:xfrm>
            <a:off x="6172200" y="1417320"/>
            <a:ext cx="5440680" cy="2011680"/>
          </a:xfrm>
          <a:prstGeom prst="roundRect">
            <a:avLst>
              <a:gd name="adj" fmla="val 5455"/>
            </a:avLst>
          </a:prstGeom>
          <a:solidFill>
            <a:schemeClr val="bg2"/>
          </a:solidFill>
          <a:ln w="12700">
            <a:solidFill>
              <a:schemeClr val="bg2"/>
            </a:solidFill>
            <a:prstDash val="solid"/>
          </a:ln>
        </p:spPr>
      </p:sp>
      <p:sp>
        <p:nvSpPr>
          <p:cNvPr id="10" name="Icon circle"/>
          <p:cNvSpPr/>
          <p:nvPr/>
        </p:nvSpPr>
        <p:spPr>
          <a:xfrm>
            <a:off x="6446520" y="1737360"/>
            <a:ext cx="777240" cy="777240"/>
          </a:xfrm>
          <a:prstGeom prst="ellipse">
            <a:avLst/>
          </a:prstGeom>
          <a:solidFill>
            <a:schemeClr val="accent2"/>
          </a:solidFill>
          <a:ln w="12700">
            <a:solidFill>
              <a:schemeClr val="accent2"/>
            </a:solidFill>
            <a:prstDash val="solid"/>
          </a:ln>
        </p:spPr>
      </p:sp>
      <p:pic>
        <p:nvPicPr>
          <p:cNvPr id="11" name="Icon" descr="preencoded.png">    </p:cNvPr>
          <p:cNvPicPr>
            <a:picLocks noChangeAspect="1"/>
          </p:cNvPicPr>
          <p:nvPr/>
        </p:nvPicPr>
        <p:blipFill>
          <a:blip r:embed="rId2"/>
          <a:stretch>
            <a:fillRect/>
          </a:stretch>
        </p:blipFill>
        <p:spPr>
          <a:xfrm>
            <a:off x="6648602" y="1939442"/>
            <a:ext cx="373075" cy="373075"/>
          </a:xfrm>
          <a:prstGeom prst="rect">
            <a:avLst/>
          </a:prstGeom>
        </p:spPr>
      </p:pic>
      <p:sp>
        <p:nvSpPr>
          <p:cNvPr id="12" name="Text 7"/>
          <p:cNvSpPr txBox="1"/>
          <p:nvPr/>
        </p:nvSpPr>
        <p:spPr>
          <a:xfrm>
            <a:off x="7452360" y="169164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Capacity factor</a:t>
            </a:r>
            <a:endParaRPr lang="en-US" sz="2200" dirty="0"/>
          </a:p>
        </p:txBody>
      </p:sp>
      <p:sp>
        <p:nvSpPr>
          <p:cNvPr id="13" name="Text 8"/>
          <p:cNvSpPr txBox="1"/>
          <p:nvPr/>
        </p:nvSpPr>
        <p:spPr>
          <a:xfrm>
            <a:off x="7452360" y="2286000"/>
            <a:ext cx="3977640" cy="1005840"/>
          </a:xfrm>
          <a:prstGeom prst="rect">
            <a:avLst/>
          </a:prstGeom>
          <a:noFill/>
          <a:ln/>
        </p:spPr>
        <p:txBody>
          <a:bodyPr wrap="square" lIns="0" tIns="0" rIns="0" bIns="0" rtlCol="0" anchor="t"/>
          <a:lstStyle/>
          <a:p>
            <a:pPr indent="0" marL="0">
              <a:buNone/>
            </a:pPr>
            <a:r>
              <a:rPr lang="en-US" sz="1700" dirty="0">
                <a:solidFill>
                  <a:schemeClr val="tx1"/>
                </a:solidFill>
              </a:rPr>
              <a:t>Is 42% (TOR) or the historical 63%–67% the better reference?</a:t>
            </a:r>
            <a:endParaRPr lang="en-US" sz="1700" dirty="0"/>
          </a:p>
        </p:txBody>
      </p:sp>
      <p:sp>
        <p:nvSpPr>
          <p:cNvPr id="14" name="Card"/>
          <p:cNvSpPr/>
          <p:nvPr/>
        </p:nvSpPr>
        <p:spPr>
          <a:xfrm>
            <a:off x="548640" y="3657600"/>
            <a:ext cx="5440680" cy="2011680"/>
          </a:xfrm>
          <a:prstGeom prst="roundRect">
            <a:avLst>
              <a:gd name="adj" fmla="val 5455"/>
            </a:avLst>
          </a:prstGeom>
          <a:solidFill>
            <a:schemeClr val="bg2"/>
          </a:solidFill>
          <a:ln w="12700">
            <a:solidFill>
              <a:schemeClr val="bg2"/>
            </a:solidFill>
            <a:prstDash val="solid"/>
          </a:ln>
        </p:spPr>
      </p:sp>
      <p:sp>
        <p:nvSpPr>
          <p:cNvPr id="15" name="Icon circle"/>
          <p:cNvSpPr/>
          <p:nvPr/>
        </p:nvSpPr>
        <p:spPr>
          <a:xfrm>
            <a:off x="822960" y="3977640"/>
            <a:ext cx="777240" cy="777240"/>
          </a:xfrm>
          <a:prstGeom prst="ellipse">
            <a:avLst/>
          </a:prstGeom>
          <a:solidFill>
            <a:schemeClr val="accent2"/>
          </a:solidFill>
          <a:ln w="12700">
            <a:solidFill>
              <a:schemeClr val="accent2"/>
            </a:solidFill>
            <a:prstDash val="solid"/>
          </a:ln>
        </p:spPr>
      </p:sp>
      <p:pic>
        <p:nvPicPr>
          <p:cNvPr id="16" name="Icon" descr="preencoded.png">    </p:cNvPr>
          <p:cNvPicPr>
            <a:picLocks noChangeAspect="1"/>
          </p:cNvPicPr>
          <p:nvPr/>
        </p:nvPicPr>
        <p:blipFill>
          <a:blip r:embed="rId3"/>
          <a:stretch>
            <a:fillRect/>
          </a:stretch>
        </p:blipFill>
        <p:spPr>
          <a:xfrm>
            <a:off x="1025042" y="4179722"/>
            <a:ext cx="373075" cy="373075"/>
          </a:xfrm>
          <a:prstGeom prst="rect">
            <a:avLst/>
          </a:prstGeom>
        </p:spPr>
      </p:pic>
      <p:sp>
        <p:nvSpPr>
          <p:cNvPr id="17" name="Text 11"/>
          <p:cNvSpPr txBox="1"/>
          <p:nvPr/>
        </p:nvSpPr>
        <p:spPr>
          <a:xfrm>
            <a:off x="182880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O&amp;M</a:t>
            </a:r>
            <a:endParaRPr lang="en-US" sz="2200" dirty="0"/>
          </a:p>
        </p:txBody>
      </p:sp>
      <p:sp>
        <p:nvSpPr>
          <p:cNvPr id="18" name="Text 12"/>
          <p:cNvSpPr txBox="1"/>
          <p:nvPr/>
        </p:nvSpPr>
        <p:spPr>
          <a:xfrm>
            <a:off x="182880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Do the fixed and variable O&amp;M values match current service agreements?</a:t>
            </a:r>
            <a:endParaRPr lang="en-US" sz="1700" dirty="0"/>
          </a:p>
        </p:txBody>
      </p:sp>
      <p:sp>
        <p:nvSpPr>
          <p:cNvPr id="19" name="Card"/>
          <p:cNvSpPr/>
          <p:nvPr/>
        </p:nvSpPr>
        <p:spPr>
          <a:xfrm>
            <a:off x="6172200" y="3657600"/>
            <a:ext cx="5440680" cy="2011680"/>
          </a:xfrm>
          <a:prstGeom prst="roundRect">
            <a:avLst>
              <a:gd name="adj" fmla="val 5455"/>
            </a:avLst>
          </a:prstGeom>
          <a:solidFill>
            <a:schemeClr val="bg2"/>
          </a:solidFill>
          <a:ln w="12700">
            <a:solidFill>
              <a:schemeClr val="bg2"/>
            </a:solidFill>
            <a:prstDash val="solid"/>
          </a:ln>
        </p:spPr>
      </p:sp>
      <p:sp>
        <p:nvSpPr>
          <p:cNvPr id="20" name="Icon circle"/>
          <p:cNvSpPr/>
          <p:nvPr/>
        </p:nvSpPr>
        <p:spPr>
          <a:xfrm>
            <a:off x="6446520" y="3977640"/>
            <a:ext cx="777240" cy="777240"/>
          </a:xfrm>
          <a:prstGeom prst="ellipse">
            <a:avLst/>
          </a:prstGeom>
          <a:solidFill>
            <a:schemeClr val="accent2"/>
          </a:solidFill>
          <a:ln w="12700">
            <a:solidFill>
              <a:schemeClr val="accent2"/>
            </a:solidFill>
            <a:prstDash val="solid"/>
          </a:ln>
        </p:spPr>
      </p:sp>
      <p:pic>
        <p:nvPicPr>
          <p:cNvPr id="21" name="Icon" descr="preencoded.png">    </p:cNvPr>
          <p:cNvPicPr>
            <a:picLocks noChangeAspect="1"/>
          </p:cNvPicPr>
          <p:nvPr/>
        </p:nvPicPr>
        <p:blipFill>
          <a:blip r:embed="rId4"/>
          <a:stretch>
            <a:fillRect/>
          </a:stretch>
        </p:blipFill>
        <p:spPr>
          <a:xfrm>
            <a:off x="6648602" y="4179722"/>
            <a:ext cx="373075" cy="373075"/>
          </a:xfrm>
          <a:prstGeom prst="rect">
            <a:avLst/>
          </a:prstGeom>
        </p:spPr>
      </p:pic>
      <p:sp>
        <p:nvSpPr>
          <p:cNvPr id="22" name="Text 15"/>
          <p:cNvSpPr txBox="1"/>
          <p:nvPr/>
        </p:nvSpPr>
        <p:spPr>
          <a:xfrm>
            <a:off x="7452360" y="3931920"/>
            <a:ext cx="3977640" cy="54864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Financing</a:t>
            </a:r>
            <a:endParaRPr lang="en-US" sz="2200" dirty="0"/>
          </a:p>
        </p:txBody>
      </p:sp>
      <p:sp>
        <p:nvSpPr>
          <p:cNvPr id="23" name="Text 16"/>
          <p:cNvSpPr txBox="1"/>
          <p:nvPr/>
        </p:nvSpPr>
        <p:spPr>
          <a:xfrm>
            <a:off x="7452360" y="4526280"/>
            <a:ext cx="3977640" cy="1005840"/>
          </a:xfrm>
          <a:prstGeom prst="rect">
            <a:avLst/>
          </a:prstGeom>
          <a:noFill/>
          <a:ln/>
        </p:spPr>
        <p:txBody>
          <a:bodyPr wrap="square" lIns="0" tIns="0" rIns="0" bIns="0" rtlCol="0" anchor="t"/>
          <a:lstStyle/>
          <a:p>
            <a:pPr indent="0" marL="0">
              <a:buNone/>
            </a:pPr>
            <a:r>
              <a:rPr lang="en-US" sz="1700" dirty="0">
                <a:solidFill>
                  <a:schemeClr val="tx1"/>
                </a:solidFill>
              </a:rPr>
              <a:t>Are 8% debt, 15-year tenor and 14% equity return achievable today?</a:t>
            </a:r>
            <a:endParaRPr lang="en-US" sz="17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Next steps</a:t>
            </a:r>
            <a:endParaRPr lang="en-US" sz="3400" dirty="0"/>
          </a:p>
        </p:txBody>
      </p:sp>
      <p:sp>
        <p:nvSpPr>
          <p:cNvPr id="4" name="Connector"/>
          <p:cNvSpPr/>
          <p:nvPr/>
        </p:nvSpPr>
        <p:spPr>
          <a:xfrm>
            <a:off x="1874520" y="2011680"/>
            <a:ext cx="1993392" cy="0"/>
          </a:xfrm>
          <a:prstGeom prst="line">
            <a:avLst/>
          </a:prstGeom>
          <a:noFill/>
          <a:ln w="38100">
            <a:solidFill>
              <a:srgbClr val="C6E3E1"/>
            </a:solidFill>
            <a:prstDash val="solid"/>
          </a:ln>
        </p:spPr>
      </p:sp>
      <p:sp>
        <p:nvSpPr>
          <p:cNvPr id="5" name="Icon circle"/>
          <p:cNvSpPr/>
          <p:nvPr/>
        </p:nvSpPr>
        <p:spPr>
          <a:xfrm>
            <a:off x="1463040" y="1600200"/>
            <a:ext cx="822960" cy="822960"/>
          </a:xfrm>
          <a:prstGeom prst="ellipse">
            <a:avLst/>
          </a:prstGeom>
          <a:solidFill>
            <a:schemeClr val="accent2"/>
          </a:solidFill>
          <a:ln w="12700">
            <a:solidFill>
              <a:schemeClr val="accent2"/>
            </a:solidFill>
            <a:prstDash val="solid"/>
          </a:ln>
        </p:spPr>
      </p:sp>
      <p:pic>
        <p:nvPicPr>
          <p:cNvPr id="6" name="Icon" descr="preencoded.png">    </p:cNvPr>
          <p:cNvPicPr>
            <a:picLocks noChangeAspect="1"/>
          </p:cNvPicPr>
          <p:nvPr/>
        </p:nvPicPr>
        <p:blipFill>
          <a:blip r:embed="rId1"/>
          <a:stretch>
            <a:fillRect/>
          </a:stretch>
        </p:blipFill>
        <p:spPr>
          <a:xfrm>
            <a:off x="1677010" y="1814170"/>
            <a:ext cx="395021" cy="395021"/>
          </a:xfrm>
          <a:prstGeom prst="rect">
            <a:avLst/>
          </a:prstGeom>
        </p:spPr>
      </p:pic>
      <p:sp>
        <p:nvSpPr>
          <p:cNvPr id="7" name="Card"/>
          <p:cNvSpPr/>
          <p:nvPr/>
        </p:nvSpPr>
        <p:spPr>
          <a:xfrm>
            <a:off x="548640" y="2743200"/>
            <a:ext cx="2606040" cy="2286000"/>
          </a:xfrm>
          <a:prstGeom prst="roundRect">
            <a:avLst>
              <a:gd name="adj" fmla="val 4800"/>
            </a:avLst>
          </a:prstGeom>
          <a:solidFill>
            <a:schemeClr val="bg2"/>
          </a:solidFill>
          <a:ln w="12700">
            <a:solidFill>
              <a:schemeClr val="bg2"/>
            </a:solidFill>
            <a:prstDash val="solid"/>
          </a:ln>
        </p:spPr>
      </p:sp>
      <p:sp>
        <p:nvSpPr>
          <p:cNvPr id="8" name="Text 4"/>
          <p:cNvSpPr txBox="1"/>
          <p:nvPr/>
        </p:nvSpPr>
        <p:spPr>
          <a:xfrm>
            <a:off x="731520"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Today</a:t>
            </a:r>
            <a:endParaRPr lang="en-US" sz="2000" dirty="0"/>
          </a:p>
        </p:txBody>
      </p:sp>
      <p:sp>
        <p:nvSpPr>
          <p:cNvPr id="9" name="Text 5"/>
          <p:cNvSpPr txBox="1"/>
          <p:nvPr/>
        </p:nvSpPr>
        <p:spPr>
          <a:xfrm>
            <a:off x="731520"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Discussion of model assumptions</a:t>
            </a:r>
            <a:endParaRPr lang="en-US" sz="1600" dirty="0"/>
          </a:p>
        </p:txBody>
      </p:sp>
      <p:sp>
        <p:nvSpPr>
          <p:cNvPr id="10" name="Connector"/>
          <p:cNvSpPr/>
          <p:nvPr/>
        </p:nvSpPr>
        <p:spPr>
          <a:xfrm>
            <a:off x="4690872" y="2011680"/>
            <a:ext cx="1993392" cy="0"/>
          </a:xfrm>
          <a:prstGeom prst="line">
            <a:avLst/>
          </a:prstGeom>
          <a:noFill/>
          <a:ln w="38100">
            <a:solidFill>
              <a:srgbClr val="C6E3E1"/>
            </a:solidFill>
            <a:prstDash val="solid"/>
          </a:ln>
        </p:spPr>
      </p:sp>
      <p:sp>
        <p:nvSpPr>
          <p:cNvPr id="11" name="Icon circle"/>
          <p:cNvSpPr/>
          <p:nvPr/>
        </p:nvSpPr>
        <p:spPr>
          <a:xfrm>
            <a:off x="4279392" y="1600200"/>
            <a:ext cx="822960" cy="822960"/>
          </a:xfrm>
          <a:prstGeom prst="ellipse">
            <a:avLst/>
          </a:prstGeom>
          <a:solidFill>
            <a:schemeClr val="accent2"/>
          </a:solidFill>
          <a:ln w="12700">
            <a:solidFill>
              <a:schemeClr val="accent2"/>
            </a:solidFill>
            <a:prstDash val="solid"/>
          </a:ln>
        </p:spPr>
      </p:sp>
      <p:pic>
        <p:nvPicPr>
          <p:cNvPr id="12" name="Icon" descr="preencoded.png">    </p:cNvPr>
          <p:cNvPicPr>
            <a:picLocks noChangeAspect="1"/>
          </p:cNvPicPr>
          <p:nvPr/>
        </p:nvPicPr>
        <p:blipFill>
          <a:blip r:embed="rId2"/>
          <a:stretch>
            <a:fillRect/>
          </a:stretch>
        </p:blipFill>
        <p:spPr>
          <a:xfrm>
            <a:off x="4493362" y="1814170"/>
            <a:ext cx="395021" cy="395021"/>
          </a:xfrm>
          <a:prstGeom prst="rect">
            <a:avLst/>
          </a:prstGeom>
        </p:spPr>
      </p:pic>
      <p:sp>
        <p:nvSpPr>
          <p:cNvPr id="13" name="Card"/>
          <p:cNvSpPr/>
          <p:nvPr/>
        </p:nvSpPr>
        <p:spPr>
          <a:xfrm>
            <a:off x="3364992" y="2743200"/>
            <a:ext cx="2606040" cy="2286000"/>
          </a:xfrm>
          <a:prstGeom prst="roundRect">
            <a:avLst>
              <a:gd name="adj" fmla="val 4800"/>
            </a:avLst>
          </a:prstGeom>
          <a:solidFill>
            <a:schemeClr val="bg2"/>
          </a:solidFill>
          <a:ln w="12700">
            <a:solidFill>
              <a:schemeClr val="bg2"/>
            </a:solidFill>
            <a:prstDash val="solid"/>
          </a:ln>
        </p:spPr>
      </p:sp>
      <p:sp>
        <p:nvSpPr>
          <p:cNvPr id="14" name="Text 9"/>
          <p:cNvSpPr txBox="1"/>
          <p:nvPr/>
        </p:nvSpPr>
        <p:spPr>
          <a:xfrm>
            <a:off x="3547872"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Written comments</a:t>
            </a:r>
            <a:endParaRPr lang="en-US" sz="2000" dirty="0"/>
          </a:p>
        </p:txBody>
      </p:sp>
      <p:sp>
        <p:nvSpPr>
          <p:cNvPr id="15" name="Text 10"/>
          <p:cNvSpPr txBox="1"/>
          <p:nvPr/>
        </p:nvSpPr>
        <p:spPr>
          <a:xfrm>
            <a:off x="3547872"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With evidence, via the Case No. 2026-015 RM docket, by the date in the FGD notice</a:t>
            </a:r>
            <a:endParaRPr lang="en-US" sz="1600" dirty="0"/>
          </a:p>
        </p:txBody>
      </p:sp>
      <p:sp>
        <p:nvSpPr>
          <p:cNvPr id="16" name="Connector"/>
          <p:cNvSpPr/>
          <p:nvPr/>
        </p:nvSpPr>
        <p:spPr>
          <a:xfrm>
            <a:off x="7507224" y="2011680"/>
            <a:ext cx="1993392" cy="0"/>
          </a:xfrm>
          <a:prstGeom prst="line">
            <a:avLst/>
          </a:prstGeom>
          <a:noFill/>
          <a:ln w="38100">
            <a:solidFill>
              <a:srgbClr val="C6E3E1"/>
            </a:solidFill>
            <a:prstDash val="solid"/>
          </a:ln>
        </p:spPr>
      </p:sp>
      <p:sp>
        <p:nvSpPr>
          <p:cNvPr id="17" name="Icon circle"/>
          <p:cNvSpPr/>
          <p:nvPr/>
        </p:nvSpPr>
        <p:spPr>
          <a:xfrm>
            <a:off x="7095744" y="1600200"/>
            <a:ext cx="822960" cy="822960"/>
          </a:xfrm>
          <a:prstGeom prst="ellipse">
            <a:avLst/>
          </a:prstGeom>
          <a:solidFill>
            <a:schemeClr val="accent2"/>
          </a:solidFill>
          <a:ln w="12700">
            <a:solidFill>
              <a:schemeClr val="accent2"/>
            </a:solidFill>
            <a:prstDash val="solid"/>
          </a:ln>
        </p:spPr>
      </p:sp>
      <p:pic>
        <p:nvPicPr>
          <p:cNvPr id="18" name="Icon" descr="preencoded.png">    </p:cNvPr>
          <p:cNvPicPr>
            <a:picLocks noChangeAspect="1"/>
          </p:cNvPicPr>
          <p:nvPr/>
        </p:nvPicPr>
        <p:blipFill>
          <a:blip r:embed="rId3"/>
          <a:stretch>
            <a:fillRect/>
          </a:stretch>
        </p:blipFill>
        <p:spPr>
          <a:xfrm>
            <a:off x="7309714" y="1814170"/>
            <a:ext cx="395021" cy="395021"/>
          </a:xfrm>
          <a:prstGeom prst="rect">
            <a:avLst/>
          </a:prstGeom>
        </p:spPr>
      </p:pic>
      <p:sp>
        <p:nvSpPr>
          <p:cNvPr id="19" name="Card"/>
          <p:cNvSpPr/>
          <p:nvPr/>
        </p:nvSpPr>
        <p:spPr>
          <a:xfrm>
            <a:off x="6181344" y="2743200"/>
            <a:ext cx="2606040" cy="2286000"/>
          </a:xfrm>
          <a:prstGeom prst="roundRect">
            <a:avLst>
              <a:gd name="adj" fmla="val 4800"/>
            </a:avLst>
          </a:prstGeom>
          <a:solidFill>
            <a:schemeClr val="bg2"/>
          </a:solidFill>
          <a:ln w="12700">
            <a:solidFill>
              <a:schemeClr val="bg2"/>
            </a:solidFill>
            <a:prstDash val="solid"/>
          </a:ln>
        </p:spPr>
      </p:sp>
      <p:sp>
        <p:nvSpPr>
          <p:cNvPr id="20" name="Text 14"/>
          <p:cNvSpPr txBox="1"/>
          <p:nvPr/>
        </p:nvSpPr>
        <p:spPr>
          <a:xfrm>
            <a:off x="6364224"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ERC review</a:t>
            </a:r>
            <a:endParaRPr lang="en-US" sz="2000" dirty="0"/>
          </a:p>
        </p:txBody>
      </p:sp>
      <p:sp>
        <p:nvSpPr>
          <p:cNvPr id="21" name="Text 15"/>
          <p:cNvSpPr txBox="1"/>
          <p:nvPr/>
        </p:nvSpPr>
        <p:spPr>
          <a:xfrm>
            <a:off x="6364224"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Comments considered in the Reference Parameters</a:t>
            </a:r>
            <a:endParaRPr lang="en-US" sz="1600" dirty="0"/>
          </a:p>
        </p:txBody>
      </p:sp>
      <p:sp>
        <p:nvSpPr>
          <p:cNvPr id="22" name="Icon circle"/>
          <p:cNvSpPr/>
          <p:nvPr/>
        </p:nvSpPr>
        <p:spPr>
          <a:xfrm>
            <a:off x="9912096" y="1600200"/>
            <a:ext cx="822960" cy="822960"/>
          </a:xfrm>
          <a:prstGeom prst="ellipse">
            <a:avLst/>
          </a:prstGeom>
          <a:solidFill>
            <a:schemeClr val="accent3"/>
          </a:solidFill>
          <a:ln w="12700">
            <a:solidFill>
              <a:schemeClr val="accent3"/>
            </a:solidFill>
            <a:prstDash val="solid"/>
          </a:ln>
        </p:spPr>
      </p:sp>
      <p:pic>
        <p:nvPicPr>
          <p:cNvPr id="23" name="Icon" descr="preencoded.png">    </p:cNvPr>
          <p:cNvPicPr>
            <a:picLocks noChangeAspect="1"/>
          </p:cNvPicPr>
          <p:nvPr/>
        </p:nvPicPr>
        <p:blipFill>
          <a:blip r:embed="rId4"/>
          <a:stretch>
            <a:fillRect/>
          </a:stretch>
        </p:blipFill>
        <p:spPr>
          <a:xfrm>
            <a:off x="10126066" y="1814170"/>
            <a:ext cx="395021" cy="395021"/>
          </a:xfrm>
          <a:prstGeom prst="rect">
            <a:avLst/>
          </a:prstGeom>
        </p:spPr>
      </p:pic>
      <p:sp>
        <p:nvSpPr>
          <p:cNvPr id="24" name="Card"/>
          <p:cNvSpPr/>
          <p:nvPr/>
        </p:nvSpPr>
        <p:spPr>
          <a:xfrm>
            <a:off x="8997696" y="2743200"/>
            <a:ext cx="2606040" cy="2286000"/>
          </a:xfrm>
          <a:prstGeom prst="roundRect">
            <a:avLst>
              <a:gd name="adj" fmla="val 4800"/>
            </a:avLst>
          </a:prstGeom>
          <a:solidFill>
            <a:schemeClr val="bg2"/>
          </a:solidFill>
          <a:ln w="12700">
            <a:solidFill>
              <a:schemeClr val="bg2"/>
            </a:solidFill>
            <a:prstDash val="solid"/>
          </a:ln>
        </p:spPr>
      </p:sp>
      <p:sp>
        <p:nvSpPr>
          <p:cNvPr id="25" name="Text 18"/>
          <p:cNvSpPr txBox="1"/>
          <p:nvPr/>
        </p:nvSpPr>
        <p:spPr>
          <a:xfrm>
            <a:off x="9180576" y="2880360"/>
            <a:ext cx="2240280" cy="5486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Resolution</a:t>
            </a:r>
            <a:endParaRPr lang="en-US" sz="2000" dirty="0"/>
          </a:p>
        </p:txBody>
      </p:sp>
      <p:sp>
        <p:nvSpPr>
          <p:cNvPr id="26" name="Text 19"/>
          <p:cNvSpPr txBox="1"/>
          <p:nvPr/>
        </p:nvSpPr>
        <p:spPr>
          <a:xfrm>
            <a:off x="9180576" y="3474720"/>
            <a:ext cx="2240280" cy="1463040"/>
          </a:xfrm>
          <a:prstGeom prst="rect">
            <a:avLst/>
          </a:prstGeom>
          <a:noFill/>
          <a:ln/>
        </p:spPr>
        <p:txBody>
          <a:bodyPr wrap="square" lIns="0" tIns="0" rIns="0" bIns="0" rtlCol="0" anchor="t"/>
          <a:lstStyle/>
          <a:p>
            <a:pPr indent="0" marL="0">
              <a:buNone/>
            </a:pPr>
            <a:r>
              <a:rPr lang="en-US" sz="1600" dirty="0">
                <a:solidFill>
                  <a:schemeClr val="tx1"/>
                </a:solidFill>
              </a:rPr>
              <a:t>Commission issues the GAT Price by resolution</a:t>
            </a:r>
            <a:endParaRPr lang="en-US" sz="1600" dirty="0"/>
          </a:p>
        </p:txBody>
      </p:sp>
      <p:sp>
        <p:nvSpPr>
          <p:cNvPr id="25" name="Slide Number Placeholder 0"/>
          <p:cNvSpPr>
            <a:spLocks noGrp="1"/>
          </p:cNvSpPr>
          <p:nvPr>
            <p:ph type="sldNum" sz="quarter" idx="4294967295"/>
          </p:nvPr>
        </p:nvSpPr>
        <p:spPr>
          <a:xfrm>
            <a:off x="1106424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4"/>
                </a:solidFill>
              </a:defRPr>
            </a:lvl1pPr>
          </a:lstStyle>
          <a:p>
            <a:pPr algn="r"/>
            <a:fld id="{F7021451-1387-4CA6-816F-3879F97B5CBC}" type="slidenum">
              <a:rPr b="0" lang="en-US"/>
              <a:t>44</a:t>
            </a:fld>
            <a:endParaRPr lang="en-US"/>
          </a:p>
        </p:txBody>
      </p:sp>
    </p:spTree>
  </p:cSld>
  <p:clrMapOvr>
    <a:masterClrMapping/>
  </p:clrMapOvr>
</p:sld>
</file>

<file path=ppt/theme/theme1.xml><?xml version="1.0" encoding="utf-8"?>
<a:theme xmlns:a="http://schemas.openxmlformats.org/drawingml/2006/main" name="ERC Mid-Merit Gas">
  <a:themeElements>
    <a:clrScheme name="ERC Mid-Merit Gas">
      <a:dk1>
        <a:srgbClr val="17202A"/>
      </a:dk1>
      <a:lt1>
        <a:srgbClr val="FFFFFF"/>
      </a:lt1>
      <a:dk2>
        <a:srgbClr val="14324F"/>
      </a:dk2>
      <a:lt2>
        <a:srgbClr val="EEF3F7"/>
      </a:lt2>
      <a:accent1>
        <a:srgbClr val="14324F"/>
      </a:accent1>
      <a:accent2>
        <a:srgbClr val="1F8A8A"/>
      </a:accent2>
      <a:accent3>
        <a:srgbClr val="E39B2D"/>
      </a:accent3>
      <a:accent4>
        <a:srgbClr val="5B7083"/>
      </a:accent4>
      <a:accent5>
        <a:srgbClr val="C6E3E1"/>
      </a:accent5>
      <a:accent6>
        <a:srgbClr val="FBE7C6"/>
      </a:accent6>
      <a:hlink>
        <a:srgbClr val="1F8A8A"/>
      </a:hlink>
      <a:folHlink>
        <a:srgbClr val="5B7083"/>
      </a:folHlink>
    </a:clrScheme>
    <a:fontScheme name="ERC Mid-Merit Ga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Energy Regulatory Commission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GAT Price Financial Model – Key Assumptions</dc:title>
  <dc:subject>PptxGenJS Presentation</dc:subject>
  <dc:creator>Energy Regulatory Commission</dc:creator>
  <cp:lastModifiedBy>Energy Regulatory Commission</cp:lastModifiedBy>
  <cp:revision>1</cp:revision>
  <dcterms:created xsi:type="dcterms:W3CDTF">2026-10-20T07:12:45Z</dcterms:created>
  <dcterms:modified xsi:type="dcterms:W3CDTF">2026-10-20T07:12:45Z</dcterms:modified>
</cp:coreProperties>
</file>